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2" r:id="rId23"/>
    <p:sldId id="259" r:id="rId5"/>
    <p:sldId id="260" r:id="rId6"/>
    <p:sldId id="261" r:id="rId7"/>
    <p:sldId id="273" r:id="rId24"/>
    <p:sldId id="262" r:id="rId8"/>
    <p:sldId id="263" r:id="rId9"/>
    <p:sldId id="264" r:id="rId10"/>
    <p:sldId id="265" r:id="rId11"/>
    <p:sldId id="266" r:id="rId12"/>
    <p:sldId id="267" r:id="rId13"/>
    <p:sldId id="268" r:id="rId14"/>
    <p:sldId id="274" r:id="rId25"/>
    <p:sldId id="280" r:id="rId31"/>
    <p:sldId id="269" r:id="rId15"/>
    <p:sldId id="276" r:id="rId27"/>
    <p:sldId id="277" r:id="rId28"/>
    <p:sldId id="278" r:id="rId29"/>
    <p:sldId id="279" r:id="rId30"/>
    <p:sldId id="270" r:id="rId16"/>
    <p:sldId id="275" r:id="rId2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457200"/>
            <a:ext cx="2743200" cy="274320"/>
          </a:xfrm>
          <a:prstGeom prst="rect">
            <a:avLst/>
          </a:prstGeom>
          <a:noFill/>
          <a:ln/>
        </p:spPr>
        <p:txBody>
          <a:bodyPr wrap="square" lIns="0" tIns="0" rIns="0" bIns="0"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DEFINED RISK</a:t>
            </a:r>
            <a:endParaRPr lang="en-US" sz="1300" dirty="0"/>
          </a:p>
        </p:txBody>
      </p:sp>
      <p:sp>
        <p:nvSpPr>
          <p:cNvPr id="3" name="Shape 1"/>
          <p:cNvSpPr/>
          <p:nvPr/>
        </p:nvSpPr>
        <p:spPr>
          <a:xfrm>
            <a:off x="548640" y="749808"/>
            <a:ext cx="1600200" cy="0"/>
          </a:xfrm>
          <a:prstGeom prst="line">
            <a:avLst/>
          </a:prstGeom>
          <a:noFill/>
          <a:ln w="15875">
            <a:solidFill>
              <a:srgbClr val="FFFFFF"/>
            </a:solidFill>
            <a:prstDash val="solid"/>
          </a:ln>
        </p:spPr>
      </p:sp>
      <p:sp>
        <p:nvSpPr>
          <p:cNvPr id="4" name="Text 2"/>
          <p:cNvSpPr/>
          <p:nvPr/>
        </p:nvSpPr>
        <p:spPr>
          <a:xfrm>
            <a:off x="548640" y="786384"/>
            <a:ext cx="2743200" cy="228600"/>
          </a:xfrm>
          <a:prstGeom prst="rect">
            <a:avLst/>
          </a:prstGeom>
          <a:noFill/>
          <a:ln/>
        </p:spPr>
        <p:txBody>
          <a:bodyPr wrap="square" lIns="0" tIns="0" rIns="0" bIns="0" rtlCol="0" anchor="ctr"/>
          <a:lstStyle/>
          <a:p>
            <a:pPr indent="0" marL="0">
              <a:buNone/>
            </a:pPr>
            <a:r>
              <a:rPr lang="en-US" sz="850" spc="300" kern="0" dirty="0">
                <a:solidFill>
                  <a:srgbClr val="FFFFFF"/>
                </a:solidFill>
                <a:latin typeface="Arial" pitchFamily="34" charset="0"/>
                <a:ea typeface="Arial" pitchFamily="34" charset="-122"/>
                <a:cs typeface="Arial" pitchFamily="34" charset="-120"/>
              </a:rPr>
              <a:t>TRADING</a:t>
            </a:r>
            <a:endParaRPr lang="en-US" sz="850" dirty="0"/>
          </a:p>
        </p:txBody>
      </p:sp>
      <p:sp>
        <p:nvSpPr>
          <p:cNvPr id="5" name="Text 3"/>
          <p:cNvSpPr/>
          <p:nvPr/>
        </p:nvSpPr>
        <p:spPr>
          <a:xfrm>
            <a:off x="548640" y="2377440"/>
            <a:ext cx="7315200" cy="457200"/>
          </a:xfrm>
          <a:prstGeom prst="rect">
            <a:avLst/>
          </a:prstGeom>
          <a:noFill/>
          <a:ln/>
        </p:spPr>
        <p:txBody>
          <a:bodyPr wrap="square" lIns="0" tIns="0" rIns="0" bIns="0" rtlCol="0" anchor="ctr"/>
          <a:lstStyle/>
          <a:p>
            <a:pPr indent="0" marL="0">
              <a:buNone/>
            </a:pPr>
            <a:r>
              <a:rPr lang="en-US" sz="1600" spc="300" kern="0" dirty="0">
                <a:solidFill>
                  <a:srgbClr val="6E6E6E"/>
                </a:solidFill>
                <a:latin typeface="Calibri" pitchFamily="34" charset="0"/>
                <a:ea typeface="Calibri" pitchFamily="34" charset="-122"/>
                <a:cs typeface="Calibri" pitchFamily="34" charset="-120"/>
              </a:rPr>
              <a:t>MODULE 4</a:t>
            </a:r>
            <a:endParaRPr lang="en-US" sz="1600" dirty="0"/>
          </a:p>
        </p:txBody>
      </p:sp>
      <p:sp>
        <p:nvSpPr>
          <p:cNvPr id="6" name="Text 4"/>
          <p:cNvSpPr/>
          <p:nvPr/>
        </p:nvSpPr>
        <p:spPr>
          <a:xfrm>
            <a:off x="548640" y="2788920"/>
            <a:ext cx="10972800" cy="210312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Arial" pitchFamily="34" charset="0"/>
                <a:ea typeface="Arial" pitchFamily="34" charset="-122"/>
                <a:cs typeface="Arial" pitchFamily="34" charset="-120"/>
              </a:rPr>
              <a:t>Session Liquidity &amp;</a:t>
            </a:r>
            <a:endParaRPr lang="en-US" sz="4400" dirty="0"/>
          </a:p>
          <a:p>
            <a:pPr indent="0" marL="0">
              <a:lnSpc>
                <a:spcPct val="105000"/>
              </a:lnSpc>
              <a:buNone/>
            </a:pPr>
            <a:r>
              <a:rPr lang="en-US" sz="4400" b="1" dirty="0">
                <a:solidFill>
                  <a:srgbClr val="FFFFFF"/>
                </a:solidFill>
                <a:latin typeface="Arial" pitchFamily="34" charset="0"/>
                <a:ea typeface="Arial" pitchFamily="34" charset="-122"/>
                <a:cs typeface="Arial" pitchFamily="34" charset="-120"/>
              </a:rPr>
              <a:t>Volume Profile</a:t>
            </a:r>
            <a:endParaRPr lang="en-US" sz="4400" dirty="0"/>
          </a:p>
        </p:txBody>
      </p:sp>
      <p:sp>
        <p:nvSpPr>
          <p:cNvPr id="7" name="Text 5"/>
          <p:cNvSpPr/>
          <p:nvPr/>
        </p:nvSpPr>
        <p:spPr>
          <a:xfrm>
            <a:off x="548640" y="5120640"/>
            <a:ext cx="10058400" cy="36576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Where liquidity sits, and whether volume agrees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0"/>
            <a:ext cx="7315200" cy="457200"/>
          </a:xfrm>
          <a:prstGeom prst="rect">
            <a:avLst/>
          </a:prstGeom>
          <a:noFill/>
          <a:ln/>
        </p:spPr>
        <p:txBody>
          <a:bodyPr wrap="square" lIns="0" tIns="0" rIns="0" bIns="0" rtlCol="0" anchor="ctr"/>
          <a:lstStyle/>
          <a:p>
            <a:pPr indent="0" marL="0">
              <a:buNone/>
            </a:pPr>
            <a:r>
              <a:rPr lang="en-US" sz="1600" spc="300" kern="0" dirty="0">
                <a:solidFill>
                  <a:srgbClr val="6E6E6E"/>
                </a:solidFill>
                <a:latin typeface="Calibri" pitchFamily="34" charset="0"/>
                <a:ea typeface="Calibri" pitchFamily="34" charset="-122"/>
                <a:cs typeface="Calibri" pitchFamily="34" charset="-120"/>
              </a:rPr>
              <a:t>LESSON 4.1</a:t>
            </a:r>
            <a:endParaRPr lang="en-US" sz="1600" dirty="0"/>
          </a:p>
        </p:txBody>
      </p:sp>
      <p:sp>
        <p:nvSpPr>
          <p:cNvPr id="3" name="Text 1"/>
          <p:cNvSpPr/>
          <p:nvPr/>
        </p:nvSpPr>
        <p:spPr>
          <a:xfrm>
            <a:off x="640080" y="3154680"/>
            <a:ext cx="10972800" cy="146304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What Session Liquidity Means</a:t>
            </a:r>
            <a:endParaRPr lang="en-US" sz="3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TELL</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Sand at the Base of a Slide</a:t>
            </a:r>
            <a:endParaRPr lang="en-US" sz="3000" dirty="0"/>
          </a:p>
        </p:txBody>
      </p:sp>
      <p:sp>
        <p:nvSpPr>
          <p:cNvPr id="4" name="Shape 2"/>
          <p:cNvSpPr/>
          <p:nvPr/>
        </p:nvSpPr>
        <p:spPr>
          <a:xfrm>
            <a:off x="548640" y="1828800"/>
            <a:ext cx="11064240" cy="4023360"/>
          </a:xfrm>
          <a:prstGeom prst="rect">
            <a:avLst/>
          </a:prstGeom>
          <a:solidFill>
            <a:srgbClr val="F2F2F2"/>
          </a:solidFill>
          <a:ln/>
        </p:spPr>
      </p:sp>
      <p:sp>
        <p:nvSpPr>
          <p:cNvPr id="5" name="Text 3"/>
          <p:cNvSpPr/>
          <p:nvPr/>
        </p:nvSpPr>
        <p:spPr>
          <a:xfrm>
            <a:off x="914400" y="2148840"/>
            <a:ext cx="10332720" cy="3383280"/>
          </a:xfrm>
          <a:prstGeom prst="rect">
            <a:avLst/>
          </a:prstGeom>
          <a:noFill/>
          <a:ln/>
        </p:spPr>
        <p:txBody>
          <a:bodyPr wrap="square" lIns="0" tIns="0" rIns="0" bIns="0" rtlCol="0" anchor="t"/>
          <a:lstStyle/>
          <a:p>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Every session has its own high and low: Asia (7:00 PM–2:59 AM ET), London (3:00–9:29 AM) and New York (9:30 AM–3:59 PM).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Stop-losses and pending orders cluster around those levels, </a:t>
            </a:r>
            <a:pPr indent="0" marL="0">
              <a:lnSpc>
                <a:spcPct val="130000"/>
              </a:lnSpc>
              <a:buNone/>
            </a:pPr>
            <a:r>
              <a:rPr lang="en-US" sz="1900" b="1" dirty="0">
                <a:solidFill>
                  <a:srgbClr val="111111"/>
                </a:solidFill>
                <a:latin typeface="Calibri" pitchFamily="34" charset="0"/>
                <a:ea typeface="Calibri" pitchFamily="34" charset="-122"/>
                <a:cs typeface="Calibri" pitchFamily="34" charset="-120"/>
              </a:rPr>
              <a:t>like sand piling up at the base of a slide.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I treat those levels as targets, because that's where the resting orders (the 'fuel') sit.</a:t>
            </a:r>
            <a:endParaRPr lang="en-US" sz="19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7" name="Text 5"/>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548640"/>
            <a:ext cx="2743200" cy="365760"/>
          </a:xfrm>
          <a:prstGeom prst="rect">
            <a:avLst/>
          </a:prstGeom>
          <a:noFill/>
          <a:ln/>
        </p:spPr>
        <p:txBody>
          <a:bodyPr wrap="square" lIns="0" tIns="0" rIns="0" bIns="0" rtlCol="0" anchor="ctr"/>
          <a:lstStyle/>
          <a:p>
            <a:pPr indent="0" marL="0">
              <a:buNone/>
            </a:pPr>
            <a:r>
              <a:rPr lang="en-US" sz="1500" b="1" spc="300" kern="0" dirty="0">
                <a:solidFill>
                  <a:srgbClr val="E8912D"/>
                </a:solidFill>
                <a:latin typeface="Calibri" pitchFamily="34" charset="0"/>
                <a:ea typeface="Calibri" pitchFamily="34" charset="-122"/>
                <a:cs typeface="Calibri" pitchFamily="34" charset="-120"/>
              </a:rPr>
              <a:t>DO</a:t>
            </a:r>
            <a:endParaRPr lang="en-US" sz="1500" dirty="0"/>
          </a:p>
        </p:txBody>
      </p:sp>
      <p:sp>
        <p:nvSpPr>
          <p:cNvPr id="3" name="Text 1"/>
          <p:cNvSpPr/>
          <p:nvPr/>
        </p:nvSpPr>
        <p:spPr>
          <a:xfrm>
            <a:off x="548640" y="96012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Your Turn: Lesson 4.1</a:t>
            </a:r>
            <a:endParaRPr lang="en-US" sz="3000" dirty="0"/>
          </a:p>
        </p:txBody>
      </p:sp>
      <p:sp>
        <p:nvSpPr>
          <p:cNvPr id="4" name="Shape 2"/>
          <p:cNvSpPr/>
          <p:nvPr/>
        </p:nvSpPr>
        <p:spPr>
          <a:xfrm>
            <a:off x="548640" y="1965960"/>
            <a:ext cx="438912" cy="438912"/>
          </a:xfrm>
          <a:prstGeom prst="ellipse">
            <a:avLst/>
          </a:prstGeom>
          <a:solidFill>
            <a:srgbClr val="FFFFFF"/>
          </a:solidFill>
          <a:ln/>
        </p:spPr>
      </p:sp>
      <p:sp>
        <p:nvSpPr>
          <p:cNvPr id="5" name="Text 3"/>
          <p:cNvSpPr/>
          <p:nvPr/>
        </p:nvSpPr>
        <p:spPr>
          <a:xfrm>
            <a:off x="548640" y="196596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1</a:t>
            </a:r>
            <a:endParaRPr lang="en-US" sz="1700" dirty="0"/>
          </a:p>
        </p:txBody>
      </p:sp>
      <p:sp>
        <p:nvSpPr>
          <p:cNvPr id="6" name="Text 4"/>
          <p:cNvSpPr/>
          <p:nvPr/>
        </p:nvSpPr>
        <p:spPr>
          <a:xfrm>
            <a:off x="1234440" y="193852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Turn on your Session Liquidity indicator if you haven't</a:t>
            </a:r>
            <a:endParaRPr lang="en-US" sz="1700" dirty="0"/>
          </a:p>
        </p:txBody>
      </p:sp>
      <p:sp>
        <p:nvSpPr>
          <p:cNvPr id="7" name="Shape 5"/>
          <p:cNvSpPr/>
          <p:nvPr/>
        </p:nvSpPr>
        <p:spPr>
          <a:xfrm>
            <a:off x="548640" y="2743200"/>
            <a:ext cx="438912" cy="438912"/>
          </a:xfrm>
          <a:prstGeom prst="ellipse">
            <a:avLst/>
          </a:prstGeom>
          <a:solidFill>
            <a:srgbClr val="FFFFFF"/>
          </a:solidFill>
          <a:ln/>
        </p:spPr>
      </p:sp>
      <p:sp>
        <p:nvSpPr>
          <p:cNvPr id="8" name="Text 6"/>
          <p:cNvSpPr/>
          <p:nvPr/>
        </p:nvSpPr>
        <p:spPr>
          <a:xfrm>
            <a:off x="548640" y="274320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2</a:t>
            </a:r>
            <a:endParaRPr lang="en-US" sz="1700" dirty="0"/>
          </a:p>
        </p:txBody>
      </p:sp>
      <p:sp>
        <p:nvSpPr>
          <p:cNvPr id="9" name="Text 7"/>
          <p:cNvSpPr/>
          <p:nvPr/>
        </p:nvSpPr>
        <p:spPr>
          <a:xfrm>
            <a:off x="1234440" y="271576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Screenshot your chart with all three session lines visible</a:t>
            </a:r>
            <a:endParaRPr lang="en-US" sz="1700" dirty="0"/>
          </a:p>
        </p:txBody>
      </p:sp>
      <p:sp>
        <p:nvSpPr>
          <p:cNvPr id="10" name="Shape 8"/>
          <p:cNvSpPr/>
          <p:nvPr/>
        </p:nvSpPr>
        <p:spPr>
          <a:xfrm>
            <a:off x="548640" y="3520440"/>
            <a:ext cx="438912" cy="438912"/>
          </a:xfrm>
          <a:prstGeom prst="ellipse">
            <a:avLst/>
          </a:prstGeom>
          <a:solidFill>
            <a:srgbClr val="FFFFFF"/>
          </a:solidFill>
          <a:ln/>
        </p:spPr>
      </p:sp>
      <p:sp>
        <p:nvSpPr>
          <p:cNvPr id="11" name="Text 9"/>
          <p:cNvSpPr/>
          <p:nvPr/>
        </p:nvSpPr>
        <p:spPr>
          <a:xfrm>
            <a:off x="548640" y="352044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3</a:t>
            </a:r>
            <a:endParaRPr lang="en-US" sz="1700" dirty="0"/>
          </a:p>
        </p:txBody>
      </p:sp>
      <p:sp>
        <p:nvSpPr>
          <p:cNvPr id="12" name="Text 10"/>
          <p:cNvSpPr/>
          <p:nvPr/>
        </p:nvSpPr>
        <p:spPr>
          <a:xfrm>
            <a:off x="1234440" y="349300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Post it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0"/>
            <a:ext cx="7315200" cy="457200"/>
          </a:xfrm>
          <a:prstGeom prst="rect">
            <a:avLst/>
          </a:prstGeom>
          <a:noFill/>
          <a:ln/>
        </p:spPr>
        <p:txBody>
          <a:bodyPr wrap="square" lIns="0" tIns="0" rIns="0" bIns="0" rtlCol="0" anchor="ctr"/>
          <a:lstStyle/>
          <a:p>
            <a:pPr indent="0" marL="0">
              <a:buNone/>
            </a:pPr>
            <a:r>
              <a:rPr lang="en-US" sz="1600" spc="300" kern="0" dirty="0">
                <a:solidFill>
                  <a:srgbClr val="6E6E6E"/>
                </a:solidFill>
                <a:latin typeface="Calibri" pitchFamily="34" charset="0"/>
                <a:ea typeface="Calibri" pitchFamily="34" charset="-122"/>
                <a:cs typeface="Calibri" pitchFamily="34" charset="-120"/>
              </a:rPr>
              <a:t>LESSON 4.2</a:t>
            </a:r>
            <a:endParaRPr lang="en-US" sz="1600" dirty="0"/>
          </a:p>
        </p:txBody>
      </p:sp>
      <p:sp>
        <p:nvSpPr>
          <p:cNvPr id="3" name="Text 1"/>
          <p:cNvSpPr/>
          <p:nvPr/>
        </p:nvSpPr>
        <p:spPr>
          <a:xfrm>
            <a:off x="640080" y="3154680"/>
            <a:ext cx="10972800" cy="146304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Reading the Three Sessions</a:t>
            </a:r>
            <a:endParaRPr lang="en-US" sz="3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TELL</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How Sessions Interact</a:t>
            </a:r>
            <a:endParaRPr lang="en-US" sz="3000" dirty="0"/>
          </a:p>
        </p:txBody>
      </p:sp>
      <p:sp>
        <p:nvSpPr>
          <p:cNvPr id="4" name="Shape 2"/>
          <p:cNvSpPr/>
          <p:nvPr/>
        </p:nvSpPr>
        <p:spPr>
          <a:xfrm>
            <a:off x="548640" y="1828800"/>
            <a:ext cx="11064240" cy="4023360"/>
          </a:xfrm>
          <a:prstGeom prst="rect">
            <a:avLst/>
          </a:prstGeom>
          <a:solidFill>
            <a:srgbClr val="F2F2F2"/>
          </a:solidFill>
          <a:ln/>
        </p:spPr>
      </p:sp>
      <p:sp>
        <p:nvSpPr>
          <p:cNvPr id="5" name="Text 3"/>
          <p:cNvSpPr/>
          <p:nvPr/>
        </p:nvSpPr>
        <p:spPr>
          <a:xfrm>
            <a:off x="914400" y="2148840"/>
            <a:ext cx="10332720" cy="3383280"/>
          </a:xfrm>
          <a:prstGeom prst="rect">
            <a:avLst/>
          </a:prstGeom>
          <a:noFill/>
          <a:ln/>
        </p:spPr>
        <p:txBody>
          <a:bodyPr wrap="square" lIns="0" tIns="0" rIns="0" bIns="0" rtlCol="0" anchor="t"/>
          <a:lstStyle/>
          <a:p>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Same tool, more depth. This time we're reading how the sessions interact, not only spotting the lines.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Watch how Asia's range gets swept during London, and how NY often targets whichever session's level hasn't been touched yet.</a:t>
            </a:r>
            <a:endParaRPr lang="en-US" sz="19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7" name="Text 5"/>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548640"/>
            <a:ext cx="2743200" cy="365760"/>
          </a:xfrm>
          <a:prstGeom prst="rect">
            <a:avLst/>
          </a:prstGeom>
          <a:noFill/>
          <a:ln/>
        </p:spPr>
        <p:txBody>
          <a:bodyPr wrap="square" lIns="0" tIns="0" rIns="0" bIns="0" rtlCol="0" anchor="ctr"/>
          <a:lstStyle/>
          <a:p>
            <a:pPr indent="0" marL="0">
              <a:buNone/>
            </a:pPr>
            <a:r>
              <a:rPr lang="en-US" sz="1500" b="1" spc="300" kern="0" dirty="0">
                <a:solidFill>
                  <a:srgbClr val="E8912D"/>
                </a:solidFill>
                <a:latin typeface="Calibri" pitchFamily="34" charset="0"/>
                <a:ea typeface="Calibri" pitchFamily="34" charset="-122"/>
                <a:cs typeface="Calibri" pitchFamily="34" charset="-120"/>
              </a:rPr>
              <a:t>DO</a:t>
            </a:r>
            <a:endParaRPr lang="en-US" sz="1500" dirty="0"/>
          </a:p>
        </p:txBody>
      </p:sp>
      <p:sp>
        <p:nvSpPr>
          <p:cNvPr id="3" name="Text 1"/>
          <p:cNvSpPr/>
          <p:nvPr/>
        </p:nvSpPr>
        <p:spPr>
          <a:xfrm>
            <a:off x="548640" y="96012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Your Turn: Lesson 4.2</a:t>
            </a:r>
            <a:endParaRPr lang="en-US" sz="3000" dirty="0"/>
          </a:p>
        </p:txBody>
      </p:sp>
      <p:sp>
        <p:nvSpPr>
          <p:cNvPr id="4" name="Shape 2"/>
          <p:cNvSpPr/>
          <p:nvPr/>
        </p:nvSpPr>
        <p:spPr>
          <a:xfrm>
            <a:off x="548640" y="1965960"/>
            <a:ext cx="438912" cy="438912"/>
          </a:xfrm>
          <a:prstGeom prst="ellipse">
            <a:avLst/>
          </a:prstGeom>
          <a:solidFill>
            <a:srgbClr val="FFFFFF"/>
          </a:solidFill>
          <a:ln/>
        </p:spPr>
      </p:sp>
      <p:sp>
        <p:nvSpPr>
          <p:cNvPr id="5" name="Text 3"/>
          <p:cNvSpPr/>
          <p:nvPr/>
        </p:nvSpPr>
        <p:spPr>
          <a:xfrm>
            <a:off x="548640" y="196596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1</a:t>
            </a:r>
            <a:endParaRPr lang="en-US" sz="1700" dirty="0"/>
          </a:p>
        </p:txBody>
      </p:sp>
      <p:sp>
        <p:nvSpPr>
          <p:cNvPr id="6" name="Text 4"/>
          <p:cNvSpPr/>
          <p:nvPr/>
        </p:nvSpPr>
        <p:spPr>
          <a:xfrm>
            <a:off x="1234440" y="193852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Track today's three session highs/lows on your chart</a:t>
            </a:r>
            <a:endParaRPr lang="en-US" sz="1700" dirty="0"/>
          </a:p>
        </p:txBody>
      </p:sp>
      <p:sp>
        <p:nvSpPr>
          <p:cNvPr id="7" name="Shape 5"/>
          <p:cNvSpPr/>
          <p:nvPr/>
        </p:nvSpPr>
        <p:spPr>
          <a:xfrm>
            <a:off x="548640" y="2743200"/>
            <a:ext cx="438912" cy="438912"/>
          </a:xfrm>
          <a:prstGeom prst="ellipse">
            <a:avLst/>
          </a:prstGeom>
          <a:solidFill>
            <a:srgbClr val="FFFFFF"/>
          </a:solidFill>
          <a:ln/>
        </p:spPr>
      </p:sp>
      <p:sp>
        <p:nvSpPr>
          <p:cNvPr id="8" name="Text 6"/>
          <p:cNvSpPr/>
          <p:nvPr/>
        </p:nvSpPr>
        <p:spPr>
          <a:xfrm>
            <a:off x="548640" y="274320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2</a:t>
            </a:r>
            <a:endParaRPr lang="en-US" sz="1700" dirty="0"/>
          </a:p>
        </p:txBody>
      </p:sp>
      <p:sp>
        <p:nvSpPr>
          <p:cNvPr id="9" name="Text 7"/>
          <p:cNvSpPr/>
          <p:nvPr/>
        </p:nvSpPr>
        <p:spPr>
          <a:xfrm>
            <a:off x="1234440" y="271576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At the end of the day, post which one got swept first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0"/>
            <a:ext cx="7315200" cy="457200"/>
          </a:xfrm>
          <a:prstGeom prst="rect">
            <a:avLst/>
          </a:prstGeom>
          <a:noFill/>
          <a:ln/>
        </p:spPr>
        <p:txBody>
          <a:bodyPr wrap="square" lIns="0" tIns="0" rIns="0" bIns="0" rtlCol="0" anchor="ctr"/>
          <a:lstStyle/>
          <a:p>
            <a:pPr indent="0" marL="0">
              <a:buNone/>
            </a:pPr>
            <a:r>
              <a:rPr lang="en-US" sz="1600" spc="300" kern="0" dirty="0">
                <a:solidFill>
                  <a:srgbClr val="6E6E6E"/>
                </a:solidFill>
                <a:latin typeface="Calibri" pitchFamily="34" charset="0"/>
                <a:ea typeface="Calibri" pitchFamily="34" charset="-122"/>
                <a:cs typeface="Calibri" pitchFamily="34" charset="-120"/>
              </a:rPr>
              <a:t>LESSON 4.3</a:t>
            </a:r>
            <a:endParaRPr lang="en-US" sz="1600" dirty="0"/>
          </a:p>
        </p:txBody>
      </p:sp>
      <p:sp>
        <p:nvSpPr>
          <p:cNvPr id="3" name="Text 1"/>
          <p:cNvSpPr/>
          <p:nvPr/>
        </p:nvSpPr>
        <p:spPr>
          <a:xfrm>
            <a:off x="640080" y="3154680"/>
            <a:ext cx="10972800" cy="146304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Fixed Range Volume Profile Basics</a:t>
            </a:r>
            <a:endParaRPr lang="en-US" sz="3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TELL</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Where Trading Actually Happened</a:t>
            </a:r>
            <a:endParaRPr lang="en-US" sz="3000" dirty="0"/>
          </a:p>
        </p:txBody>
      </p:sp>
      <p:sp>
        <p:nvSpPr>
          <p:cNvPr id="4" name="Shape 2"/>
          <p:cNvSpPr/>
          <p:nvPr/>
        </p:nvSpPr>
        <p:spPr>
          <a:xfrm>
            <a:off x="548640" y="1828800"/>
            <a:ext cx="11064240" cy="4023360"/>
          </a:xfrm>
          <a:prstGeom prst="rect">
            <a:avLst/>
          </a:prstGeom>
          <a:solidFill>
            <a:srgbClr val="F2F2F2"/>
          </a:solidFill>
          <a:ln/>
        </p:spPr>
      </p:sp>
      <p:sp>
        <p:nvSpPr>
          <p:cNvPr id="5" name="Text 3"/>
          <p:cNvSpPr/>
          <p:nvPr/>
        </p:nvSpPr>
        <p:spPr>
          <a:xfrm>
            <a:off x="914400" y="2148840"/>
            <a:ext cx="10332720" cy="3383280"/>
          </a:xfrm>
          <a:prstGeom prst="rect">
            <a:avLst/>
          </a:prstGeom>
          <a:noFill/>
          <a:ln/>
        </p:spPr>
        <p:txBody>
          <a:bodyPr wrap="square" lIns="0" tIns="0" rIns="0" bIns="0" rtlCol="0" anchor="t"/>
          <a:lstStyle/>
          <a:p>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This tool answers a different question than price alone: </a:t>
            </a:r>
            <a:pPr indent="0" marL="0">
              <a:lnSpc>
                <a:spcPct val="130000"/>
              </a:lnSpc>
              <a:buNone/>
            </a:pPr>
            <a:r>
              <a:rPr lang="en-US" sz="1900" b="1" dirty="0">
                <a:solidFill>
                  <a:srgbClr val="111111"/>
                </a:solidFill>
                <a:latin typeface="Calibri" pitchFamily="34" charset="0"/>
                <a:ea typeface="Calibri" pitchFamily="34" charset="-122"/>
                <a:cs typeface="Calibri" pitchFamily="34" charset="-120"/>
              </a:rPr>
              <a:t>not 'where did price go' but 'where did the most trading actually happen.'
</a:t>
            </a:r>
            <a:pPr indent="0" marL="0">
              <a:lnSpc>
                <a:spcPct val="130000"/>
              </a:lnSpc>
              <a:buNone/>
            </a:pPr>
            <a:r>
              <a:rPr lang="en-US" sz="1900" b="1" dirty="0">
                <a:solidFill>
                  <a:srgbClr val="E8912D"/>
                </a:solidFill>
                <a:latin typeface="Calibri" pitchFamily="34" charset="0"/>
                <a:ea typeface="Calibri" pitchFamily="34" charset="-122"/>
                <a:cs typeface="Calibri" pitchFamily="34" charset="-120"/>
              </a:rPr>
              <a:t>POC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the single price with the most volume.
</a:t>
            </a:r>
            <a:pPr indent="0" marL="0">
              <a:lnSpc>
                <a:spcPct val="130000"/>
              </a:lnSpc>
              <a:buNone/>
            </a:pPr>
            <a:r>
              <a:rPr lang="en-US" sz="1900" b="1" dirty="0">
                <a:solidFill>
                  <a:srgbClr val="2A6FDB"/>
                </a:solidFill>
                <a:latin typeface="Calibri" pitchFamily="34" charset="0"/>
                <a:ea typeface="Calibri" pitchFamily="34" charset="-122"/>
                <a:cs typeface="Calibri" pitchFamily="34" charset="-120"/>
              </a:rPr>
              <a:t>Value Area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the zone holding about 70% of the volume around it (TradingView's default).</a:t>
            </a:r>
            <a:endParaRPr lang="en-US" sz="19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7" name="Text 5"/>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36576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SHOW</a:t>
            </a:r>
            <a:endParaRPr lang="en-US" sz="1300" dirty="0"/>
          </a:p>
        </p:txBody>
      </p:sp>
      <p:sp>
        <p:nvSpPr>
          <p:cNvPr id="3" name="Text 1"/>
          <p:cNvSpPr/>
          <p:nvPr/>
        </p:nvSpPr>
        <p:spPr>
          <a:xfrm>
            <a:off x="548640" y="73152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Fixed Range Volume Profile</a:t>
            </a:r>
            <a:endParaRPr lang="en-US" sz="2600" dirty="0"/>
          </a:p>
        </p:txBody>
      </p:sp>
      <p:pic>
        <p:nvPicPr>
          <p:cNvPr id="4" name="Image 0" descr="4_3_volume_profile.png">    </p:cNvPr>
          <p:cNvPicPr>
            <a:picLocks noChangeAspect="1"/>
          </p:cNvPicPr>
          <p:nvPr/>
        </p:nvPicPr>
        <p:blipFill>
          <a:blip r:embed="rId1"/>
          <a:stretch>
            <a:fillRect/>
          </a:stretch>
        </p:blipFill>
        <p:spPr>
          <a:xfrm>
            <a:off x="822960" y="1508760"/>
            <a:ext cx="10515600" cy="5029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548640"/>
            <a:ext cx="2743200" cy="365760"/>
          </a:xfrm>
          <a:prstGeom prst="rect">
            <a:avLst/>
          </a:prstGeom>
          <a:noFill/>
          <a:ln/>
        </p:spPr>
        <p:txBody>
          <a:bodyPr wrap="square" lIns="0" tIns="0" rIns="0" bIns="0" rtlCol="0" anchor="ctr"/>
          <a:lstStyle/>
          <a:p>
            <a:pPr indent="0" marL="0">
              <a:buNone/>
            </a:pPr>
            <a:r>
              <a:rPr lang="en-US" sz="1500" b="1" spc="300" kern="0" dirty="0">
                <a:solidFill>
                  <a:srgbClr val="E8912D"/>
                </a:solidFill>
                <a:latin typeface="Calibri" pitchFamily="34" charset="0"/>
                <a:ea typeface="Calibri" pitchFamily="34" charset="-122"/>
                <a:cs typeface="Calibri" pitchFamily="34" charset="-120"/>
              </a:rPr>
              <a:t>DO</a:t>
            </a:r>
            <a:endParaRPr lang="en-US" sz="1500" dirty="0"/>
          </a:p>
        </p:txBody>
      </p:sp>
      <p:sp>
        <p:nvSpPr>
          <p:cNvPr id="3" name="Text 1"/>
          <p:cNvSpPr/>
          <p:nvPr/>
        </p:nvSpPr>
        <p:spPr>
          <a:xfrm>
            <a:off x="548640" y="96012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Your Turn: Lesson 4.3</a:t>
            </a:r>
            <a:endParaRPr lang="en-US" sz="3000" dirty="0"/>
          </a:p>
        </p:txBody>
      </p:sp>
      <p:sp>
        <p:nvSpPr>
          <p:cNvPr id="4" name="Shape 2"/>
          <p:cNvSpPr/>
          <p:nvPr/>
        </p:nvSpPr>
        <p:spPr>
          <a:xfrm>
            <a:off x="548640" y="1965960"/>
            <a:ext cx="438912" cy="438912"/>
          </a:xfrm>
          <a:prstGeom prst="ellipse">
            <a:avLst/>
          </a:prstGeom>
          <a:solidFill>
            <a:srgbClr val="FFFFFF"/>
          </a:solidFill>
          <a:ln/>
        </p:spPr>
      </p:sp>
      <p:sp>
        <p:nvSpPr>
          <p:cNvPr id="5" name="Text 3"/>
          <p:cNvSpPr/>
          <p:nvPr/>
        </p:nvSpPr>
        <p:spPr>
          <a:xfrm>
            <a:off x="548640" y="196596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1</a:t>
            </a:r>
            <a:endParaRPr lang="en-US" sz="1700" dirty="0"/>
          </a:p>
        </p:txBody>
      </p:sp>
      <p:sp>
        <p:nvSpPr>
          <p:cNvPr id="6" name="Text 4"/>
          <p:cNvSpPr/>
          <p:nvPr/>
        </p:nvSpPr>
        <p:spPr>
          <a:xfrm>
            <a:off x="1234440" y="193852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Apply Volume Profile to yesterday's session on your own 30-minute chart</a:t>
            </a:r>
            <a:endParaRPr lang="en-US" sz="1700" dirty="0"/>
          </a:p>
        </p:txBody>
      </p:sp>
      <p:sp>
        <p:nvSpPr>
          <p:cNvPr id="7" name="Shape 5"/>
          <p:cNvSpPr/>
          <p:nvPr/>
        </p:nvSpPr>
        <p:spPr>
          <a:xfrm>
            <a:off x="548640" y="2743200"/>
            <a:ext cx="438912" cy="438912"/>
          </a:xfrm>
          <a:prstGeom prst="ellipse">
            <a:avLst/>
          </a:prstGeom>
          <a:solidFill>
            <a:srgbClr val="FFFFFF"/>
          </a:solidFill>
          <a:ln/>
        </p:spPr>
      </p:sp>
      <p:sp>
        <p:nvSpPr>
          <p:cNvPr id="8" name="Text 6"/>
          <p:cNvSpPr/>
          <p:nvPr/>
        </p:nvSpPr>
        <p:spPr>
          <a:xfrm>
            <a:off x="548640" y="274320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2</a:t>
            </a:r>
            <a:endParaRPr lang="en-US" sz="1700" dirty="0"/>
          </a:p>
        </p:txBody>
      </p:sp>
      <p:sp>
        <p:nvSpPr>
          <p:cNvPr id="9" name="Text 7"/>
          <p:cNvSpPr/>
          <p:nvPr/>
        </p:nvSpPr>
        <p:spPr>
          <a:xfrm>
            <a:off x="1234440" y="271576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Screenshot it and mark where the POC landed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0"/>
            <a:ext cx="7315200" cy="457200"/>
          </a:xfrm>
          <a:prstGeom prst="rect">
            <a:avLst/>
          </a:prstGeom>
          <a:noFill/>
          <a:ln/>
        </p:spPr>
        <p:txBody>
          <a:bodyPr wrap="square" lIns="0" tIns="0" rIns="0" bIns="0" rtlCol="0" anchor="ctr"/>
          <a:lstStyle/>
          <a:p>
            <a:pPr indent="0" marL="0">
              <a:buNone/>
            </a:pPr>
            <a:r>
              <a:rPr lang="en-US" sz="1600" spc="300" kern="0" dirty="0">
                <a:solidFill>
                  <a:srgbClr val="6E6E6E"/>
                </a:solidFill>
                <a:latin typeface="Calibri" pitchFamily="34" charset="0"/>
                <a:ea typeface="Calibri" pitchFamily="34" charset="-122"/>
                <a:cs typeface="Calibri" pitchFamily="34" charset="-120"/>
              </a:rPr>
              <a:t>LESSON 4.4</a:t>
            </a:r>
            <a:endParaRPr lang="en-US" sz="1600" dirty="0"/>
          </a:p>
        </p:txBody>
      </p:sp>
      <p:sp>
        <p:nvSpPr>
          <p:cNvPr id="3" name="Text 1"/>
          <p:cNvSpPr/>
          <p:nvPr/>
        </p:nvSpPr>
        <p:spPr>
          <a:xfrm>
            <a:off x="640080" y="3154680"/>
            <a:ext cx="10972800" cy="146304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Using Volume to Confirm Zones</a:t>
            </a:r>
            <a:endParaRPr lang="en-US" sz="3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TELL</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High Volume vs. Low Volume</a:t>
            </a:r>
            <a:endParaRPr lang="en-US" sz="3000" dirty="0"/>
          </a:p>
        </p:txBody>
      </p:sp>
      <p:sp>
        <p:nvSpPr>
          <p:cNvPr id="4" name="Shape 2"/>
          <p:cNvSpPr/>
          <p:nvPr/>
        </p:nvSpPr>
        <p:spPr>
          <a:xfrm>
            <a:off x="548640" y="1828800"/>
            <a:ext cx="5349240" cy="4114800"/>
          </a:xfrm>
          <a:prstGeom prst="rect">
            <a:avLst/>
          </a:prstGeom>
          <a:solidFill>
            <a:srgbClr val="F2F2F2"/>
          </a:solidFill>
          <a:ln/>
        </p:spPr>
      </p:sp>
      <p:sp>
        <p:nvSpPr>
          <p:cNvPr id="5" name="Text 3"/>
          <p:cNvSpPr/>
          <p:nvPr/>
        </p:nvSpPr>
        <p:spPr>
          <a:xfrm>
            <a:off x="914400" y="2103120"/>
            <a:ext cx="4572000" cy="365760"/>
          </a:xfrm>
          <a:prstGeom prst="rect">
            <a:avLst/>
          </a:prstGeom>
          <a:noFill/>
          <a:ln/>
        </p:spPr>
        <p:txBody>
          <a:bodyPr wrap="square" lIns="0" tIns="0" rIns="0" bIns="0" rtlCol="0" anchor="ctr"/>
          <a:lstStyle/>
          <a:p>
            <a:pPr indent="0" marL="0">
              <a:buNone/>
            </a:pPr>
            <a:r>
              <a:rPr lang="en-US" sz="1500" b="1" spc="200" kern="0" dirty="0">
                <a:solidFill>
                  <a:srgbClr val="2A6FDB"/>
                </a:solidFill>
                <a:latin typeface="Calibri" pitchFamily="34" charset="0"/>
                <a:ea typeface="Calibri" pitchFamily="34" charset="-122"/>
                <a:cs typeface="Calibri" pitchFamily="34" charset="-120"/>
              </a:rPr>
              <a:t>HIGH-VOLUME NODE</a:t>
            </a:r>
            <a:endParaRPr lang="en-US" sz="1500" dirty="0"/>
          </a:p>
        </p:txBody>
      </p:sp>
      <p:sp>
        <p:nvSpPr>
          <p:cNvPr id="6" name="Text 4"/>
          <p:cNvSpPr/>
          <p:nvPr/>
        </p:nvSpPr>
        <p:spPr>
          <a:xfrm>
            <a:off x="914400" y="2560320"/>
            <a:ext cx="4663440" cy="3108960"/>
          </a:xfrm>
          <a:prstGeom prst="rect">
            <a:avLst/>
          </a:prstGeom>
          <a:noFill/>
          <a:ln/>
        </p:spPr>
        <p:txBody>
          <a:bodyPr wrap="square" lIns="0" tIns="0" rIns="0" bIns="0" rtlCol="0" anchor="t"/>
          <a:lstStyle/>
          <a:p>
            <a:pPr indent="0" marL="0">
              <a:lnSpc>
                <a:spcPct val="125000"/>
              </a:lnSpc>
              <a:buNone/>
            </a:pPr>
            <a:r>
              <a:rPr lang="en-US" sz="1600" dirty="0">
                <a:solidFill>
                  <a:srgbClr val="111111"/>
                </a:solidFill>
                <a:latin typeface="Calibri" pitchFamily="34" charset="0"/>
                <a:ea typeface="Calibri" pitchFamily="34" charset="-122"/>
                <a:cs typeface="Calibri" pitchFamily="34" charset="-120"/>
              </a:rPr>
              <a:t>Price 'agrees' it belongs there. Might pause or reverse. Harder for a sweep to punch through cleanly.</a:t>
            </a:r>
            <a:endParaRPr lang="en-US" sz="1600" dirty="0"/>
          </a:p>
        </p:txBody>
      </p:sp>
      <p:sp>
        <p:nvSpPr>
          <p:cNvPr id="7" name="Shape 5"/>
          <p:cNvSpPr/>
          <p:nvPr/>
        </p:nvSpPr>
        <p:spPr>
          <a:xfrm>
            <a:off x="6263640" y="1828800"/>
            <a:ext cx="5349240" cy="4114800"/>
          </a:xfrm>
          <a:prstGeom prst="rect">
            <a:avLst/>
          </a:prstGeom>
          <a:solidFill>
            <a:srgbClr val="F2F2F2"/>
          </a:solidFill>
          <a:ln/>
        </p:spPr>
      </p:sp>
      <p:sp>
        <p:nvSpPr>
          <p:cNvPr id="8" name="Text 6"/>
          <p:cNvSpPr/>
          <p:nvPr/>
        </p:nvSpPr>
        <p:spPr>
          <a:xfrm>
            <a:off x="6629400" y="2103120"/>
            <a:ext cx="4572000" cy="365760"/>
          </a:xfrm>
          <a:prstGeom prst="rect">
            <a:avLst/>
          </a:prstGeom>
          <a:noFill/>
          <a:ln/>
        </p:spPr>
        <p:txBody>
          <a:bodyPr wrap="square" lIns="0" tIns="0" rIns="0" bIns="0" rtlCol="0" anchor="ctr"/>
          <a:lstStyle/>
          <a:p>
            <a:pPr indent="0" marL="0">
              <a:buNone/>
            </a:pPr>
            <a:r>
              <a:rPr lang="en-US" sz="1500" b="1" spc="200" kern="0" dirty="0">
                <a:solidFill>
                  <a:srgbClr val="E8912D"/>
                </a:solidFill>
                <a:latin typeface="Calibri" pitchFamily="34" charset="0"/>
                <a:ea typeface="Calibri" pitchFamily="34" charset="-122"/>
                <a:cs typeface="Calibri" pitchFamily="34" charset="-120"/>
              </a:rPr>
              <a:t>LOW-VOLUME GAP</a:t>
            </a:r>
            <a:endParaRPr lang="en-US" sz="1500" dirty="0"/>
          </a:p>
        </p:txBody>
      </p:sp>
      <p:sp>
        <p:nvSpPr>
          <p:cNvPr id="9" name="Text 7"/>
          <p:cNvSpPr/>
          <p:nvPr/>
        </p:nvSpPr>
        <p:spPr>
          <a:xfrm>
            <a:off x="6629400" y="2560320"/>
            <a:ext cx="4663440" cy="3108960"/>
          </a:xfrm>
          <a:prstGeom prst="rect">
            <a:avLst/>
          </a:prstGeom>
          <a:noFill/>
          <a:ln/>
        </p:spPr>
        <p:txBody>
          <a:bodyPr wrap="square" lIns="0" tIns="0" rIns="0" bIns="0" rtlCol="0" anchor="t"/>
          <a:lstStyle/>
          <a:p>
            <a:pPr indent="0" marL="0">
              <a:lnSpc>
                <a:spcPct val="125000"/>
              </a:lnSpc>
              <a:buNone/>
            </a:pPr>
            <a:r>
              <a:rPr lang="en-US" sz="1600" dirty="0">
                <a:solidFill>
                  <a:srgbClr val="111111"/>
                </a:solidFill>
                <a:latin typeface="Calibri" pitchFamily="34" charset="0"/>
                <a:ea typeface="Calibri" pitchFamily="34" charset="-122"/>
                <a:cs typeface="Calibri" pitchFamily="34" charset="-120"/>
              </a:rPr>
              <a:t>Price moved through fast, without much disagreement. This is where I often see manipulation sweeps happen, because there's less resistance.</a:t>
            </a:r>
            <a:endParaRPr lang="en-US" sz="1600" dirty="0"/>
          </a:p>
        </p:txBody>
      </p:sp>
      <p:sp>
        <p:nvSpPr>
          <p:cNvPr id="10" name="Text 8"/>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11" name="Text 9"/>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548640"/>
            <a:ext cx="2743200" cy="365760"/>
          </a:xfrm>
          <a:prstGeom prst="rect">
            <a:avLst/>
          </a:prstGeom>
          <a:noFill/>
          <a:ln/>
        </p:spPr>
        <p:txBody>
          <a:bodyPr wrap="square" lIns="0" tIns="0" rIns="0" bIns="0" rtlCol="0" anchor="ctr"/>
          <a:lstStyle/>
          <a:p>
            <a:pPr indent="0" marL="0">
              <a:buNone/>
            </a:pPr>
            <a:r>
              <a:rPr lang="en-US" sz="1500" b="1" spc="300" kern="0" dirty="0">
                <a:solidFill>
                  <a:srgbClr val="E8912D"/>
                </a:solidFill>
                <a:latin typeface="Calibri" pitchFamily="34" charset="0"/>
                <a:ea typeface="Calibri" pitchFamily="34" charset="-122"/>
                <a:cs typeface="Calibri" pitchFamily="34" charset="-120"/>
              </a:rPr>
              <a:t>DO</a:t>
            </a:r>
            <a:endParaRPr lang="en-US" sz="1500" dirty="0"/>
          </a:p>
        </p:txBody>
      </p:sp>
      <p:sp>
        <p:nvSpPr>
          <p:cNvPr id="3" name="Text 1"/>
          <p:cNvSpPr/>
          <p:nvPr/>
        </p:nvSpPr>
        <p:spPr>
          <a:xfrm>
            <a:off x="548640" y="96012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Your Turn: Lesson 4.4</a:t>
            </a:r>
            <a:endParaRPr lang="en-US" sz="3000" dirty="0"/>
          </a:p>
        </p:txBody>
      </p:sp>
      <p:sp>
        <p:nvSpPr>
          <p:cNvPr id="4" name="Shape 2"/>
          <p:cNvSpPr/>
          <p:nvPr/>
        </p:nvSpPr>
        <p:spPr>
          <a:xfrm>
            <a:off x="548640" y="1965960"/>
            <a:ext cx="438912" cy="438912"/>
          </a:xfrm>
          <a:prstGeom prst="ellipse">
            <a:avLst/>
          </a:prstGeom>
          <a:solidFill>
            <a:srgbClr val="FFFFFF"/>
          </a:solidFill>
          <a:ln/>
        </p:spPr>
      </p:sp>
      <p:sp>
        <p:nvSpPr>
          <p:cNvPr id="5" name="Text 3"/>
          <p:cNvSpPr/>
          <p:nvPr/>
        </p:nvSpPr>
        <p:spPr>
          <a:xfrm>
            <a:off x="548640" y="196596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1</a:t>
            </a:r>
            <a:endParaRPr lang="en-US" sz="1700" dirty="0"/>
          </a:p>
        </p:txBody>
      </p:sp>
      <p:sp>
        <p:nvSpPr>
          <p:cNvPr id="6" name="Text 4"/>
          <p:cNvSpPr/>
          <p:nvPr/>
        </p:nvSpPr>
        <p:spPr>
          <a:xfrm>
            <a:off x="1234440" y="193852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Pull up your Module 3 CRT screenshot again</a:t>
            </a:r>
            <a:endParaRPr lang="en-US" sz="1700" dirty="0"/>
          </a:p>
        </p:txBody>
      </p:sp>
      <p:sp>
        <p:nvSpPr>
          <p:cNvPr id="7" name="Shape 5"/>
          <p:cNvSpPr/>
          <p:nvPr/>
        </p:nvSpPr>
        <p:spPr>
          <a:xfrm>
            <a:off x="548640" y="2743200"/>
            <a:ext cx="438912" cy="438912"/>
          </a:xfrm>
          <a:prstGeom prst="ellipse">
            <a:avLst/>
          </a:prstGeom>
          <a:solidFill>
            <a:srgbClr val="FFFFFF"/>
          </a:solidFill>
          <a:ln/>
        </p:spPr>
      </p:sp>
      <p:sp>
        <p:nvSpPr>
          <p:cNvPr id="8" name="Text 6"/>
          <p:cNvSpPr/>
          <p:nvPr/>
        </p:nvSpPr>
        <p:spPr>
          <a:xfrm>
            <a:off x="548640" y="274320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2</a:t>
            </a:r>
            <a:endParaRPr lang="en-US" sz="1700" dirty="0"/>
          </a:p>
        </p:txBody>
      </p:sp>
      <p:sp>
        <p:nvSpPr>
          <p:cNvPr id="9" name="Text 7"/>
          <p:cNvSpPr/>
          <p:nvPr/>
        </p:nvSpPr>
        <p:spPr>
          <a:xfrm>
            <a:off x="1234440" y="271576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Overlay Volume Profile on it now, drawn on the 30-minute chart</a:t>
            </a:r>
            <a:endParaRPr lang="en-US" sz="1700" dirty="0"/>
          </a:p>
        </p:txBody>
      </p:sp>
      <p:sp>
        <p:nvSpPr>
          <p:cNvPr id="10" name="Shape 8"/>
          <p:cNvSpPr/>
          <p:nvPr/>
        </p:nvSpPr>
        <p:spPr>
          <a:xfrm>
            <a:off x="548640" y="3520440"/>
            <a:ext cx="438912" cy="438912"/>
          </a:xfrm>
          <a:prstGeom prst="ellipse">
            <a:avLst/>
          </a:prstGeom>
          <a:solidFill>
            <a:srgbClr val="FFFFFF"/>
          </a:solidFill>
          <a:ln/>
        </p:spPr>
      </p:sp>
      <p:sp>
        <p:nvSpPr>
          <p:cNvPr id="11" name="Text 9"/>
          <p:cNvSpPr/>
          <p:nvPr/>
        </p:nvSpPr>
        <p:spPr>
          <a:xfrm>
            <a:off x="548640" y="352044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3</a:t>
            </a:r>
            <a:endParaRPr lang="en-US" sz="1700" dirty="0"/>
          </a:p>
        </p:txBody>
      </p:sp>
      <p:sp>
        <p:nvSpPr>
          <p:cNvPr id="12" name="Text 10"/>
          <p:cNvSpPr/>
          <p:nvPr/>
        </p:nvSpPr>
        <p:spPr>
          <a:xfrm>
            <a:off x="1234440" y="349300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Post whether the sweep passed through high or low volume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0"/>
            <a:ext cx="7315200" cy="457200"/>
          </a:xfrm>
          <a:prstGeom prst="rect">
            <a:avLst/>
          </a:prstGeom>
          <a:noFill/>
          <a:ln/>
        </p:spPr>
        <p:txBody>
          <a:bodyPr wrap="square" lIns="0" tIns="0" rIns="0" bIns="0" rtlCol="0" anchor="ctr"/>
          <a:lstStyle/>
          <a:p>
            <a:pPr indent="0" marL="0">
              <a:buNone/>
            </a:pPr>
            <a:r>
              <a:rPr lang="en-US" sz="1600" spc="300" kern="0" dirty="0">
                <a:solidFill>
                  <a:srgbClr val="6E6E6E"/>
                </a:solidFill>
                <a:latin typeface="Calibri" pitchFamily="34" charset="0"/>
                <a:ea typeface="Calibri" pitchFamily="34" charset="-122"/>
                <a:cs typeface="Calibri" pitchFamily="34" charset="-120"/>
              </a:rPr>
              <a:t>LESSON 4.6</a:t>
            </a:r>
            <a:endParaRPr lang="en-US" sz="1600" dirty="0"/>
          </a:p>
        </p:txBody>
      </p:sp>
      <p:sp>
        <p:nvSpPr>
          <p:cNvPr id="3" name="Text 1"/>
          <p:cNvSpPr/>
          <p:nvPr/>
        </p:nvSpPr>
        <p:spPr>
          <a:xfrm>
            <a:off x="640080" y="3154680"/>
            <a:ext cx="10972800" cy="146304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Combining Both Tools with CRT</a:t>
            </a:r>
            <a:endParaRPr lang="en-US" sz="3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548640"/>
            <a:ext cx="2743200" cy="365760"/>
          </a:xfrm>
          <a:prstGeom prst="rect">
            <a:avLst/>
          </a:prstGeom>
          <a:noFill/>
          <a:ln/>
        </p:spPr>
        <p:txBody>
          <a:bodyPr wrap="square" lIns="0" tIns="0" rIns="0" bIns="0" rtlCol="0" anchor="ctr"/>
          <a:lstStyle/>
          <a:p>
            <a:pPr indent="0" marL="0">
              <a:buNone/>
            </a:pPr>
            <a:r>
              <a:rPr lang="en-US" sz="1500" b="1" spc="300" kern="0" dirty="0">
                <a:solidFill>
                  <a:srgbClr val="E8912D"/>
                </a:solidFill>
                <a:latin typeface="Calibri" pitchFamily="34" charset="0"/>
                <a:ea typeface="Calibri" pitchFamily="34" charset="-122"/>
                <a:cs typeface="Calibri" pitchFamily="34" charset="-120"/>
              </a:rPr>
              <a:t>DO</a:t>
            </a:r>
            <a:endParaRPr lang="en-US" sz="1500" dirty="0"/>
          </a:p>
        </p:txBody>
      </p:sp>
      <p:sp>
        <p:nvSpPr>
          <p:cNvPr id="3" name="Text 1"/>
          <p:cNvSpPr/>
          <p:nvPr/>
        </p:nvSpPr>
        <p:spPr>
          <a:xfrm>
            <a:off x="548640" y="96012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Your Turn: Lesson 4.6</a:t>
            </a:r>
            <a:endParaRPr lang="en-US" sz="3000" dirty="0"/>
          </a:p>
        </p:txBody>
      </p:sp>
      <p:sp>
        <p:nvSpPr>
          <p:cNvPr id="4" name="Shape 2"/>
          <p:cNvSpPr/>
          <p:nvPr/>
        </p:nvSpPr>
        <p:spPr>
          <a:xfrm>
            <a:off x="548640" y="1965960"/>
            <a:ext cx="438912" cy="438912"/>
          </a:xfrm>
          <a:prstGeom prst="ellipse">
            <a:avLst/>
          </a:prstGeom>
          <a:solidFill>
            <a:srgbClr val="FFFFFF"/>
          </a:solidFill>
          <a:ln/>
        </p:spPr>
      </p:sp>
      <p:sp>
        <p:nvSpPr>
          <p:cNvPr id="5" name="Text 3"/>
          <p:cNvSpPr/>
          <p:nvPr/>
        </p:nvSpPr>
        <p:spPr>
          <a:xfrm>
            <a:off x="548640" y="196596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1</a:t>
            </a:r>
            <a:endParaRPr lang="en-US" sz="1700" dirty="0"/>
          </a:p>
        </p:txBody>
      </p:sp>
      <p:sp>
        <p:nvSpPr>
          <p:cNvPr id="6" name="Text 4"/>
          <p:cNvSpPr/>
          <p:nvPr/>
        </p:nvSpPr>
        <p:spPr>
          <a:xfrm>
            <a:off x="1234440" y="193852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Find your own three-tool confluence example this week</a:t>
            </a:r>
            <a:endParaRPr lang="en-US" sz="1700" dirty="0"/>
          </a:p>
        </p:txBody>
      </p:sp>
      <p:sp>
        <p:nvSpPr>
          <p:cNvPr id="7" name="Shape 5"/>
          <p:cNvSpPr/>
          <p:nvPr/>
        </p:nvSpPr>
        <p:spPr>
          <a:xfrm>
            <a:off x="548640" y="2743200"/>
            <a:ext cx="438912" cy="438912"/>
          </a:xfrm>
          <a:prstGeom prst="ellipse">
            <a:avLst/>
          </a:prstGeom>
          <a:solidFill>
            <a:srgbClr val="FFFFFF"/>
          </a:solidFill>
          <a:ln/>
        </p:spPr>
      </p:sp>
      <p:sp>
        <p:nvSpPr>
          <p:cNvPr id="8" name="Text 6"/>
          <p:cNvSpPr/>
          <p:nvPr/>
        </p:nvSpPr>
        <p:spPr>
          <a:xfrm>
            <a:off x="548640" y="274320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2</a:t>
            </a:r>
            <a:endParaRPr lang="en-US" sz="1700" dirty="0"/>
          </a:p>
        </p:txBody>
      </p:sp>
      <p:sp>
        <p:nvSpPr>
          <p:cNvPr id="9" name="Text 7"/>
          <p:cNvSpPr/>
          <p:nvPr/>
        </p:nvSpPr>
        <p:spPr>
          <a:xfrm>
            <a:off x="1234440" y="271576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Session liquidity + CRT + Volume Profile all agreeing, POC marked as your target</a:t>
            </a:r>
            <a:endParaRPr lang="en-US" sz="1700" dirty="0"/>
          </a:p>
        </p:txBody>
      </p:sp>
      <p:sp>
        <p:nvSpPr>
          <p:cNvPr id="10" name="Shape 8"/>
          <p:cNvSpPr/>
          <p:nvPr/>
        </p:nvSpPr>
        <p:spPr>
          <a:xfrm>
            <a:off x="548640" y="3520440"/>
            <a:ext cx="438912" cy="438912"/>
          </a:xfrm>
          <a:prstGeom prst="ellipse">
            <a:avLst/>
          </a:prstGeom>
          <a:solidFill>
            <a:srgbClr val="FFFFFF"/>
          </a:solidFill>
          <a:ln/>
        </p:spPr>
      </p:sp>
      <p:sp>
        <p:nvSpPr>
          <p:cNvPr id="11" name="Text 9"/>
          <p:cNvSpPr/>
          <p:nvPr/>
        </p:nvSpPr>
        <p:spPr>
          <a:xfrm>
            <a:off x="548640" y="352044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3</a:t>
            </a:r>
            <a:endParaRPr lang="en-US" sz="1700" dirty="0"/>
          </a:p>
        </p:txBody>
      </p:sp>
      <p:sp>
        <p:nvSpPr>
          <p:cNvPr id="12" name="Text 10"/>
          <p:cNvSpPr/>
          <p:nvPr/>
        </p:nvSpPr>
        <p:spPr>
          <a:xfrm>
            <a:off x="1234440" y="349300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Post it whenever you spot one. No deadline.</a:t>
            </a:r>
            <a:endParaRPr lang="en-US" sz="1700" dirty="0"/>
          </a:p>
        </p:txBody>
      </p:sp>
      <p:sp>
        <p:nvSpPr>
          <p:cNvPr id="13" name="Text 11"/>
          <p:cNvSpPr/>
          <p:nvPr/>
        </p:nvSpPr>
        <p:spPr>
          <a:xfrm>
            <a:off x="548640" y="4480560"/>
            <a:ext cx="10698480" cy="822960"/>
          </a:xfrm>
          <a:prstGeom prst="rect">
            <a:avLst/>
          </a:prstGeom>
          <a:noFill/>
          <a:ln/>
        </p:spPr>
        <p:txBody>
          <a:bodyPr wrap="square" lIns="0" tIns="0" rIns="0" bIns="0" rtlCol="0" anchor="ctr"/>
          <a:lstStyle/>
          <a:p>
            <a:pPr indent="0" marL="0">
              <a:lnSpc>
                <a:spcPct val="130000"/>
              </a:lnSpc>
              <a:buNone/>
            </a:pPr>
            <a:r>
              <a:rPr lang="en-US" sz="1400" i="1" dirty="0">
                <a:solidFill>
                  <a:srgbClr val="6E6E6E"/>
                </a:solidFill>
                <a:latin typeface="Calibri" pitchFamily="34" charset="0"/>
                <a:ea typeface="Calibri" pitchFamily="34" charset="-122"/>
                <a:cs typeface="Calibri" pitchFamily="34" charset="-120"/>
              </a:rPr>
              <a:t>None of these tools work in isolation. This lesson proves that out loud, one more time, on a live example.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SHOW</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Session Lines on a Live Chart</a:t>
            </a:r>
            <a:endParaRPr lang="en-US" sz="3000" dirty="0"/>
          </a:p>
        </p:txBody>
      </p:sp>
      <p:sp>
        <p:nvSpPr>
          <p:cNvPr id="4" name="Shape 2"/>
          <p:cNvSpPr/>
          <p:nvPr/>
        </p:nvSpPr>
        <p:spPr>
          <a:xfrm>
            <a:off x="548640" y="1828800"/>
            <a:ext cx="11064240" cy="4023360"/>
          </a:xfrm>
          <a:prstGeom prst="rect">
            <a:avLst/>
          </a:prstGeom>
          <a:solidFill>
            <a:srgbClr val="F2F2F2"/>
          </a:solidFill>
          <a:ln/>
        </p:spPr>
      </p:sp>
      <p:sp>
        <p:nvSpPr>
          <p:cNvPr id="5" name="Text 3"/>
          <p:cNvSpPr/>
          <p:nvPr/>
        </p:nvSpPr>
        <p:spPr>
          <a:xfrm>
            <a:off x="914400" y="2148840"/>
            <a:ext cx="10332720" cy="3383280"/>
          </a:xfrm>
          <a:prstGeom prst="rect">
            <a:avLst/>
          </a:prstGeom>
          <a:noFill/>
          <a:ln/>
        </p:spPr>
        <p:txBody>
          <a:bodyPr wrap="square" lIns="0" tIns="0" rIns="0" bIns="0" rtlCol="0" anchor="t"/>
          <a:lstStyle/>
          <a:p>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Switch to the live chart. Turn on the Session Liquidity indicator and point to each session's high and low. Then show what price does with London's high once New York opens.</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a:r>
            <a:pPr indent="0" marL="0">
              <a:lnSpc>
                <a:spcPct val="130000"/>
              </a:lnSpc>
              <a:buNone/>
            </a:pPr>
            <a:r>
              <a:rPr lang="en-US" sz="1900" b="1" dirty="0">
                <a:solidFill>
                  <a:srgbClr val="111111"/>
                </a:solidFill>
                <a:latin typeface="Calibri" pitchFamily="34" charset="0"/>
                <a:ea typeface="Calibri" pitchFamily="34" charset="-122"/>
                <a:cs typeface="Calibri" pitchFamily="34" charset="-120"/>
              </a:rPr>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a:r>
            <a:endParaRPr lang="en-US" sz="19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7" name="Text 5"/>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SHOW</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One Full Day, Session by Session</a:t>
            </a:r>
            <a:endParaRPr lang="en-US" sz="3000" dirty="0"/>
          </a:p>
        </p:txBody>
      </p:sp>
      <p:sp>
        <p:nvSpPr>
          <p:cNvPr id="4" name="Shape 2"/>
          <p:cNvSpPr/>
          <p:nvPr/>
        </p:nvSpPr>
        <p:spPr>
          <a:xfrm>
            <a:off x="548640" y="1828800"/>
            <a:ext cx="11064240" cy="4023360"/>
          </a:xfrm>
          <a:prstGeom prst="rect">
            <a:avLst/>
          </a:prstGeom>
          <a:solidFill>
            <a:srgbClr val="F2F2F2"/>
          </a:solidFill>
          <a:ln/>
        </p:spPr>
      </p:sp>
      <p:sp>
        <p:nvSpPr>
          <p:cNvPr id="5" name="Text 3"/>
          <p:cNvSpPr/>
          <p:nvPr/>
        </p:nvSpPr>
        <p:spPr>
          <a:xfrm>
            <a:off x="914400" y="2148840"/>
            <a:ext cx="10332720" cy="3383280"/>
          </a:xfrm>
          <a:prstGeom prst="rect">
            <a:avLst/>
          </a:prstGeom>
          <a:noFill/>
          <a:ln/>
        </p:spPr>
        <p:txBody>
          <a:bodyPr wrap="square" lIns="0" tIns="0" rIns="0" bIns="0" rtlCol="0" anchor="t"/>
          <a:lstStyle/>
          <a:p>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Switch to the live chart. Walk through one full day: Asia's range, London sweeping it, then New York going after whichever session level hasn't been touched yet.</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a:r>
            <a:pPr indent="0" marL="0">
              <a:lnSpc>
                <a:spcPct val="130000"/>
              </a:lnSpc>
              <a:buNone/>
            </a:pPr>
            <a:r>
              <a:rPr lang="en-US" sz="1900" b="1" dirty="0">
                <a:solidFill>
                  <a:srgbClr val="111111"/>
                </a:solidFill>
                <a:latin typeface="Calibri" pitchFamily="34" charset="0"/>
                <a:ea typeface="Calibri" pitchFamily="34" charset="-122"/>
                <a:cs typeface="Calibri" pitchFamily="34" charset="-120"/>
              </a:rPr>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a:r>
            <a:endParaRPr lang="en-US" sz="19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7" name="Text 5"/>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SHOW</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Gap vs. Node</a:t>
            </a:r>
            <a:endParaRPr lang="en-US" sz="3000" dirty="0"/>
          </a:p>
        </p:txBody>
      </p:sp>
      <p:sp>
        <p:nvSpPr>
          <p:cNvPr id="4" name="Shape 2"/>
          <p:cNvSpPr/>
          <p:nvPr/>
        </p:nvSpPr>
        <p:spPr>
          <a:xfrm>
            <a:off x="548640" y="1828800"/>
            <a:ext cx="11064240" cy="4023360"/>
          </a:xfrm>
          <a:prstGeom prst="rect">
            <a:avLst/>
          </a:prstGeom>
          <a:solidFill>
            <a:srgbClr val="F2F2F2"/>
          </a:solidFill>
          <a:ln/>
        </p:spPr>
      </p:sp>
      <p:sp>
        <p:nvSpPr>
          <p:cNvPr id="5" name="Text 3"/>
          <p:cNvSpPr/>
          <p:nvPr/>
        </p:nvSpPr>
        <p:spPr>
          <a:xfrm>
            <a:off x="914400" y="2148840"/>
            <a:ext cx="10332720" cy="3383280"/>
          </a:xfrm>
          <a:prstGeom prst="rect">
            <a:avLst/>
          </a:prstGeom>
          <a:noFill/>
          <a:ln/>
        </p:spPr>
        <p:txBody>
          <a:bodyPr wrap="square" lIns="0" tIns="0" rIns="0" bIns="0" rtlCol="0" anchor="t"/>
          <a:lstStyle/>
          <a:p>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Start on the example slide next, then switch to the live chart. Compare 2 sweeps: one through a low-volume gap (fast, clean) and one into a high-volume node (choppy, harder to read).</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a:r>
            <a:pPr indent="0" marL="0">
              <a:lnSpc>
                <a:spcPct val="130000"/>
              </a:lnSpc>
              <a:buNone/>
            </a:pPr>
            <a:r>
              <a:rPr lang="en-US" sz="1900" b="1" dirty="0">
                <a:solidFill>
                  <a:srgbClr val="111111"/>
                </a:solidFill>
                <a:latin typeface="Calibri" pitchFamily="34" charset="0"/>
                <a:ea typeface="Calibri" pitchFamily="34" charset="-122"/>
                <a:cs typeface="Calibri" pitchFamily="34" charset="-120"/>
              </a:rPr>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a:r>
            <a:endParaRPr lang="en-US" sz="19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7" name="Text 5"/>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SHOW</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3 Tools, 1 Trade</a:t>
            </a:r>
            <a:endParaRPr lang="en-US" sz="3000" dirty="0"/>
          </a:p>
        </p:txBody>
      </p:sp>
      <p:sp>
        <p:nvSpPr>
          <p:cNvPr id="4" name="Shape 2"/>
          <p:cNvSpPr/>
          <p:nvPr/>
        </p:nvSpPr>
        <p:spPr>
          <a:xfrm>
            <a:off x="548640" y="1828800"/>
            <a:ext cx="11064240" cy="4023360"/>
          </a:xfrm>
          <a:prstGeom prst="rect">
            <a:avLst/>
          </a:prstGeom>
          <a:solidFill>
            <a:srgbClr val="F2F2F2"/>
          </a:solidFill>
          <a:ln/>
        </p:spPr>
      </p:sp>
      <p:sp>
        <p:nvSpPr>
          <p:cNvPr id="5" name="Text 3"/>
          <p:cNvSpPr/>
          <p:nvPr/>
        </p:nvSpPr>
        <p:spPr>
          <a:xfrm>
            <a:off x="914400" y="2148840"/>
            <a:ext cx="10332720" cy="3383280"/>
          </a:xfrm>
          <a:prstGeom prst="rect">
            <a:avLst/>
          </a:prstGeom>
          <a:noFill/>
          <a:ln/>
        </p:spPr>
        <p:txBody>
          <a:bodyPr wrap="square" lIns="0" tIns="0" rIns="0" bIns="0" rtlCol="0" anchor="t"/>
          <a:lstStyle/>
          <a:p>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Switch to the live chart. One full walkthrough: session liquidity target, CRT sweep hits it, Volume Profile on the 30-minute chart shows the sweep went through a low-volume gap, then the entry, with the POC as the target.</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a:r>
            <a:pPr indent="0" marL="0">
              <a:lnSpc>
                <a:spcPct val="130000"/>
              </a:lnSpc>
              <a:buNone/>
            </a:pPr>
            <a:r>
              <a:rPr lang="en-US" sz="1900" b="1" dirty="0">
                <a:solidFill>
                  <a:srgbClr val="111111"/>
                </a:solidFill>
                <a:latin typeface="Calibri" pitchFamily="34" charset="0"/>
                <a:ea typeface="Calibri" pitchFamily="34" charset="-122"/>
                <a:cs typeface="Calibri" pitchFamily="34" charset="-120"/>
              </a:rPr>
              <a:t/>
            </a:r>
            <a:pPr indent="0" marL="0">
              <a:lnSpc>
                <a:spcPct val="130000"/>
              </a:lnSpc>
              <a:buNone/>
            </a:pPr>
            <a:r>
              <a:rPr lang="en-US" sz="1900" dirty="0">
                <a:solidFill>
                  <a:srgbClr val="111111"/>
                </a:solidFill>
                <a:latin typeface="Calibri" pitchFamily="34" charset="0"/>
                <a:ea typeface="Calibri" pitchFamily="34" charset="-122"/>
                <a:cs typeface="Calibri" pitchFamily="34" charset="-120"/>
              </a:rPr>
              <a:t/>
            </a:r>
            <a:endParaRPr lang="en-US" sz="19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7" name="Text 5"/>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4.6</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0"/>
            <a:ext cx="7315200" cy="457200"/>
          </a:xfrm>
          <a:prstGeom prst="rect">
            <a:avLst/>
          </a:prstGeom>
          <a:noFill/>
          <a:ln/>
        </p:spPr>
        <p:txBody>
          <a:bodyPr wrap="square" lIns="0" tIns="0" rIns="0" bIns="0" rtlCol="0" anchor="ctr"/>
          <a:lstStyle/>
          <a:p>
            <a:pPr indent="0" marL="0">
              <a:buNone/>
            </a:pPr>
            <a:r>
              <a:rPr lang="en-US" sz="1600" spc="300" kern="0" dirty="0">
                <a:solidFill>
                  <a:srgbClr val="6E6E6E"/>
                </a:solidFill>
                <a:latin typeface="Calibri" pitchFamily="34" charset="0"/>
                <a:ea typeface="Calibri" pitchFamily="34" charset="-122"/>
                <a:cs typeface="Calibri" pitchFamily="34" charset="-120"/>
              </a:rPr>
              <a:t>LESSON 4.5</a:t>
            </a:r>
            <a:endParaRPr lang="en-US" sz="1600" dirty="0"/>
          </a:p>
        </p:txBody>
      </p:sp>
      <p:sp>
        <p:nvSpPr>
          <p:cNvPr id="3" name="Text 1"/>
          <p:cNvSpPr/>
          <p:nvPr/>
        </p:nvSpPr>
        <p:spPr>
          <a:xfrm>
            <a:off x="640080" y="3154680"/>
            <a:ext cx="10972800" cy="146304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Using the POC as an Entry or Exit</a:t>
            </a:r>
            <a:endParaRPr lang="en-US" sz="3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TELL</a:t>
            </a:r>
            <a:endParaRPr lang="en-US" sz="1300" dirty="0"/>
          </a:p>
        </p:txBody>
      </p:sp>
      <p:sp>
        <p:nvSpPr>
          <p:cNvPr id="3" name="Text 1"/>
          <p:cNvSpPr/>
          <p:nvPr/>
        </p:nvSpPr>
        <p:spPr>
          <a:xfrm>
            <a:off x="548640" y="777240"/>
            <a:ext cx="10972800"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How I Use the POC</a:t>
            </a:r>
            <a:endParaRPr lang="en-US" sz="3000" dirty="0"/>
          </a:p>
        </p:txBody>
      </p:sp>
      <p:sp>
        <p:nvSpPr>
          <p:cNvPr id="4" name="Shape 2"/>
          <p:cNvSpPr/>
          <p:nvPr/>
        </p:nvSpPr>
        <p:spPr>
          <a:xfrm>
            <a:off x="548640" y="1828800"/>
            <a:ext cx="5349240" cy="4114800"/>
          </a:xfrm>
          <a:prstGeom prst="rect">
            <a:avLst/>
          </a:prstGeom>
          <a:solidFill>
            <a:srgbClr val="F2F2F2"/>
          </a:solidFill>
          <a:ln/>
        </p:spPr>
      </p:sp>
      <p:sp>
        <p:nvSpPr>
          <p:cNvPr id="5" name="Text 3"/>
          <p:cNvSpPr/>
          <p:nvPr/>
        </p:nvSpPr>
        <p:spPr>
          <a:xfrm>
            <a:off x="914400" y="2103120"/>
            <a:ext cx="4572000" cy="365760"/>
          </a:xfrm>
          <a:prstGeom prst="rect">
            <a:avLst/>
          </a:prstGeom>
          <a:noFill/>
          <a:ln/>
        </p:spPr>
        <p:txBody>
          <a:bodyPr wrap="square" lIns="0" tIns="0" rIns="0" bIns="0" rtlCol="0" anchor="ctr"/>
          <a:lstStyle/>
          <a:p>
            <a:pPr indent="0" marL="0">
              <a:buNone/>
            </a:pPr>
            <a:r>
              <a:rPr lang="en-US" sz="1500" b="1" spc="200" kern="0" dirty="0">
                <a:solidFill>
                  <a:srgbClr val="2A6FDB"/>
                </a:solidFill>
                <a:latin typeface="Calibri" pitchFamily="34" charset="0"/>
                <a:ea typeface="Calibri" pitchFamily="34" charset="-122"/>
                <a:cs typeface="Calibri" pitchFamily="34" charset="-120"/>
              </a:rPr>
              <a:t>POC AS MY EXIT</a:t>
            </a:r>
            <a:endParaRPr lang="en-US" sz="1500" dirty="0"/>
          </a:p>
        </p:txBody>
      </p:sp>
      <p:sp>
        <p:nvSpPr>
          <p:cNvPr id="6" name="Text 4"/>
          <p:cNvSpPr/>
          <p:nvPr/>
        </p:nvSpPr>
        <p:spPr>
          <a:xfrm>
            <a:off x="914400" y="2560320"/>
            <a:ext cx="4663440" cy="3108960"/>
          </a:xfrm>
          <a:prstGeom prst="rect">
            <a:avLst/>
          </a:prstGeom>
          <a:noFill/>
          <a:ln/>
        </p:spPr>
        <p:txBody>
          <a:bodyPr wrap="square" lIns="0" tIns="0" rIns="0" bIns="0" rtlCol="0" anchor="t"/>
          <a:lstStyle/>
          <a:p>
            <a:pPr indent="0" marL="0">
              <a:lnSpc>
                <a:spcPct val="125000"/>
              </a:lnSpc>
              <a:buNone/>
            </a:pPr>
            <a:r>
              <a:rPr lang="en-US" sz="1600" dirty="0">
                <a:solidFill>
                  <a:srgbClr val="111111"/>
                </a:solidFill>
                <a:latin typeface="Calibri" pitchFamily="34" charset="0"/>
                <a:ea typeface="Calibri" pitchFamily="34" charset="-122"/>
                <a:cs typeface="Calibri" pitchFamily="34" charset="-120"/>
              </a:rPr>
              <a:t>I draw the profile on the 30-minute chart. After the sweep and my CRT entry, I exit at or right before the POC of the range I'm trading. Full exit or partial with a runner: I decide from how the candles are moving into the POC.</a:t>
            </a:r>
            <a:endParaRPr lang="en-US" sz="1600" dirty="0"/>
          </a:p>
        </p:txBody>
      </p:sp>
      <p:sp>
        <p:nvSpPr>
          <p:cNvPr id="7" name="Shape 5"/>
          <p:cNvSpPr/>
          <p:nvPr/>
        </p:nvSpPr>
        <p:spPr>
          <a:xfrm>
            <a:off x="6263640" y="1828800"/>
            <a:ext cx="5349240" cy="4114800"/>
          </a:xfrm>
          <a:prstGeom prst="rect">
            <a:avLst/>
          </a:prstGeom>
          <a:solidFill>
            <a:srgbClr val="F2F2F2"/>
          </a:solidFill>
          <a:ln/>
        </p:spPr>
      </p:sp>
      <p:sp>
        <p:nvSpPr>
          <p:cNvPr id="8" name="Text 6"/>
          <p:cNvSpPr/>
          <p:nvPr/>
        </p:nvSpPr>
        <p:spPr>
          <a:xfrm>
            <a:off x="6629400" y="2103120"/>
            <a:ext cx="4572000" cy="365760"/>
          </a:xfrm>
          <a:prstGeom prst="rect">
            <a:avLst/>
          </a:prstGeom>
          <a:noFill/>
          <a:ln/>
        </p:spPr>
        <p:txBody>
          <a:bodyPr wrap="square" lIns="0" tIns="0" rIns="0" bIns="0" rtlCol="0" anchor="ctr"/>
          <a:lstStyle/>
          <a:p>
            <a:pPr indent="0" marL="0">
              <a:buNone/>
            </a:pPr>
            <a:r>
              <a:rPr lang="en-US" sz="1500" b="1" spc="200" kern="0" dirty="0">
                <a:solidFill>
                  <a:srgbClr val="E8912D"/>
                </a:solidFill>
                <a:latin typeface="Calibri" pitchFamily="34" charset="0"/>
                <a:ea typeface="Calibri" pitchFamily="34" charset="-122"/>
                <a:cs typeface="Calibri" pitchFamily="34" charset="-120"/>
              </a:rPr>
              <a:t>POC AS MY ENTRY</a:t>
            </a:r>
            <a:endParaRPr lang="en-US" sz="1500" dirty="0"/>
          </a:p>
        </p:txBody>
      </p:sp>
      <p:sp>
        <p:nvSpPr>
          <p:cNvPr id="9" name="Text 7"/>
          <p:cNvSpPr/>
          <p:nvPr/>
        </p:nvSpPr>
        <p:spPr>
          <a:xfrm>
            <a:off x="6629400" y="2560320"/>
            <a:ext cx="4663440" cy="3108960"/>
          </a:xfrm>
          <a:prstGeom prst="rect">
            <a:avLst/>
          </a:prstGeom>
          <a:noFill/>
          <a:ln/>
        </p:spPr>
        <p:txBody>
          <a:bodyPr wrap="square" lIns="0" tIns="0" rIns="0" bIns="0" rtlCol="0" anchor="t"/>
          <a:lstStyle/>
          <a:p>
            <a:pPr indent="0" marL="0">
              <a:lnSpc>
                <a:spcPct val="125000"/>
              </a:lnSpc>
              <a:buNone/>
            </a:pPr>
            <a:r>
              <a:rPr lang="en-US" sz="1600" dirty="0">
                <a:solidFill>
                  <a:srgbClr val="111111"/>
                </a:solidFill>
                <a:latin typeface="Calibri" pitchFamily="34" charset="0"/>
                <a:ea typeface="Calibri" pitchFamily="34" charset="-122"/>
                <a:cs typeface="Calibri" pitchFamily="34" charset="-120"/>
              </a:rPr>
              <a:t>When price leaves the range and comes back to the POC, I don't enter on the touch. I wait for a reaction candle there. If it lines up with my CRT direction, I enter on its close. I manage my own trades by hand. You use a hard stop of 3.5 to 4 points from that close. Never trade without a stop. Full risk rules: Module 5.</a:t>
            </a:r>
            <a:endParaRPr lang="en-US" sz="1600" dirty="0"/>
          </a:p>
        </p:txBody>
      </p:sp>
      <p:sp>
        <p:nvSpPr>
          <p:cNvPr id="10" name="Text 8"/>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Defined Risk Trading  |  The Curriculum</a:t>
            </a:r>
            <a:endParaRPr lang="en-US" sz="1000" dirty="0"/>
          </a:p>
        </p:txBody>
      </p:sp>
      <p:sp>
        <p:nvSpPr>
          <p:cNvPr id="11" name="Text 9"/>
          <p:cNvSpPr/>
          <p:nvPr/>
        </p:nvSpPr>
        <p:spPr>
          <a:xfrm>
            <a:off x="7589520" y="6492240"/>
            <a:ext cx="41148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MODULE 4  •  LESSON 4.5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36576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SHOW</a:t>
            </a:r>
            <a:endParaRPr lang="en-US" sz="1300" dirty="0"/>
          </a:p>
        </p:txBody>
      </p:sp>
      <p:sp>
        <p:nvSpPr>
          <p:cNvPr id="3" name="Text 1"/>
          <p:cNvSpPr/>
          <p:nvPr/>
        </p:nvSpPr>
        <p:spPr>
          <a:xfrm>
            <a:off x="548640" y="73152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Example: POC as the Exit, POC as the Entry</a:t>
            </a:r>
            <a:endParaRPr lang="en-US" sz="2600" dirty="0"/>
          </a:p>
        </p:txBody>
      </p:sp>
      <p:pic>
        <p:nvPicPr>
          <p:cNvPr id="4" name="Image 0" descr="Example with synthetic candles, not a real trade. 30-minute chart. Left: sweep under the range low, entry, target at the POC. Right: pullback to the POC, reaction candle, entry on its close, hard stop 3.5 to 4 points below the entry.">    </p:cNvPr>
          <p:cNvPicPr>
            <a:picLocks noChangeAspect="1"/>
          </p:cNvPicPr>
          <p:nvPr/>
        </p:nvPicPr>
        <p:blipFill>
          <a:blip r:embed="rId1"/>
          <a:stretch>
            <a:fillRect/>
          </a:stretch>
        </p:blipFill>
        <p:spPr>
          <a:xfrm>
            <a:off x="822960" y="1508760"/>
            <a:ext cx="10515600" cy="5029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548640"/>
            <a:ext cx="2743200" cy="365760"/>
          </a:xfrm>
          <a:prstGeom prst="rect">
            <a:avLst/>
          </a:prstGeom>
          <a:noFill/>
          <a:ln/>
        </p:spPr>
        <p:txBody>
          <a:bodyPr wrap="square" lIns="0" tIns="0" rIns="0" bIns="0" rtlCol="0" anchor="ctr"/>
          <a:lstStyle/>
          <a:p>
            <a:pPr indent="0" marL="0">
              <a:buNone/>
            </a:pPr>
            <a:r>
              <a:rPr lang="en-US" sz="1500" b="1" spc="300" kern="0" dirty="0">
                <a:solidFill>
                  <a:srgbClr val="E8912D"/>
                </a:solidFill>
                <a:latin typeface="Calibri" pitchFamily="34" charset="0"/>
                <a:ea typeface="Calibri" pitchFamily="34" charset="-122"/>
                <a:cs typeface="Calibri" pitchFamily="34" charset="-120"/>
              </a:rPr>
              <a:t>DO</a:t>
            </a:r>
            <a:endParaRPr lang="en-US" sz="1500" dirty="0"/>
          </a:p>
        </p:txBody>
      </p:sp>
      <p:sp>
        <p:nvSpPr>
          <p:cNvPr id="3" name="Text 1"/>
          <p:cNvSpPr/>
          <p:nvPr/>
        </p:nvSpPr>
        <p:spPr>
          <a:xfrm>
            <a:off x="548640" y="96012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Your Turn: Lesson 4.5</a:t>
            </a:r>
            <a:endParaRPr lang="en-US" sz="3000" dirty="0"/>
          </a:p>
        </p:txBody>
      </p:sp>
      <p:sp>
        <p:nvSpPr>
          <p:cNvPr id="4" name="Shape 2"/>
          <p:cNvSpPr/>
          <p:nvPr/>
        </p:nvSpPr>
        <p:spPr>
          <a:xfrm>
            <a:off x="548640" y="1965960"/>
            <a:ext cx="438912" cy="438912"/>
          </a:xfrm>
          <a:prstGeom prst="ellipse">
            <a:avLst/>
          </a:prstGeom>
          <a:solidFill>
            <a:srgbClr val="FFFFFF"/>
          </a:solidFill>
          <a:ln/>
        </p:spPr>
      </p:sp>
      <p:sp>
        <p:nvSpPr>
          <p:cNvPr id="5" name="Text 3"/>
          <p:cNvSpPr/>
          <p:nvPr/>
        </p:nvSpPr>
        <p:spPr>
          <a:xfrm>
            <a:off x="548640" y="196596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1</a:t>
            </a:r>
            <a:endParaRPr lang="en-US" sz="1700" dirty="0"/>
          </a:p>
        </p:txBody>
      </p:sp>
      <p:sp>
        <p:nvSpPr>
          <p:cNvPr id="6" name="Text 4"/>
          <p:cNvSpPr/>
          <p:nvPr/>
        </p:nvSpPr>
        <p:spPr>
          <a:xfrm>
            <a:off x="1234440" y="193852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On the 30-minute chart, draw Volume Profile on your range and mark the POC</a:t>
            </a:r>
            <a:endParaRPr lang="en-US" sz="1700" dirty="0"/>
          </a:p>
        </p:txBody>
      </p:sp>
      <p:sp>
        <p:nvSpPr>
          <p:cNvPr id="7" name="Shape 5"/>
          <p:cNvSpPr/>
          <p:nvPr/>
        </p:nvSpPr>
        <p:spPr>
          <a:xfrm>
            <a:off x="548640" y="2743200"/>
            <a:ext cx="438912" cy="438912"/>
          </a:xfrm>
          <a:prstGeom prst="ellipse">
            <a:avLst/>
          </a:prstGeom>
          <a:solidFill>
            <a:srgbClr val="FFFFFF"/>
          </a:solidFill>
          <a:ln/>
        </p:spPr>
      </p:sp>
      <p:sp>
        <p:nvSpPr>
          <p:cNvPr id="8" name="Text 6"/>
          <p:cNvSpPr/>
          <p:nvPr/>
        </p:nvSpPr>
        <p:spPr>
          <a:xfrm>
            <a:off x="548640" y="274320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2</a:t>
            </a:r>
            <a:endParaRPr lang="en-US" sz="1700" dirty="0"/>
          </a:p>
        </p:txBody>
      </p:sp>
      <p:sp>
        <p:nvSpPr>
          <p:cNvPr id="9" name="Text 7"/>
          <p:cNvSpPr/>
          <p:nvPr/>
        </p:nvSpPr>
        <p:spPr>
          <a:xfrm>
            <a:off x="1234440" y="271576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On your Module 3 CRT screenshot, mark the POC: entry or target?</a:t>
            </a:r>
            <a:endParaRPr lang="en-US" sz="1700" dirty="0"/>
          </a:p>
        </p:txBody>
      </p:sp>
      <p:sp>
        <p:nvSpPr>
          <p:cNvPr id="10" name="Shape 8"/>
          <p:cNvSpPr/>
          <p:nvPr/>
        </p:nvSpPr>
        <p:spPr>
          <a:xfrm>
            <a:off x="548640" y="3520440"/>
            <a:ext cx="438912" cy="438912"/>
          </a:xfrm>
          <a:prstGeom prst="ellipse">
            <a:avLst/>
          </a:prstGeom>
          <a:solidFill>
            <a:srgbClr val="FFFFFF"/>
          </a:solidFill>
          <a:ln/>
        </p:spPr>
      </p:sp>
      <p:sp>
        <p:nvSpPr>
          <p:cNvPr id="11" name="Text 9"/>
          <p:cNvSpPr/>
          <p:nvPr/>
        </p:nvSpPr>
        <p:spPr>
          <a:xfrm>
            <a:off x="548640" y="3520440"/>
            <a:ext cx="438912" cy="438912"/>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3</a:t>
            </a:r>
            <a:endParaRPr lang="en-US" sz="1700" dirty="0"/>
          </a:p>
        </p:txBody>
      </p:sp>
      <p:sp>
        <p:nvSpPr>
          <p:cNvPr id="12" name="Text 10"/>
          <p:cNvSpPr/>
          <p:nvPr/>
        </p:nvSpPr>
        <p:spPr>
          <a:xfrm>
            <a:off x="1234440" y="3493008"/>
            <a:ext cx="987552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Post it with your entry, stop and target marked</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48640" y="365760"/>
            <a:ext cx="2743200" cy="320040"/>
          </a:xfrm>
          <a:prstGeom prst="rect">
            <a:avLst/>
          </a:prstGeom>
          <a:noFill/>
          <a:ln/>
        </p:spPr>
        <p:txBody>
          <a:bodyPr wrap="square" lIns="0" tIns="0" rIns="0" bIns="0" rtlCol="0" anchor="ctr"/>
          <a:lstStyle/>
          <a:p>
            <a:pPr indent="0" marL="0">
              <a:buNone/>
            </a:pPr>
            <a:r>
              <a:rPr lang="en-US" sz="1300" b="1" spc="300" kern="0" dirty="0">
                <a:solidFill>
                  <a:srgbClr val="6E6E6E"/>
                </a:solidFill>
                <a:latin typeface="Calibri" pitchFamily="34" charset="0"/>
                <a:ea typeface="Calibri" pitchFamily="34" charset="-122"/>
                <a:cs typeface="Calibri" pitchFamily="34" charset="-120"/>
              </a:rPr>
              <a:t>SHOW</a:t>
            </a:r>
            <a:endParaRPr lang="en-US" sz="1300" dirty="0"/>
          </a:p>
        </p:txBody>
      </p:sp>
      <p:sp>
        <p:nvSpPr>
          <p:cNvPr id="3" name="Text 1"/>
          <p:cNvSpPr/>
          <p:nvPr/>
        </p:nvSpPr>
        <p:spPr>
          <a:xfrm>
            <a:off x="548640" y="73152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Example: volume confirms the sweep</a:t>
            </a:r>
            <a:endParaRPr lang="en-US" sz="2600" dirty="0"/>
          </a:p>
        </p:txBody>
      </p:sp>
      <p:pic>
        <p:nvPicPr>
          <p:cNvPr id="4" name="Image 0" descr="Example with synthetic candles on a 30-minute chart, not a real trade. Left: a sweep through a low-volume gap, fast and clean. Right: a sweep into a high-volume node, choppy and hard to read.">    </p:cNvPr>
          <p:cNvPicPr>
            <a:picLocks noChangeAspect="1"/>
          </p:cNvPicPr>
          <p:nvPr/>
        </p:nvPicPr>
        <p:blipFill>
          <a:blip r:embed="rId1"/>
          <a:stretch>
            <a:fillRect/>
          </a:stretch>
        </p:blipFill>
        <p:spPr>
          <a:xfrm>
            <a:off x="822960" y="1508760"/>
            <a:ext cx="10515600"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2026-08-25T02:47:37Z</dcterms:created>
  <dcterms:modified xsi:type="dcterms:W3CDTF">2026-08-25T02:47:37Z</dcterms:modified>
</cp:coreProperties>
</file>