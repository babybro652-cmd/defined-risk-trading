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4. In Module 3 you learned the CRT setup. Now we answer two questions that make that setup better. Where is price headed? And does volume agree with the move? That's session liquidity and volume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note before we start. This is education, not financial advice. Futures can take money out of your account fast, and more than you planned if you trade without a stop. The chart examples are for teaching. Nothing I show you is a promise of what the next trade does. Only trade money you can afford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Six short lessons. 4.1 and 4.2 are session liquidity: where the orders sit. 4.3 and 4.4 are volume profile: where the trading happened. 4.5 is how I use the POC as an entry or an exit. And 4.6 puts all of it together with your CRT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4.1. What session liquidity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trading session has its own high and its own low. Asia runs 7 PM to 2:59 AM Eastern. London runs 3 AM to 9:29. New York runs 9:30 AM to 3:59 PM. Three sessions, so six levels on your chart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those levels matter. Stop-losses and pending orders cluster around them, like sand piling up at the base of a slide. That pile of orders is fuel. So I treat those highs and lows as targets. When price runs toward one, it's going where the orders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on a live chart. [Switch to TradingView.] This is the Session Liquidity indicator. This line is the Asia high, and this one is the Asia low. Here's London's high and low. Now New York opens at 9:30. Watch London's high. [Scroll forward.] See how price went after it? That's the liquidity resting there, and that's why I mark these lines every morning. [Switch back to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Turn on your Session Liquidity indicator if you haven't yet. Screenshot your chart with all three sessions' lines showing. Post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4.2. Reading the three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tool, more depth. In 4.1 you spotted the lines. Now we read how the sessions interact. Asia builds a range. London often sweeps that range. Then New York often goes after whichever session level hasn't been touched yet. Often, not always. That's why we watch it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one full day. [Switch to TradingView.] Here's the Asia open. Price builds this range overnight. Here's the high, here's the low. Now London opens at 3 AM. Watch what it does to the Asia range. [Scroll.] There's the sweep. Now which level is still sitting there untouched? This one. New York opens at 9:30, and here's price going after it.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Track today's three session highs and lows on your chart. At the end of the day, post which one got swept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4.3. Fixed Range Volume Profile 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tool answers a different question than price alone. Not where did price go. Where did the most trading happen. Price tells you the path. Volume profile tells you where buyers and sellers spent the most time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words to know. POC, the Point of Control, is the single price with the most volume. The value area is the zone around it holding about 70% of the volume. That's TradingView's default setting, so leave it there. And I draw this on the 30-minute chart. That's the timeframe for everything in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it looks like. The bars on the right are volume at each price. The longest bar is the POC, in orange. The purple band marks the value area. On a normal session you get a fat middle and thin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on a live chart. [Switch to TradingView.] I'm on the 30-minute chart. I pick the Fixed Range Volume Profile tool, click the start of the session, and drag to the end. Here's the POC, the price with the most volume. Here's the value area. Fat middle, thin edges. That's a normal session.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Apply Volume Profile to yesterday's session on your own 30-minute chart. Screenshot it and mark where the POC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4.4. Using volume to confirm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High-volume areas mean price agrees it belongs there. It might pause there or reverse, and it's harder for a sweep to punch through cleanly. Low-volume gaps mean price moved through fast, without much disagreement. That's where I often see manipulation sweeps happen, because there's less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picture. On the left, the sweep goes through a low-volume gap. One wick through, then price reverses hard. Clean. On the right, the sweep goes into a high-volume node. Price chops around inside it, and the reversal is hard to read. Same sweep, different volume, different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two real sweeps. [Switch to TradingView.] Sweep one. Profile's drawn on the 30-minute chart. Look where the wick went: through this thin area, a low-volume gap. One push through and price snapped back. Now sweep two. This one ran into a high-volume node. Look at the chop. Three, four candles going nowhere before anything happened. That's the difference.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Pull up your Module 3 CRT screenshot again. Overlay Volume Profile on it, drawn on the 30-minute chart. Post whether the sweep passed through high or low volume, and whether that changes how you'd read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4.5. Using the POC as an entry or an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4.4 we used volume to judge the sweep. Now I'm going to show you how I use one line off that profile, the POC, as my exit or my entry. This is how I trade it. It's not a law the market has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POC as my exit. I draw the Fixed Range Volume Profile on the 30-minute chart, over the range I'm trading. After the sweep and my CRT entry, I manage the trade at the POC of that range, or a few ticks before it. Sometimes I take the full exit there. Sometimes I take a partial and let the rest run. Which one depends on how the candles move into the POC. That's a read, not a formula. You build the feel for it with screen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exit on a chart. The gray box is the range I profiled. Price sweeps under the range low, then reverses. Entry on the reversal, hard stop 3.5 to 4 points below it. And the target is the POC of that range, the orange line. That's where I expect price to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POC? It's where the most trading happened in that range, so that's where I expect price to stall. Session liquidity tells me where price is headed. The POC tells me where it's likely to slow down on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POC as my entry. When price leaves the range and comes back to the POC, I watch how it reacts there. I don't enter on the touch. I wait for a reaction candle at the POC. If it lines up with my CRT direction, I enter on that candle's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your stop. I manage my own trades by hand, but that's me, not you. You use a hard stop of 3.5 to 4 points on ES. On a POC entry, that's 3.5 to 4 points from your entry, the close of the reaction candle. If you're a beginner, you don't take a trade without a stop. No exceptions. My target is the session high or the session low, whichever is the untaken liquidity in my trade direction. I exit at that line or within a point of it. We cover size and risk in detail in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entry. Price leaves the range, then comes back to the POC. I don't enter on the touch. This candle wicks into the POC and closes back up. That's the reaction candle. Entry on its close. Hard stop 3.5 to 4 points below the entry. Target is the session high nobody's taken yet, up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on real charts. [Switch to TradingView.] 30-minute chart. I draw the profile over the range I'm trading, start to end. Here's the POC. Setup one: here's the sweep, here's my CRT entry, and the POC is my target. Look at how the candles slowed down coming into it. Setup two: price left the range, came back down to the POC, and printed this reaction candle. Entry on its close. Hard stop 3.5 to 4 points below. Target up here at the session high nobody's taken yet.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On the 30-minute chart, draw Volume Profile on the range you're trading and mark the POC. Then pull up your Module 3 CRT screenshot and mark the POC on it. Was it your entry or your target? Post it with your entry, stop and target marked. One line doesn't make the trade. The POC has to fit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4.6. Combining both tools with CRT.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tools work in isolation. Session liquidity tells you where price is headed. CRT gives you the sweep and the entry. Volume profile tells you if volume agrees, and where the POC sits. When all three agree, that's the trade. This lesson proves it out loud, one more time, on a live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TradingView.] Step one, session liquidity. Which level is untaken? This one. That's where price is headed. Step two, CRT. Here's the sweep, right into that level. Step three, volume. Profile's on the 30-minute chart, and look: the sweep went through a low-volume gap. Clean. Here's the entry, and the POC is my target. Three tools, all saying the same thing.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Find your own three-tool confluence example this week. Session liquidity, CRT and Volume Profile all agreeing, with the POC marked as your target. Post it whenever you spot one. No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Module 4. Session highs and lows are where the orders sit. London often sweeps Asia, and New York often goes after the level nobody touched. The POC is the most-traded price, drawn on the 30-minute chart. Sweeps through low-volume gaps read cleaner. And the POC is your exit or your entry, with a 3.5 to 4 point hard stop every time. Next up, Module 5: putting it into one workflow, and the risk rules that keep you in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RT_DARK">
    <p:bg>
      <p:bgPr>
        <a:solidFill>
          <a:srgbClr val="11111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RT_LIGH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548640"/>
            <a:ext cx="5486400" cy="365760"/>
          </a:xfrm>
          <a:prstGeom prst="rect">
            <a:avLst/>
          </a:prstGeom>
          <a:noFill/>
          <a:ln/>
        </p:spPr>
        <p:txBody>
          <a:bodyPr wrap="square" lIns="0" tIns="0" rIns="0" bIns="0" rtlCol="0" anchor="t"/>
          <a:lstStyle/>
          <a:p>
            <a:pPr indent="0" marL="0">
              <a:buNone/>
            </a:pPr>
            <a:r>
              <a:rPr lang="en-US" sz="1600" b="1" spc="400" kern="0" dirty="0">
                <a:solidFill>
                  <a:srgbClr val="FFFFFF"/>
                </a:solidFill>
                <a:latin typeface="Arial" pitchFamily="34" charset="0"/>
                <a:ea typeface="Arial" pitchFamily="34" charset="-122"/>
                <a:cs typeface="Arial" pitchFamily="34" charset="-120"/>
              </a:rPr>
              <a:t>DEFINED RISK TRADING</a:t>
            </a:r>
            <a:endParaRPr lang="en-US" sz="1600" dirty="0"/>
          </a:p>
        </p:txBody>
      </p:sp>
      <p:sp>
        <p:nvSpPr>
          <p:cNvPr id="4" name="Text 1"/>
          <p:cNvSpPr txBox="1"/>
          <p:nvPr/>
        </p:nvSpPr>
        <p:spPr>
          <a:xfrm>
            <a:off x="640080" y="2011680"/>
            <a:ext cx="5486400" cy="457200"/>
          </a:xfrm>
          <a:prstGeom prst="rect">
            <a:avLst/>
          </a:prstGeom>
          <a:noFill/>
          <a:ln/>
        </p:spPr>
        <p:txBody>
          <a:bodyPr wrap="square" lIns="0" tIns="0" rIns="0" bIns="0" rtlCol="0" anchor="t"/>
          <a:lstStyle/>
          <a:p>
            <a:pPr indent="0" marL="0">
              <a:buNone/>
            </a:pPr>
            <a:r>
              <a:rPr lang="en-US" sz="2000" b="1" spc="600" kern="0" dirty="0">
                <a:solidFill>
                  <a:srgbClr val="E8912D"/>
                </a:solidFill>
                <a:latin typeface="Arial" pitchFamily="34" charset="0"/>
                <a:ea typeface="Arial" pitchFamily="34" charset="-122"/>
                <a:cs typeface="Arial" pitchFamily="34" charset="-120"/>
              </a:rPr>
              <a:t>MODULE 4</a:t>
            </a:r>
            <a:endParaRPr lang="en-US" sz="2000" dirty="0"/>
          </a:p>
        </p:txBody>
      </p:sp>
      <p:sp>
        <p:nvSpPr>
          <p:cNvPr id="5" name="Text 2"/>
          <p:cNvSpPr txBox="1"/>
          <p:nvPr/>
        </p:nvSpPr>
        <p:spPr>
          <a:xfrm>
            <a:off x="640080" y="2560320"/>
            <a:ext cx="10058400" cy="201168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Session Liquidity &amp;</a:t>
            </a:r>
            <a:endParaRPr lang="en-US" sz="5400" dirty="0"/>
          </a:p>
          <a:p>
            <a:pPr indent="0" marL="0">
              <a:buNone/>
            </a:pPr>
            <a:r>
              <a:rPr lang="en-US" sz="5400" b="1" dirty="0">
                <a:solidFill>
                  <a:srgbClr val="FFFFFF"/>
                </a:solidFill>
                <a:latin typeface="Arial" pitchFamily="34" charset="0"/>
                <a:ea typeface="Arial" pitchFamily="34" charset="-122"/>
                <a:cs typeface="Arial" pitchFamily="34" charset="-120"/>
              </a:rPr>
              <a:t>Volume Profile</a:t>
            </a:r>
            <a:endParaRPr lang="en-US" sz="5400" dirty="0"/>
          </a:p>
        </p:txBody>
      </p:sp>
      <p:sp>
        <p:nvSpPr>
          <p:cNvPr id="6" name="Text 3"/>
          <p:cNvSpPr txBox="1"/>
          <p:nvPr/>
        </p:nvSpPr>
        <p:spPr>
          <a:xfrm>
            <a:off x="640080" y="4754880"/>
            <a:ext cx="10972800" cy="548640"/>
          </a:xfrm>
          <a:prstGeom prst="rect">
            <a:avLst/>
          </a:prstGeom>
          <a:noFill/>
          <a:ln/>
        </p:spPr>
        <p:txBody>
          <a:bodyPr wrap="square" lIns="0" tIns="0" rIns="0" bIns="0" rtlCol="0" anchor="t"/>
          <a:lstStyle/>
          <a:p>
            <a:pPr indent="0" marL="0">
              <a:buNone/>
            </a:pPr>
            <a:r>
              <a:rPr lang="en-US" sz="2400" i="1" dirty="0">
                <a:solidFill>
                  <a:srgbClr val="A8A8A8"/>
                </a:solidFill>
                <a:latin typeface="Calibri" pitchFamily="34" charset="0"/>
                <a:ea typeface="Calibri" pitchFamily="34" charset="-122"/>
                <a:cs typeface="Calibri" pitchFamily="34" charset="-120"/>
              </a:rPr>
              <a:t>Where liquidity sits, and whether volume agrees</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640080" y="502920"/>
            <a:ext cx="640080" cy="640080"/>
          </a:xfrm>
          <a:prstGeom prst="rect">
            <a:avLst/>
          </a:prstGeom>
        </p:spPr>
      </p:pic>
      <p:sp>
        <p:nvSpPr>
          <p:cNvPr id="4" name="Text 0"/>
          <p:cNvSpPr txBox="1"/>
          <p:nvPr/>
        </p:nvSpPr>
        <p:spPr>
          <a:xfrm>
            <a:off x="1508760" y="502920"/>
            <a:ext cx="914400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Before We Start</a:t>
            </a:r>
            <a:endParaRPr lang="en-US" sz="3600" dirty="0"/>
          </a:p>
        </p:txBody>
      </p:sp>
      <p:sp>
        <p:nvSpPr>
          <p:cNvPr id="5" name="Text 1"/>
          <p:cNvSpPr txBox="1"/>
          <p:nvPr/>
        </p:nvSpPr>
        <p:spPr>
          <a:xfrm>
            <a:off x="1508760" y="228600"/>
            <a:ext cx="5486400" cy="274320"/>
          </a:xfrm>
          <a:prstGeom prst="rect">
            <a:avLst/>
          </a:prstGeom>
          <a:noFill/>
          <a:ln/>
        </p:spPr>
        <p:txBody>
          <a:bodyPr wrap="square" lIns="0" tIns="0" rIns="0" bIns="0" rtlCol="0" anchor="t"/>
          <a:lstStyle/>
          <a:p>
            <a:pPr indent="0" marL="0">
              <a:buNone/>
            </a:pPr>
            <a:r>
              <a:rPr lang="en-US" sz="1300" b="1" spc="400" kern="0" dirty="0">
                <a:solidFill>
                  <a:srgbClr val="E8912D"/>
                </a:solidFill>
                <a:latin typeface="Arial" pitchFamily="34" charset="0"/>
                <a:ea typeface="Arial" pitchFamily="34" charset="-122"/>
                <a:cs typeface="Arial" pitchFamily="34" charset="-120"/>
              </a:rPr>
              <a:t>RISK DISCLAIMER</a:t>
            </a:r>
            <a:endParaRPr lang="en-US" sz="1300" dirty="0"/>
          </a:p>
        </p:txBody>
      </p:sp>
      <p:sp>
        <p:nvSpPr>
          <p:cNvPr id="6" name="Text 2"/>
          <p:cNvSpPr txBox="1"/>
          <p:nvPr/>
        </p:nvSpPr>
        <p:spPr>
          <a:xfrm>
            <a:off x="640080" y="1645920"/>
            <a:ext cx="10911535" cy="4206240"/>
          </a:xfrm>
          <a:prstGeom prst="rect">
            <a:avLst/>
          </a:prstGeom>
          <a:noFill/>
          <a:ln/>
        </p:spPr>
        <p:txBody>
          <a:bodyPr wrap="square" lIns="0" tIns="0" rIns="0" bIns="0" rtlCol="0" anchor="t"/>
          <a:lstStyle/>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This is education, not financial advice.</a:t>
            </a:r>
            <a:endParaRPr lang="en-US" sz="2600" dirty="0"/>
          </a:p>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Futures trading carries a real risk of loss. You can lose more than you planned if you trade without a stop.</a:t>
            </a:r>
            <a:endParaRPr lang="en-US" sz="2600" dirty="0"/>
          </a:p>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Chart examples are for teaching. Past results don't predict future results.</a:t>
            </a:r>
            <a:endParaRPr lang="en-US" sz="2600" dirty="0"/>
          </a:p>
          <a:p>
            <a:pPr marL="304800" indent="-304800">
              <a:spcAft>
                <a:spcPts val="1800"/>
              </a:spcAft>
              <a:buSzPct val="100000"/>
              <a:buChar char="•"/>
            </a:pPr>
            <a:r>
              <a:rPr lang="en-US" sz="2600" dirty="0">
                <a:solidFill>
                  <a:srgbClr val="FFFFFF"/>
                </a:solidFill>
                <a:latin typeface="Calibri" pitchFamily="34" charset="0"/>
                <a:ea typeface="Calibri" pitchFamily="34" charset="-122"/>
                <a:cs typeface="Calibri" pitchFamily="34" charset="-120"/>
              </a:rPr>
              <a:t>Only trade money you can afford to lose.</a:t>
            </a:r>
            <a:endParaRPr lang="en-US" sz="2600" dirty="0"/>
          </a:p>
        </p:txBody>
      </p:sp>
      <p:sp>
        <p:nvSpPr>
          <p:cNvPr id="7" name="Text 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MODULE 4</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Module 4 Lessons</a:t>
            </a:r>
            <a:endParaRPr lang="en-US" sz="3600" dirty="0"/>
          </a:p>
        </p:txBody>
      </p:sp>
      <p:sp>
        <p:nvSpPr>
          <p:cNvPr id="5" name="Shape 2"/>
          <p:cNvSpPr/>
          <p:nvPr/>
        </p:nvSpPr>
        <p:spPr>
          <a:xfrm>
            <a:off x="640080" y="1828800"/>
            <a:ext cx="5303520" cy="1005840"/>
          </a:xfrm>
          <a:prstGeom prst="roundRect">
            <a:avLst>
              <a:gd name="adj" fmla="val 7273"/>
            </a:avLst>
          </a:prstGeom>
          <a:solidFill>
            <a:srgbClr val="1E1E1E"/>
          </a:solidFill>
          <a:ln w="12700">
            <a:solidFill>
              <a:srgbClr val="1E1E1E"/>
            </a:solidFill>
            <a:prstDash val="solid"/>
          </a:ln>
        </p:spPr>
      </p:sp>
      <p:sp>
        <p:nvSpPr>
          <p:cNvPr id="6" name="Text 3"/>
          <p:cNvSpPr txBox="1"/>
          <p:nvPr/>
        </p:nvSpPr>
        <p:spPr>
          <a:xfrm>
            <a:off x="914400" y="1828800"/>
            <a:ext cx="914400" cy="100584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4.1</a:t>
            </a:r>
            <a:endParaRPr lang="en-US" sz="2600" dirty="0"/>
          </a:p>
        </p:txBody>
      </p:sp>
      <p:sp>
        <p:nvSpPr>
          <p:cNvPr id="7" name="Text 4"/>
          <p:cNvSpPr txBox="1"/>
          <p:nvPr/>
        </p:nvSpPr>
        <p:spPr>
          <a:xfrm>
            <a:off x="1874520" y="1828800"/>
            <a:ext cx="3886200" cy="10058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What Session Liquidity Means</a:t>
            </a:r>
            <a:endParaRPr lang="en-US" sz="2200" dirty="0"/>
          </a:p>
        </p:txBody>
      </p:sp>
      <p:sp>
        <p:nvSpPr>
          <p:cNvPr id="8" name="Shape 5"/>
          <p:cNvSpPr/>
          <p:nvPr/>
        </p:nvSpPr>
        <p:spPr>
          <a:xfrm>
            <a:off x="640080" y="3063240"/>
            <a:ext cx="5303520" cy="1005840"/>
          </a:xfrm>
          <a:prstGeom prst="roundRect">
            <a:avLst>
              <a:gd name="adj" fmla="val 7273"/>
            </a:avLst>
          </a:prstGeom>
          <a:solidFill>
            <a:srgbClr val="1E1E1E"/>
          </a:solidFill>
          <a:ln w="12700">
            <a:solidFill>
              <a:srgbClr val="1E1E1E"/>
            </a:solidFill>
            <a:prstDash val="solid"/>
          </a:ln>
        </p:spPr>
      </p:sp>
      <p:sp>
        <p:nvSpPr>
          <p:cNvPr id="9" name="Text 6"/>
          <p:cNvSpPr txBox="1"/>
          <p:nvPr/>
        </p:nvSpPr>
        <p:spPr>
          <a:xfrm>
            <a:off x="914400" y="3063240"/>
            <a:ext cx="914400" cy="100584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4.2</a:t>
            </a:r>
            <a:endParaRPr lang="en-US" sz="2600" dirty="0"/>
          </a:p>
        </p:txBody>
      </p:sp>
      <p:sp>
        <p:nvSpPr>
          <p:cNvPr id="10" name="Text 7"/>
          <p:cNvSpPr txBox="1"/>
          <p:nvPr/>
        </p:nvSpPr>
        <p:spPr>
          <a:xfrm>
            <a:off x="1874520" y="3063240"/>
            <a:ext cx="3886200" cy="10058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Reading the Three Sessions</a:t>
            </a:r>
            <a:endParaRPr lang="en-US" sz="2200" dirty="0"/>
          </a:p>
        </p:txBody>
      </p:sp>
      <p:sp>
        <p:nvSpPr>
          <p:cNvPr id="11" name="Shape 8"/>
          <p:cNvSpPr/>
          <p:nvPr/>
        </p:nvSpPr>
        <p:spPr>
          <a:xfrm>
            <a:off x="640080" y="4297680"/>
            <a:ext cx="5303520" cy="1005840"/>
          </a:xfrm>
          <a:prstGeom prst="roundRect">
            <a:avLst>
              <a:gd name="adj" fmla="val 7273"/>
            </a:avLst>
          </a:prstGeom>
          <a:solidFill>
            <a:srgbClr val="1E1E1E"/>
          </a:solidFill>
          <a:ln w="12700">
            <a:solidFill>
              <a:srgbClr val="1E1E1E"/>
            </a:solidFill>
            <a:prstDash val="solid"/>
          </a:ln>
        </p:spPr>
      </p:sp>
      <p:sp>
        <p:nvSpPr>
          <p:cNvPr id="12" name="Text 9"/>
          <p:cNvSpPr txBox="1"/>
          <p:nvPr/>
        </p:nvSpPr>
        <p:spPr>
          <a:xfrm>
            <a:off x="914400" y="4297680"/>
            <a:ext cx="914400" cy="100584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4.3</a:t>
            </a:r>
            <a:endParaRPr lang="en-US" sz="2600" dirty="0"/>
          </a:p>
        </p:txBody>
      </p:sp>
      <p:sp>
        <p:nvSpPr>
          <p:cNvPr id="13" name="Text 10"/>
          <p:cNvSpPr txBox="1"/>
          <p:nvPr/>
        </p:nvSpPr>
        <p:spPr>
          <a:xfrm>
            <a:off x="1874520" y="4297680"/>
            <a:ext cx="3886200" cy="10058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Fixed Range Volume Profile Basics</a:t>
            </a:r>
            <a:endParaRPr lang="en-US" sz="2200" dirty="0"/>
          </a:p>
        </p:txBody>
      </p:sp>
      <p:sp>
        <p:nvSpPr>
          <p:cNvPr id="14" name="Shape 11"/>
          <p:cNvSpPr/>
          <p:nvPr/>
        </p:nvSpPr>
        <p:spPr>
          <a:xfrm>
            <a:off x="6217920" y="1828800"/>
            <a:ext cx="5303520" cy="1005840"/>
          </a:xfrm>
          <a:prstGeom prst="roundRect">
            <a:avLst>
              <a:gd name="adj" fmla="val 7273"/>
            </a:avLst>
          </a:prstGeom>
          <a:solidFill>
            <a:srgbClr val="1E1E1E"/>
          </a:solidFill>
          <a:ln w="12700">
            <a:solidFill>
              <a:srgbClr val="1E1E1E"/>
            </a:solidFill>
            <a:prstDash val="solid"/>
          </a:ln>
        </p:spPr>
      </p:sp>
      <p:sp>
        <p:nvSpPr>
          <p:cNvPr id="15" name="Text 12"/>
          <p:cNvSpPr txBox="1"/>
          <p:nvPr/>
        </p:nvSpPr>
        <p:spPr>
          <a:xfrm>
            <a:off x="6492240" y="1828800"/>
            <a:ext cx="914400" cy="100584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4.4</a:t>
            </a:r>
            <a:endParaRPr lang="en-US" sz="2600" dirty="0"/>
          </a:p>
        </p:txBody>
      </p:sp>
      <p:sp>
        <p:nvSpPr>
          <p:cNvPr id="16" name="Text 13"/>
          <p:cNvSpPr txBox="1"/>
          <p:nvPr/>
        </p:nvSpPr>
        <p:spPr>
          <a:xfrm>
            <a:off x="7452360" y="1828800"/>
            <a:ext cx="3886200" cy="10058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Using Volume to Confirm Zones</a:t>
            </a:r>
            <a:endParaRPr lang="en-US" sz="2200" dirty="0"/>
          </a:p>
        </p:txBody>
      </p:sp>
      <p:sp>
        <p:nvSpPr>
          <p:cNvPr id="17" name="Shape 14"/>
          <p:cNvSpPr/>
          <p:nvPr/>
        </p:nvSpPr>
        <p:spPr>
          <a:xfrm>
            <a:off x="6217920" y="3063240"/>
            <a:ext cx="5303520" cy="1005840"/>
          </a:xfrm>
          <a:prstGeom prst="roundRect">
            <a:avLst>
              <a:gd name="adj" fmla="val 7273"/>
            </a:avLst>
          </a:prstGeom>
          <a:solidFill>
            <a:srgbClr val="1E1E1E"/>
          </a:solidFill>
          <a:ln w="12700">
            <a:solidFill>
              <a:srgbClr val="1E1E1E"/>
            </a:solidFill>
            <a:prstDash val="solid"/>
          </a:ln>
        </p:spPr>
      </p:sp>
      <p:sp>
        <p:nvSpPr>
          <p:cNvPr id="18" name="Text 15"/>
          <p:cNvSpPr txBox="1"/>
          <p:nvPr/>
        </p:nvSpPr>
        <p:spPr>
          <a:xfrm>
            <a:off x="6492240" y="3063240"/>
            <a:ext cx="914400" cy="100584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4.5</a:t>
            </a:r>
            <a:endParaRPr lang="en-US" sz="2600" dirty="0"/>
          </a:p>
        </p:txBody>
      </p:sp>
      <p:sp>
        <p:nvSpPr>
          <p:cNvPr id="19" name="Text 16"/>
          <p:cNvSpPr txBox="1"/>
          <p:nvPr/>
        </p:nvSpPr>
        <p:spPr>
          <a:xfrm>
            <a:off x="7452360" y="3063240"/>
            <a:ext cx="3886200" cy="10058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Using the POC as an Entry or Exit</a:t>
            </a:r>
            <a:endParaRPr lang="en-US" sz="2200" dirty="0"/>
          </a:p>
        </p:txBody>
      </p:sp>
      <p:sp>
        <p:nvSpPr>
          <p:cNvPr id="20" name="Shape 17"/>
          <p:cNvSpPr/>
          <p:nvPr/>
        </p:nvSpPr>
        <p:spPr>
          <a:xfrm>
            <a:off x="6217920" y="4297680"/>
            <a:ext cx="5303520" cy="1005840"/>
          </a:xfrm>
          <a:prstGeom prst="roundRect">
            <a:avLst>
              <a:gd name="adj" fmla="val 7273"/>
            </a:avLst>
          </a:prstGeom>
          <a:solidFill>
            <a:srgbClr val="1E1E1E"/>
          </a:solidFill>
          <a:ln w="12700">
            <a:solidFill>
              <a:srgbClr val="1E1E1E"/>
            </a:solidFill>
            <a:prstDash val="solid"/>
          </a:ln>
        </p:spPr>
      </p:sp>
      <p:sp>
        <p:nvSpPr>
          <p:cNvPr id="21" name="Text 18"/>
          <p:cNvSpPr txBox="1"/>
          <p:nvPr/>
        </p:nvSpPr>
        <p:spPr>
          <a:xfrm>
            <a:off x="6492240" y="4297680"/>
            <a:ext cx="914400" cy="1005840"/>
          </a:xfrm>
          <a:prstGeom prst="rect">
            <a:avLst/>
          </a:prstGeom>
          <a:noFill/>
          <a:ln/>
        </p:spPr>
        <p:txBody>
          <a:bodyPr wrap="square" lIns="0" tIns="0" rIns="0" bIns="0" rtlCol="0" anchor="ctr"/>
          <a:lstStyle/>
          <a:p>
            <a:pPr indent="0" marL="0">
              <a:buNone/>
            </a:pPr>
            <a:r>
              <a:rPr lang="en-US" sz="2600" b="1" dirty="0">
                <a:solidFill>
                  <a:srgbClr val="E8912D"/>
                </a:solidFill>
                <a:latin typeface="Arial" pitchFamily="34" charset="0"/>
                <a:ea typeface="Arial" pitchFamily="34" charset="-122"/>
                <a:cs typeface="Arial" pitchFamily="34" charset="-120"/>
              </a:rPr>
              <a:t>4.6</a:t>
            </a:r>
            <a:endParaRPr lang="en-US" sz="2600" dirty="0"/>
          </a:p>
        </p:txBody>
      </p:sp>
      <p:sp>
        <p:nvSpPr>
          <p:cNvPr id="22" name="Text 19"/>
          <p:cNvSpPr txBox="1"/>
          <p:nvPr/>
        </p:nvSpPr>
        <p:spPr>
          <a:xfrm>
            <a:off x="7452360" y="4297680"/>
            <a:ext cx="3886200" cy="10058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Combining Both Tools with CRT</a:t>
            </a:r>
            <a:endParaRPr lang="en-US" sz="2200" dirty="0"/>
          </a:p>
        </p:txBody>
      </p:sp>
      <p:sp>
        <p:nvSpPr>
          <p:cNvPr id="23" name="Text 20"/>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4.1</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What Session Liquidity Means</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Three Sessions, Three Ranges</a:t>
            </a:r>
            <a:endParaRPr lang="en-US" sz="3600" dirty="0"/>
          </a:p>
        </p:txBody>
      </p:sp>
      <p:sp>
        <p:nvSpPr>
          <p:cNvPr id="5" name="Shape 2"/>
          <p:cNvSpPr/>
          <p:nvPr/>
        </p:nvSpPr>
        <p:spPr>
          <a:xfrm>
            <a:off x="640080" y="1828800"/>
            <a:ext cx="3393338" cy="3291840"/>
          </a:xfrm>
          <a:prstGeom prst="roundRect">
            <a:avLst>
              <a:gd name="adj" fmla="val 2222"/>
            </a:avLst>
          </a:prstGeom>
          <a:solidFill>
            <a:srgbClr val="F2F2F2"/>
          </a:solidFill>
          <a:ln w="12700">
            <a:solidFill>
              <a:srgbClr val="F2F2F2"/>
            </a:solidFill>
            <a:prstDash val="solid"/>
          </a:ln>
        </p:spPr>
      </p:sp>
      <p:sp>
        <p:nvSpPr>
          <p:cNvPr id="6" name="Text 3"/>
          <p:cNvSpPr txBox="1"/>
          <p:nvPr/>
        </p:nvSpPr>
        <p:spPr>
          <a:xfrm>
            <a:off x="1005840" y="2148840"/>
            <a:ext cx="2661818" cy="41148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ASIA</a:t>
            </a:r>
            <a:endParaRPr lang="en-US" sz="2000" dirty="0"/>
          </a:p>
        </p:txBody>
      </p:sp>
      <p:sp>
        <p:nvSpPr>
          <p:cNvPr id="7" name="Text 4"/>
          <p:cNvSpPr txBox="1"/>
          <p:nvPr/>
        </p:nvSpPr>
        <p:spPr>
          <a:xfrm>
            <a:off x="1005840" y="2743200"/>
            <a:ext cx="2661818" cy="109728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7:00 PM</a:t>
            </a:r>
            <a:endParaRPr lang="en-US" sz="3000" dirty="0"/>
          </a:p>
          <a:p>
            <a:pPr indent="0" marL="0">
              <a:buNone/>
            </a:pPr>
            <a:r>
              <a:rPr lang="en-US" sz="3000" b="1" dirty="0">
                <a:solidFill>
                  <a:srgbClr val="111111"/>
                </a:solidFill>
                <a:latin typeface="Arial" pitchFamily="34" charset="0"/>
                <a:ea typeface="Arial" pitchFamily="34" charset="-122"/>
                <a:cs typeface="Arial" pitchFamily="34" charset="-120"/>
              </a:rPr>
              <a:t>to 2:59 AM</a:t>
            </a:r>
            <a:endParaRPr lang="en-US" sz="3000" dirty="0"/>
          </a:p>
        </p:txBody>
      </p:sp>
      <p:sp>
        <p:nvSpPr>
          <p:cNvPr id="8" name="Text 5"/>
          <p:cNvSpPr txBox="1"/>
          <p:nvPr/>
        </p:nvSpPr>
        <p:spPr>
          <a:xfrm>
            <a:off x="1005840" y="4023360"/>
            <a:ext cx="2661818" cy="914400"/>
          </a:xfrm>
          <a:prstGeom prst="rect">
            <a:avLst/>
          </a:prstGeom>
          <a:noFill/>
          <a:ln/>
        </p:spPr>
        <p:txBody>
          <a:bodyPr wrap="square" lIns="0" tIns="0" rIns="0" bIns="0" rtlCol="0" anchor="t"/>
          <a:lstStyle/>
          <a:p>
            <a:pPr indent="0" marL="0">
              <a:buNone/>
            </a:pPr>
            <a:r>
              <a:rPr lang="en-US" sz="2200" dirty="0">
                <a:solidFill>
                  <a:srgbClr val="6E6E6E"/>
                </a:solidFill>
                <a:latin typeface="Calibri" pitchFamily="34" charset="0"/>
                <a:ea typeface="Calibri" pitchFamily="34" charset="-122"/>
                <a:cs typeface="Calibri" pitchFamily="34" charset="-120"/>
              </a:rPr>
              <a:t>Eastern time</a:t>
            </a:r>
            <a:endParaRPr lang="en-US" sz="2200" dirty="0"/>
          </a:p>
        </p:txBody>
      </p:sp>
      <p:sp>
        <p:nvSpPr>
          <p:cNvPr id="9" name="Shape 6"/>
          <p:cNvSpPr/>
          <p:nvPr/>
        </p:nvSpPr>
        <p:spPr>
          <a:xfrm>
            <a:off x="4399178" y="1828800"/>
            <a:ext cx="3393338" cy="3291840"/>
          </a:xfrm>
          <a:prstGeom prst="roundRect">
            <a:avLst>
              <a:gd name="adj" fmla="val 2222"/>
            </a:avLst>
          </a:prstGeom>
          <a:solidFill>
            <a:srgbClr val="F2F2F2"/>
          </a:solidFill>
          <a:ln w="12700">
            <a:solidFill>
              <a:srgbClr val="F2F2F2"/>
            </a:solidFill>
            <a:prstDash val="solid"/>
          </a:ln>
        </p:spPr>
      </p:sp>
      <p:sp>
        <p:nvSpPr>
          <p:cNvPr id="10" name="Text 7"/>
          <p:cNvSpPr txBox="1"/>
          <p:nvPr/>
        </p:nvSpPr>
        <p:spPr>
          <a:xfrm>
            <a:off x="4764938" y="2148840"/>
            <a:ext cx="2661818" cy="41148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LONDON</a:t>
            </a:r>
            <a:endParaRPr lang="en-US" sz="2000" dirty="0"/>
          </a:p>
        </p:txBody>
      </p:sp>
      <p:sp>
        <p:nvSpPr>
          <p:cNvPr id="11" name="Text 8"/>
          <p:cNvSpPr txBox="1"/>
          <p:nvPr/>
        </p:nvSpPr>
        <p:spPr>
          <a:xfrm>
            <a:off x="4764938" y="2743200"/>
            <a:ext cx="2661818" cy="109728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3:00 AM</a:t>
            </a:r>
            <a:endParaRPr lang="en-US" sz="3000" dirty="0"/>
          </a:p>
          <a:p>
            <a:pPr indent="0" marL="0">
              <a:buNone/>
            </a:pPr>
            <a:r>
              <a:rPr lang="en-US" sz="3000" b="1" dirty="0">
                <a:solidFill>
                  <a:srgbClr val="111111"/>
                </a:solidFill>
                <a:latin typeface="Arial" pitchFamily="34" charset="0"/>
                <a:ea typeface="Arial" pitchFamily="34" charset="-122"/>
                <a:cs typeface="Arial" pitchFamily="34" charset="-120"/>
              </a:rPr>
              <a:t>to 9:29 AM</a:t>
            </a:r>
            <a:endParaRPr lang="en-US" sz="3000" dirty="0"/>
          </a:p>
        </p:txBody>
      </p:sp>
      <p:sp>
        <p:nvSpPr>
          <p:cNvPr id="12" name="Text 9"/>
          <p:cNvSpPr txBox="1"/>
          <p:nvPr/>
        </p:nvSpPr>
        <p:spPr>
          <a:xfrm>
            <a:off x="4764938" y="4023360"/>
            <a:ext cx="2661818" cy="914400"/>
          </a:xfrm>
          <a:prstGeom prst="rect">
            <a:avLst/>
          </a:prstGeom>
          <a:noFill/>
          <a:ln/>
        </p:spPr>
        <p:txBody>
          <a:bodyPr wrap="square" lIns="0" tIns="0" rIns="0" bIns="0" rtlCol="0" anchor="t"/>
          <a:lstStyle/>
          <a:p>
            <a:pPr indent="0" marL="0">
              <a:buNone/>
            </a:pPr>
            <a:r>
              <a:rPr lang="en-US" sz="2200" dirty="0">
                <a:solidFill>
                  <a:srgbClr val="6E6E6E"/>
                </a:solidFill>
                <a:latin typeface="Calibri" pitchFamily="34" charset="0"/>
                <a:ea typeface="Calibri" pitchFamily="34" charset="-122"/>
                <a:cs typeface="Calibri" pitchFamily="34" charset="-120"/>
              </a:rPr>
              <a:t>Eastern time</a:t>
            </a:r>
            <a:endParaRPr lang="en-US" sz="2200" dirty="0"/>
          </a:p>
        </p:txBody>
      </p:sp>
      <p:sp>
        <p:nvSpPr>
          <p:cNvPr id="13" name="Shape 10"/>
          <p:cNvSpPr/>
          <p:nvPr/>
        </p:nvSpPr>
        <p:spPr>
          <a:xfrm>
            <a:off x="8158277" y="1828800"/>
            <a:ext cx="3393338" cy="3291840"/>
          </a:xfrm>
          <a:prstGeom prst="roundRect">
            <a:avLst>
              <a:gd name="adj" fmla="val 2222"/>
            </a:avLst>
          </a:prstGeom>
          <a:solidFill>
            <a:srgbClr val="F2F2F2"/>
          </a:solidFill>
          <a:ln w="12700">
            <a:solidFill>
              <a:srgbClr val="F2F2F2"/>
            </a:solidFill>
            <a:prstDash val="solid"/>
          </a:ln>
        </p:spPr>
      </p:sp>
      <p:sp>
        <p:nvSpPr>
          <p:cNvPr id="14" name="Text 11"/>
          <p:cNvSpPr txBox="1"/>
          <p:nvPr/>
        </p:nvSpPr>
        <p:spPr>
          <a:xfrm>
            <a:off x="8524037" y="2148840"/>
            <a:ext cx="2661818" cy="41148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NEW YORK</a:t>
            </a:r>
            <a:endParaRPr lang="en-US" sz="2000" dirty="0"/>
          </a:p>
        </p:txBody>
      </p:sp>
      <p:sp>
        <p:nvSpPr>
          <p:cNvPr id="15" name="Text 12"/>
          <p:cNvSpPr txBox="1"/>
          <p:nvPr/>
        </p:nvSpPr>
        <p:spPr>
          <a:xfrm>
            <a:off x="8524037" y="2743200"/>
            <a:ext cx="2661818" cy="109728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9:30 AM</a:t>
            </a:r>
            <a:endParaRPr lang="en-US" sz="3000" dirty="0"/>
          </a:p>
          <a:p>
            <a:pPr indent="0" marL="0">
              <a:buNone/>
            </a:pPr>
            <a:r>
              <a:rPr lang="en-US" sz="3000" b="1" dirty="0">
                <a:solidFill>
                  <a:srgbClr val="111111"/>
                </a:solidFill>
                <a:latin typeface="Arial" pitchFamily="34" charset="0"/>
                <a:ea typeface="Arial" pitchFamily="34" charset="-122"/>
                <a:cs typeface="Arial" pitchFamily="34" charset="-120"/>
              </a:rPr>
              <a:t>to 3:59 PM</a:t>
            </a:r>
            <a:endParaRPr lang="en-US" sz="3000" dirty="0"/>
          </a:p>
        </p:txBody>
      </p:sp>
      <p:sp>
        <p:nvSpPr>
          <p:cNvPr id="16" name="Text 13"/>
          <p:cNvSpPr txBox="1"/>
          <p:nvPr/>
        </p:nvSpPr>
        <p:spPr>
          <a:xfrm>
            <a:off x="8524037" y="4023360"/>
            <a:ext cx="2661818" cy="914400"/>
          </a:xfrm>
          <a:prstGeom prst="rect">
            <a:avLst/>
          </a:prstGeom>
          <a:noFill/>
          <a:ln/>
        </p:spPr>
        <p:txBody>
          <a:bodyPr wrap="square" lIns="0" tIns="0" rIns="0" bIns="0" rtlCol="0" anchor="t"/>
          <a:lstStyle/>
          <a:p>
            <a:pPr indent="0" marL="0">
              <a:buNone/>
            </a:pPr>
            <a:r>
              <a:rPr lang="en-US" sz="2200" dirty="0">
                <a:solidFill>
                  <a:srgbClr val="6E6E6E"/>
                </a:solidFill>
                <a:latin typeface="Calibri" pitchFamily="34" charset="0"/>
                <a:ea typeface="Calibri" pitchFamily="34" charset="-122"/>
                <a:cs typeface="Calibri" pitchFamily="34" charset="-120"/>
              </a:rPr>
              <a:t>Eastern time</a:t>
            </a:r>
            <a:endParaRPr lang="en-US" sz="2200" dirty="0"/>
          </a:p>
        </p:txBody>
      </p:sp>
      <p:sp>
        <p:nvSpPr>
          <p:cNvPr id="17" name="Text 14"/>
          <p:cNvSpPr txBox="1"/>
          <p:nvPr/>
        </p:nvSpPr>
        <p:spPr>
          <a:xfrm>
            <a:off x="640080" y="5440680"/>
            <a:ext cx="10911535" cy="548640"/>
          </a:xfrm>
          <a:prstGeom prst="rect">
            <a:avLst/>
          </a:prstGeom>
          <a:noFill/>
          <a:ln/>
        </p:spPr>
        <p:txBody>
          <a:bodyPr wrap="square" lIns="0" tIns="0" rIns="0" bIns="0" rtlCol="0" anchor="t"/>
          <a:lstStyle/>
          <a:p>
            <a:pPr indent="0" marL="0">
              <a:buNone/>
            </a:pPr>
            <a:r>
              <a:rPr lang="en-US" sz="2400" b="1" dirty="0">
                <a:solidFill>
                  <a:srgbClr val="111111"/>
                </a:solidFill>
                <a:latin typeface="Calibri" pitchFamily="34" charset="0"/>
                <a:ea typeface="Calibri" pitchFamily="34" charset="-122"/>
                <a:cs typeface="Calibri" pitchFamily="34" charset="-120"/>
              </a:rPr>
              <a:t>Each session leaves a high and a low on your chart.</a:t>
            </a:r>
            <a:endParaRPr lang="en-US" sz="2400" dirty="0"/>
          </a:p>
        </p:txBody>
      </p:sp>
      <p:sp>
        <p:nvSpPr>
          <p:cNvPr id="18" name="Text 1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9" name="Text 1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Sand at the Base of a Slide</a:t>
            </a:r>
            <a:endParaRPr lang="en-US" sz="3600" dirty="0"/>
          </a:p>
        </p:txBody>
      </p:sp>
      <p:sp>
        <p:nvSpPr>
          <p:cNvPr id="5" name="Shape 2"/>
          <p:cNvSpPr/>
          <p:nvPr/>
        </p:nvSpPr>
        <p:spPr>
          <a:xfrm>
            <a:off x="640080" y="1828800"/>
            <a:ext cx="10911535" cy="2743200"/>
          </a:xfrm>
          <a:prstGeom prst="roundRect">
            <a:avLst>
              <a:gd name="adj" fmla="val 2667"/>
            </a:avLst>
          </a:prstGeom>
          <a:solidFill>
            <a:srgbClr val="F2F2F2"/>
          </a:solidFill>
          <a:ln w="12700">
            <a:solidFill>
              <a:srgbClr val="F2F2F2"/>
            </a:solidFill>
            <a:prstDash val="solid"/>
          </a:ln>
        </p:spPr>
      </p:sp>
      <p:sp>
        <p:nvSpPr>
          <p:cNvPr id="6" name="Text 3"/>
          <p:cNvSpPr txBox="1"/>
          <p:nvPr/>
        </p:nvSpPr>
        <p:spPr>
          <a:xfrm>
            <a:off x="1097280" y="1828800"/>
            <a:ext cx="9997135" cy="274320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Stops and pending orders pile up at session highs and lows.</a:t>
            </a:r>
            <a:endParaRPr lang="en-US" sz="3600" dirty="0"/>
          </a:p>
        </p:txBody>
      </p:sp>
      <p:sp>
        <p:nvSpPr>
          <p:cNvPr id="7" name="Text 4"/>
          <p:cNvSpPr txBox="1"/>
          <p:nvPr/>
        </p:nvSpPr>
        <p:spPr>
          <a:xfrm>
            <a:off x="640080" y="4846320"/>
            <a:ext cx="10911535" cy="91440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That pile of orders is fuel. I treat those levels as targets.</a:t>
            </a:r>
            <a:endParaRPr lang="en-US" sz="2400" dirty="0"/>
          </a:p>
        </p:txBody>
      </p:sp>
      <p:sp>
        <p:nvSpPr>
          <p:cNvPr id="8" name="Text 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9" name="Text 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Session Lines on a Live Chart</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Turn on the Session Liquidity indicator</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Point to each session's high and low</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Show what price does with London's high once New York opens</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4.1</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Turn on your Session Liquidity indicator</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Screenshot your chart with all three sessions' lines visible</a:t>
            </a:r>
            <a:endParaRPr lang="en-US" sz="2600" dirty="0"/>
          </a:p>
        </p:txBody>
      </p:sp>
      <p:sp>
        <p:nvSpPr>
          <p:cNvPr id="11" name="Shape 8"/>
          <p:cNvSpPr/>
          <p:nvPr/>
        </p:nvSpPr>
        <p:spPr>
          <a:xfrm>
            <a:off x="640080" y="4206240"/>
            <a:ext cx="640080" cy="640080"/>
          </a:xfrm>
          <a:prstGeom prst="ellipse">
            <a:avLst/>
          </a:prstGeom>
          <a:solidFill>
            <a:srgbClr val="FFFFFF"/>
          </a:solidFill>
          <a:ln w="12700">
            <a:solidFill>
              <a:srgbClr val="FFFFFF"/>
            </a:solidFill>
            <a:prstDash val="solid"/>
          </a:ln>
        </p:spPr>
      </p:sp>
      <p:sp>
        <p:nvSpPr>
          <p:cNvPr id="12" name="Text 9"/>
          <p:cNvSpPr txBox="1"/>
          <p:nvPr/>
        </p:nvSpPr>
        <p:spPr>
          <a:xfrm>
            <a:off x="640080" y="420624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3</a:t>
            </a:r>
            <a:endParaRPr lang="en-US" sz="2400" dirty="0"/>
          </a:p>
        </p:txBody>
      </p:sp>
      <p:sp>
        <p:nvSpPr>
          <p:cNvPr id="13" name="Text 10"/>
          <p:cNvSpPr txBox="1"/>
          <p:nvPr/>
        </p:nvSpPr>
        <p:spPr>
          <a:xfrm>
            <a:off x="1645920" y="411480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Post it in the community</a:t>
            </a:r>
            <a:endParaRPr lang="en-US" sz="26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4.2</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Reading the Three Sessions</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Sessions Hand Off to Each Other</a:t>
            </a:r>
            <a:endParaRPr lang="en-US" sz="3600" dirty="0"/>
          </a:p>
        </p:txBody>
      </p:sp>
      <p:sp>
        <p:nvSpPr>
          <p:cNvPr id="5" name="Shape 2"/>
          <p:cNvSpPr/>
          <p:nvPr/>
        </p:nvSpPr>
        <p:spPr>
          <a:xfrm>
            <a:off x="640080" y="1920240"/>
            <a:ext cx="3210458" cy="2926080"/>
          </a:xfrm>
          <a:prstGeom prst="roundRect">
            <a:avLst>
              <a:gd name="adj" fmla="val 2500"/>
            </a:avLst>
          </a:prstGeom>
          <a:solidFill>
            <a:srgbClr val="F2F2F2"/>
          </a:solidFill>
          <a:ln w="12700">
            <a:solidFill>
              <a:srgbClr val="F2F2F2"/>
            </a:solidFill>
            <a:prstDash val="solid"/>
          </a:ln>
        </p:spPr>
      </p:sp>
      <p:sp>
        <p:nvSpPr>
          <p:cNvPr id="6" name="Text 3"/>
          <p:cNvSpPr txBox="1"/>
          <p:nvPr/>
        </p:nvSpPr>
        <p:spPr>
          <a:xfrm>
            <a:off x="914400" y="2240280"/>
            <a:ext cx="2661818" cy="45720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ASIA</a:t>
            </a:r>
            <a:endParaRPr lang="en-US" sz="2000" dirty="0"/>
          </a:p>
        </p:txBody>
      </p:sp>
      <p:sp>
        <p:nvSpPr>
          <p:cNvPr id="7" name="Text 4"/>
          <p:cNvSpPr txBox="1"/>
          <p:nvPr/>
        </p:nvSpPr>
        <p:spPr>
          <a:xfrm>
            <a:off x="914400" y="2880360"/>
            <a:ext cx="2661818" cy="1737360"/>
          </a:xfrm>
          <a:prstGeom prst="rect">
            <a:avLst/>
          </a:prstGeom>
          <a:noFill/>
          <a:ln/>
        </p:spPr>
        <p:txBody>
          <a:bodyPr wrap="square" lIns="0" tIns="0" rIns="0" bIns="0" rtlCol="0" anchor="t"/>
          <a:lstStyle/>
          <a:p>
            <a:pPr indent="0" marL="0">
              <a:buNone/>
            </a:pPr>
            <a:r>
              <a:rPr lang="en-US" sz="2800" b="1" dirty="0">
                <a:solidFill>
                  <a:srgbClr val="111111"/>
                </a:solidFill>
                <a:latin typeface="Calibri" pitchFamily="34" charset="0"/>
                <a:ea typeface="Calibri" pitchFamily="34" charset="-122"/>
                <a:cs typeface="Calibri" pitchFamily="34" charset="-120"/>
              </a:rPr>
              <a:t>Builds a range</a:t>
            </a:r>
            <a:endParaRPr lang="en-US" sz="2800" dirty="0"/>
          </a:p>
        </p:txBody>
      </p:sp>
      <p:sp>
        <p:nvSpPr>
          <p:cNvPr id="8" name="Shape 5"/>
          <p:cNvSpPr/>
          <p:nvPr/>
        </p:nvSpPr>
        <p:spPr>
          <a:xfrm>
            <a:off x="3960266" y="3172968"/>
            <a:ext cx="420624" cy="420624"/>
          </a:xfrm>
          <a:prstGeom prst="rightArrow">
            <a:avLst/>
          </a:prstGeom>
          <a:solidFill>
            <a:srgbClr val="111111"/>
          </a:solidFill>
          <a:ln w="12700">
            <a:solidFill>
              <a:srgbClr val="111111"/>
            </a:solidFill>
            <a:prstDash val="solid"/>
          </a:ln>
        </p:spPr>
      </p:sp>
      <p:sp>
        <p:nvSpPr>
          <p:cNvPr id="9" name="Shape 6"/>
          <p:cNvSpPr/>
          <p:nvPr/>
        </p:nvSpPr>
        <p:spPr>
          <a:xfrm>
            <a:off x="4490618" y="1920240"/>
            <a:ext cx="3210458" cy="2926080"/>
          </a:xfrm>
          <a:prstGeom prst="roundRect">
            <a:avLst>
              <a:gd name="adj" fmla="val 2500"/>
            </a:avLst>
          </a:prstGeom>
          <a:solidFill>
            <a:srgbClr val="F2F2F2"/>
          </a:solidFill>
          <a:ln w="12700">
            <a:solidFill>
              <a:srgbClr val="F2F2F2"/>
            </a:solidFill>
            <a:prstDash val="solid"/>
          </a:ln>
        </p:spPr>
      </p:sp>
      <p:sp>
        <p:nvSpPr>
          <p:cNvPr id="10" name="Text 7"/>
          <p:cNvSpPr txBox="1"/>
          <p:nvPr/>
        </p:nvSpPr>
        <p:spPr>
          <a:xfrm>
            <a:off x="4764938" y="2240280"/>
            <a:ext cx="2661818" cy="45720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LONDON</a:t>
            </a:r>
            <a:endParaRPr lang="en-US" sz="2000" dirty="0"/>
          </a:p>
        </p:txBody>
      </p:sp>
      <p:sp>
        <p:nvSpPr>
          <p:cNvPr id="11" name="Text 8"/>
          <p:cNvSpPr txBox="1"/>
          <p:nvPr/>
        </p:nvSpPr>
        <p:spPr>
          <a:xfrm>
            <a:off x="4764938" y="2880360"/>
            <a:ext cx="2661818" cy="1737360"/>
          </a:xfrm>
          <a:prstGeom prst="rect">
            <a:avLst/>
          </a:prstGeom>
          <a:noFill/>
          <a:ln/>
        </p:spPr>
        <p:txBody>
          <a:bodyPr wrap="square" lIns="0" tIns="0" rIns="0" bIns="0" rtlCol="0" anchor="t"/>
          <a:lstStyle/>
          <a:p>
            <a:pPr indent="0" marL="0">
              <a:buNone/>
            </a:pPr>
            <a:r>
              <a:rPr lang="en-US" sz="2800" b="1" dirty="0">
                <a:solidFill>
                  <a:srgbClr val="111111"/>
                </a:solidFill>
                <a:latin typeface="Calibri" pitchFamily="34" charset="0"/>
                <a:ea typeface="Calibri" pitchFamily="34" charset="-122"/>
                <a:cs typeface="Calibri" pitchFamily="34" charset="-120"/>
              </a:rPr>
              <a:t>Often sweeps the Asia range</a:t>
            </a:r>
            <a:endParaRPr lang="en-US" sz="2800" dirty="0"/>
          </a:p>
        </p:txBody>
      </p:sp>
      <p:sp>
        <p:nvSpPr>
          <p:cNvPr id="12" name="Shape 9"/>
          <p:cNvSpPr/>
          <p:nvPr/>
        </p:nvSpPr>
        <p:spPr>
          <a:xfrm>
            <a:off x="7810805" y="3172968"/>
            <a:ext cx="420624" cy="420624"/>
          </a:xfrm>
          <a:prstGeom prst="rightArrow">
            <a:avLst/>
          </a:prstGeom>
          <a:solidFill>
            <a:srgbClr val="111111"/>
          </a:solidFill>
          <a:ln w="12700">
            <a:solidFill>
              <a:srgbClr val="111111"/>
            </a:solidFill>
            <a:prstDash val="solid"/>
          </a:ln>
        </p:spPr>
      </p:sp>
      <p:sp>
        <p:nvSpPr>
          <p:cNvPr id="13" name="Shape 10"/>
          <p:cNvSpPr/>
          <p:nvPr/>
        </p:nvSpPr>
        <p:spPr>
          <a:xfrm>
            <a:off x="8341157" y="1920240"/>
            <a:ext cx="3210458" cy="2926080"/>
          </a:xfrm>
          <a:prstGeom prst="roundRect">
            <a:avLst>
              <a:gd name="adj" fmla="val 2500"/>
            </a:avLst>
          </a:prstGeom>
          <a:solidFill>
            <a:srgbClr val="F2F2F2"/>
          </a:solidFill>
          <a:ln w="12700">
            <a:solidFill>
              <a:srgbClr val="F2F2F2"/>
            </a:solidFill>
            <a:prstDash val="solid"/>
          </a:ln>
        </p:spPr>
      </p:sp>
      <p:sp>
        <p:nvSpPr>
          <p:cNvPr id="14" name="Text 11"/>
          <p:cNvSpPr txBox="1"/>
          <p:nvPr/>
        </p:nvSpPr>
        <p:spPr>
          <a:xfrm>
            <a:off x="8615477" y="2240280"/>
            <a:ext cx="2661818" cy="45720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NEW YORK</a:t>
            </a:r>
            <a:endParaRPr lang="en-US" sz="2000" dirty="0"/>
          </a:p>
        </p:txBody>
      </p:sp>
      <p:sp>
        <p:nvSpPr>
          <p:cNvPr id="15" name="Text 12"/>
          <p:cNvSpPr txBox="1"/>
          <p:nvPr/>
        </p:nvSpPr>
        <p:spPr>
          <a:xfrm>
            <a:off x="8615477" y="2880360"/>
            <a:ext cx="2661818" cy="1737360"/>
          </a:xfrm>
          <a:prstGeom prst="rect">
            <a:avLst/>
          </a:prstGeom>
          <a:noFill/>
          <a:ln/>
        </p:spPr>
        <p:txBody>
          <a:bodyPr wrap="square" lIns="0" tIns="0" rIns="0" bIns="0" rtlCol="0" anchor="t"/>
          <a:lstStyle/>
          <a:p>
            <a:pPr indent="0" marL="0">
              <a:buNone/>
            </a:pPr>
            <a:r>
              <a:rPr lang="en-US" sz="2800" b="1" dirty="0">
                <a:solidFill>
                  <a:srgbClr val="111111"/>
                </a:solidFill>
                <a:latin typeface="Calibri" pitchFamily="34" charset="0"/>
                <a:ea typeface="Calibri" pitchFamily="34" charset="-122"/>
                <a:cs typeface="Calibri" pitchFamily="34" charset="-120"/>
              </a:rPr>
              <a:t>Often goes after the level nobody touched yet</a:t>
            </a:r>
            <a:endParaRPr lang="en-US" sz="2800" dirty="0"/>
          </a:p>
        </p:txBody>
      </p:sp>
      <p:sp>
        <p:nvSpPr>
          <p:cNvPr id="16" name="Text 13"/>
          <p:cNvSpPr txBox="1"/>
          <p:nvPr/>
        </p:nvSpPr>
        <p:spPr>
          <a:xfrm>
            <a:off x="640080" y="5257800"/>
            <a:ext cx="10911535" cy="64008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Same lines as 4.1. Now we read how they interact.</a:t>
            </a:r>
            <a:endParaRPr lang="en-US" sz="2400" dirty="0"/>
          </a:p>
        </p:txBody>
      </p:sp>
      <p:sp>
        <p:nvSpPr>
          <p:cNvPr id="17" name="Text 14"/>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8" name="Text 15"/>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One Full Day, Session by Session</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Start at the Asia open and mark its range</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Show London sweeping the Asia high or low</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Show New York going after the untouched level</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4.2</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Track today's three session highs and lows on your chart</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At the end of the day, post which one got swept first</a:t>
            </a:r>
            <a:endParaRPr lang="en-US" sz="2600" dirty="0"/>
          </a:p>
        </p:txBody>
      </p:sp>
      <p:sp>
        <p:nvSpPr>
          <p:cNvPr id="11" name="Text 8"/>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2" name="Text 9"/>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4.2</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4.3</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Fixed Range Volume Profile Basics</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A Different Question</a:t>
            </a:r>
            <a:endParaRPr lang="en-US" sz="3600" dirty="0"/>
          </a:p>
        </p:txBody>
      </p:sp>
      <p:sp>
        <p:nvSpPr>
          <p:cNvPr id="5" name="Shape 2"/>
          <p:cNvSpPr/>
          <p:nvPr/>
        </p:nvSpPr>
        <p:spPr>
          <a:xfrm>
            <a:off x="640080" y="1828800"/>
            <a:ext cx="10911535" cy="2743200"/>
          </a:xfrm>
          <a:prstGeom prst="roundRect">
            <a:avLst>
              <a:gd name="adj" fmla="val 2667"/>
            </a:avLst>
          </a:prstGeom>
          <a:solidFill>
            <a:srgbClr val="F2F2F2"/>
          </a:solidFill>
          <a:ln w="12700">
            <a:solidFill>
              <a:srgbClr val="F2F2F2"/>
            </a:solidFill>
            <a:prstDash val="solid"/>
          </a:ln>
        </p:spPr>
      </p:sp>
      <p:sp>
        <p:nvSpPr>
          <p:cNvPr id="6" name="Text 3"/>
          <p:cNvSpPr txBox="1"/>
          <p:nvPr/>
        </p:nvSpPr>
        <p:spPr>
          <a:xfrm>
            <a:off x="1097280" y="1828800"/>
            <a:ext cx="9997135" cy="274320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Not "where did price go?"</a:t>
            </a:r>
            <a:endParaRPr lang="en-US" sz="3600" dirty="0"/>
          </a:p>
          <a:p>
            <a:pPr indent="0" marL="0">
              <a:buNone/>
            </a:pPr>
            <a:r>
              <a:rPr lang="en-US" sz="3600" b="1" dirty="0">
                <a:solidFill>
                  <a:srgbClr val="111111"/>
                </a:solidFill>
                <a:latin typeface="Calibri" pitchFamily="34" charset="0"/>
                <a:ea typeface="Calibri" pitchFamily="34" charset="-122"/>
                <a:cs typeface="Calibri" pitchFamily="34" charset="-120"/>
              </a:rPr>
              <a:t>But "where did the most trading happen?"</a:t>
            </a:r>
            <a:endParaRPr lang="en-US" sz="3600" dirty="0"/>
          </a:p>
        </p:txBody>
      </p:sp>
      <p:sp>
        <p:nvSpPr>
          <p:cNvPr id="7" name="Text 4"/>
          <p:cNvSpPr txBox="1"/>
          <p:nvPr/>
        </p:nvSpPr>
        <p:spPr>
          <a:xfrm>
            <a:off x="640080" y="4846320"/>
            <a:ext cx="10911535" cy="91440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That's what volume profile answers.</a:t>
            </a:r>
            <a:endParaRPr lang="en-US" sz="2400" dirty="0"/>
          </a:p>
        </p:txBody>
      </p:sp>
      <p:sp>
        <p:nvSpPr>
          <p:cNvPr id="8" name="Text 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9" name="Text 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Two Words to Know</a:t>
            </a:r>
            <a:endParaRPr lang="en-US" sz="3600" dirty="0"/>
          </a:p>
        </p:txBody>
      </p:sp>
      <p:sp>
        <p:nvSpPr>
          <p:cNvPr id="5" name="Shape 2"/>
          <p:cNvSpPr/>
          <p:nvPr/>
        </p:nvSpPr>
        <p:spPr>
          <a:xfrm>
            <a:off x="640080" y="1828800"/>
            <a:ext cx="5272888" cy="3291840"/>
          </a:xfrm>
          <a:prstGeom prst="roundRect">
            <a:avLst>
              <a:gd name="adj" fmla="val 2222"/>
            </a:avLst>
          </a:prstGeom>
          <a:solidFill>
            <a:srgbClr val="F2F2F2"/>
          </a:solidFill>
          <a:ln w="12700">
            <a:solidFill>
              <a:srgbClr val="F2F2F2"/>
            </a:solidFill>
            <a:prstDash val="solid"/>
          </a:ln>
        </p:spPr>
      </p:sp>
      <p:sp>
        <p:nvSpPr>
          <p:cNvPr id="6" name="Text 3"/>
          <p:cNvSpPr txBox="1"/>
          <p:nvPr/>
        </p:nvSpPr>
        <p:spPr>
          <a:xfrm>
            <a:off x="1005840" y="2148840"/>
            <a:ext cx="4541368" cy="41148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POC</a:t>
            </a:r>
            <a:endParaRPr lang="en-US" sz="2000" dirty="0"/>
          </a:p>
        </p:txBody>
      </p:sp>
      <p:sp>
        <p:nvSpPr>
          <p:cNvPr id="7" name="Text 4"/>
          <p:cNvSpPr txBox="1"/>
          <p:nvPr/>
        </p:nvSpPr>
        <p:spPr>
          <a:xfrm>
            <a:off x="1005840" y="2743200"/>
            <a:ext cx="4541368" cy="2103120"/>
          </a:xfrm>
          <a:prstGeom prst="rect">
            <a:avLst/>
          </a:prstGeom>
          <a:noFill/>
          <a:ln/>
        </p:spPr>
        <p:txBody>
          <a:bodyPr wrap="square" lIns="0" tIns="0" rIns="0" bIns="0" rtlCol="0" anchor="t"/>
          <a:lstStyle/>
          <a:p>
            <a:pPr indent="0" marL="0">
              <a:buNone/>
            </a:pPr>
            <a:r>
              <a:rPr lang="en-US" sz="2600" dirty="0">
                <a:solidFill>
                  <a:srgbClr val="111111"/>
                </a:solidFill>
                <a:latin typeface="Calibri" pitchFamily="34" charset="0"/>
                <a:ea typeface="Calibri" pitchFamily="34" charset="-122"/>
                <a:cs typeface="Calibri" pitchFamily="34" charset="-120"/>
              </a:rPr>
              <a:t>Point of Control. The single price with the most volume.</a:t>
            </a:r>
            <a:endParaRPr lang="en-US" sz="2600" dirty="0"/>
          </a:p>
        </p:txBody>
      </p:sp>
      <p:sp>
        <p:nvSpPr>
          <p:cNvPr id="8" name="Shape 5"/>
          <p:cNvSpPr/>
          <p:nvPr/>
        </p:nvSpPr>
        <p:spPr>
          <a:xfrm>
            <a:off x="6278728" y="1828800"/>
            <a:ext cx="5272888" cy="3291840"/>
          </a:xfrm>
          <a:prstGeom prst="roundRect">
            <a:avLst>
              <a:gd name="adj" fmla="val 2222"/>
            </a:avLst>
          </a:prstGeom>
          <a:solidFill>
            <a:srgbClr val="F2F2F2"/>
          </a:solidFill>
          <a:ln w="12700">
            <a:solidFill>
              <a:srgbClr val="F2F2F2"/>
            </a:solidFill>
            <a:prstDash val="solid"/>
          </a:ln>
        </p:spPr>
      </p:sp>
      <p:sp>
        <p:nvSpPr>
          <p:cNvPr id="9" name="Text 6"/>
          <p:cNvSpPr txBox="1"/>
          <p:nvPr/>
        </p:nvSpPr>
        <p:spPr>
          <a:xfrm>
            <a:off x="6644488" y="2148840"/>
            <a:ext cx="4541368" cy="411480"/>
          </a:xfrm>
          <a:prstGeom prst="rect">
            <a:avLst/>
          </a:prstGeom>
          <a:noFill/>
          <a:ln/>
        </p:spPr>
        <p:txBody>
          <a:bodyPr wrap="square" lIns="0" tIns="0" rIns="0" bIns="0" rtlCol="0" anchor="t"/>
          <a:lstStyle/>
          <a:p>
            <a:pPr indent="0" marL="0">
              <a:buNone/>
            </a:pPr>
            <a:r>
              <a:rPr lang="en-US" sz="2000" b="1" spc="200" kern="0" dirty="0">
                <a:solidFill>
                  <a:srgbClr val="2A6FDB"/>
                </a:solidFill>
                <a:latin typeface="Arial" pitchFamily="34" charset="0"/>
                <a:ea typeface="Arial" pitchFamily="34" charset="-122"/>
                <a:cs typeface="Arial" pitchFamily="34" charset="-120"/>
              </a:rPr>
              <a:t>VALUE AREA</a:t>
            </a:r>
            <a:endParaRPr lang="en-US" sz="2000" dirty="0"/>
          </a:p>
        </p:txBody>
      </p:sp>
      <p:sp>
        <p:nvSpPr>
          <p:cNvPr id="10" name="Text 7"/>
          <p:cNvSpPr txBox="1"/>
          <p:nvPr/>
        </p:nvSpPr>
        <p:spPr>
          <a:xfrm>
            <a:off x="6644488" y="2743200"/>
            <a:ext cx="4541368" cy="2103120"/>
          </a:xfrm>
          <a:prstGeom prst="rect">
            <a:avLst/>
          </a:prstGeom>
          <a:noFill/>
          <a:ln/>
        </p:spPr>
        <p:txBody>
          <a:bodyPr wrap="square" lIns="0" tIns="0" rIns="0" bIns="0" rtlCol="0" anchor="t"/>
          <a:lstStyle/>
          <a:p>
            <a:pPr indent="0" marL="0">
              <a:buNone/>
            </a:pPr>
            <a:r>
              <a:rPr lang="en-US" sz="2600" dirty="0">
                <a:solidFill>
                  <a:srgbClr val="111111"/>
                </a:solidFill>
                <a:latin typeface="Calibri" pitchFamily="34" charset="0"/>
                <a:ea typeface="Calibri" pitchFamily="34" charset="-122"/>
                <a:cs typeface="Calibri" pitchFamily="34" charset="-120"/>
              </a:rPr>
              <a:t>The zone holding about 70% of the volume. That's TradingView's default.</a:t>
            </a:r>
            <a:endParaRPr lang="en-US" sz="2600" dirty="0"/>
          </a:p>
        </p:txBody>
      </p:sp>
      <p:sp>
        <p:nvSpPr>
          <p:cNvPr id="11" name="Text 8"/>
          <p:cNvSpPr txBox="1"/>
          <p:nvPr/>
        </p:nvSpPr>
        <p:spPr>
          <a:xfrm>
            <a:off x="640080" y="5440680"/>
            <a:ext cx="10911535" cy="548640"/>
          </a:xfrm>
          <a:prstGeom prst="rect">
            <a:avLst/>
          </a:prstGeom>
          <a:noFill/>
          <a:ln/>
        </p:spPr>
        <p:txBody>
          <a:bodyPr wrap="square" lIns="0" tIns="0" rIns="0" bIns="0" rtlCol="0" anchor="t"/>
          <a:lstStyle/>
          <a:p>
            <a:pPr indent="0" marL="0">
              <a:buNone/>
            </a:pPr>
            <a:r>
              <a:rPr lang="en-US" sz="2400" b="1" dirty="0">
                <a:solidFill>
                  <a:srgbClr val="111111"/>
                </a:solidFill>
                <a:latin typeface="Calibri" pitchFamily="34" charset="0"/>
                <a:ea typeface="Calibri" pitchFamily="34" charset="-122"/>
                <a:cs typeface="Calibri" pitchFamily="34" charset="-120"/>
              </a:rPr>
              <a:t>I draw it on the 30-minute chart.</a:t>
            </a:r>
            <a:endParaRPr lang="en-US" sz="2400" dirty="0"/>
          </a:p>
        </p:txBody>
      </p:sp>
      <p:sp>
        <p:nvSpPr>
          <p:cNvPr id="12" name="Text 9"/>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3" name="Text 10"/>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C0392B"/>
                </a:solidFill>
                <a:latin typeface="Arial" pitchFamily="34" charset="0"/>
                <a:ea typeface="Arial" pitchFamily="34" charset="-122"/>
                <a:cs typeface="Arial" pitchFamily="34" charset="-120"/>
              </a:rPr>
              <a:t>EXAMPLE</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What the Profile Looks Like</a:t>
            </a:r>
            <a:endParaRPr lang="en-US" sz="3600" dirty="0"/>
          </a:p>
        </p:txBody>
      </p:sp>
      <p:pic>
        <p:nvPicPr>
          <p:cNvPr id="5" name="Image 0" descr="Example with synthetic candles, not a real trade">    </p:cNvPr>
          <p:cNvPicPr>
            <a:picLocks noChangeAspect="1"/>
          </p:cNvPicPr>
          <p:nvPr/>
        </p:nvPicPr>
        <p:blipFill>
          <a:blip r:embed="rId1"/>
          <a:stretch>
            <a:fillRect/>
          </a:stretch>
        </p:blipFill>
        <p:spPr>
          <a:xfrm>
            <a:off x="640080" y="1691640"/>
            <a:ext cx="10911535" cy="4041309"/>
          </a:xfrm>
          <a:prstGeom prst="rect">
            <a:avLst/>
          </a:prstGeom>
        </p:spPr>
      </p:pic>
      <p:sp>
        <p:nvSpPr>
          <p:cNvPr id="6" name="Text 2"/>
          <p:cNvSpPr txBox="1"/>
          <p:nvPr/>
        </p:nvSpPr>
        <p:spPr>
          <a:xfrm>
            <a:off x="640080" y="5897880"/>
            <a:ext cx="10911535" cy="365760"/>
          </a:xfrm>
          <a:prstGeom prst="rect">
            <a:avLst/>
          </a:prstGeom>
          <a:noFill/>
          <a:ln/>
        </p:spPr>
        <p:txBody>
          <a:bodyPr wrap="square" lIns="0" tIns="0" rIns="0" bIns="0" rtlCol="0" anchor="t"/>
          <a:lstStyle/>
          <a:p>
            <a:pPr algn="ctr" indent="0" marL="0">
              <a:buNone/>
            </a:pPr>
            <a:r>
              <a:rPr lang="en-US" sz="1600" i="1" dirty="0">
                <a:solidFill>
                  <a:srgbClr val="C0392B"/>
                </a:solidFill>
                <a:latin typeface="Calibri" pitchFamily="34" charset="0"/>
                <a:ea typeface="Calibri" pitchFamily="34" charset="-122"/>
                <a:cs typeface="Calibri" pitchFamily="34" charset="-120"/>
              </a:rPr>
              <a:t>Example with synthetic candles, not a real trade</a:t>
            </a:r>
            <a:endParaRPr lang="en-US" sz="1600" dirty="0"/>
          </a:p>
        </p:txBody>
      </p:sp>
      <p:sp>
        <p:nvSpPr>
          <p:cNvPr id="7" name="Text 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8" name="Text 4"/>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Fixed Range Volume Profile, Live</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30-minute chart</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Draw Fixed Range Volume Profile over a recent session</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Point out the POC and the value area</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4.3</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Draw Volume Profile on yesterday's session, 30-minute chart</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Screenshot it and mark where the POC landed</a:t>
            </a:r>
            <a:endParaRPr lang="en-US" sz="2600" dirty="0"/>
          </a:p>
        </p:txBody>
      </p:sp>
      <p:sp>
        <p:nvSpPr>
          <p:cNvPr id="11" name="Text 8"/>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2" name="Text 9"/>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4.3</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4.4</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Using Volume to Confirm Zones</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High Volume vs. Low Volume</a:t>
            </a:r>
            <a:endParaRPr lang="en-US" sz="3600" dirty="0"/>
          </a:p>
        </p:txBody>
      </p:sp>
      <p:sp>
        <p:nvSpPr>
          <p:cNvPr id="5" name="Shape 2"/>
          <p:cNvSpPr/>
          <p:nvPr/>
        </p:nvSpPr>
        <p:spPr>
          <a:xfrm>
            <a:off x="640080" y="1828800"/>
            <a:ext cx="5272888" cy="3840480"/>
          </a:xfrm>
          <a:prstGeom prst="roundRect">
            <a:avLst>
              <a:gd name="adj" fmla="val 1905"/>
            </a:avLst>
          </a:prstGeom>
          <a:solidFill>
            <a:srgbClr val="F2F2F2"/>
          </a:solidFill>
          <a:ln w="12700">
            <a:solidFill>
              <a:srgbClr val="F2F2F2"/>
            </a:solidFill>
            <a:prstDash val="solid"/>
          </a:ln>
        </p:spPr>
      </p:sp>
      <p:sp>
        <p:nvSpPr>
          <p:cNvPr id="6" name="Text 3"/>
          <p:cNvSpPr txBox="1"/>
          <p:nvPr/>
        </p:nvSpPr>
        <p:spPr>
          <a:xfrm>
            <a:off x="1005840" y="2148840"/>
            <a:ext cx="4541368" cy="411480"/>
          </a:xfrm>
          <a:prstGeom prst="rect">
            <a:avLst/>
          </a:prstGeom>
          <a:noFill/>
          <a:ln/>
        </p:spPr>
        <p:txBody>
          <a:bodyPr wrap="square" lIns="0" tIns="0" rIns="0" bIns="0" rtlCol="0" anchor="t"/>
          <a:lstStyle/>
          <a:p>
            <a:pPr indent="0" marL="0">
              <a:buNone/>
            </a:pPr>
            <a:r>
              <a:rPr lang="en-US" sz="2000" b="1" spc="200" kern="0" dirty="0">
                <a:solidFill>
                  <a:srgbClr val="2A6FDB"/>
                </a:solidFill>
                <a:latin typeface="Arial" pitchFamily="34" charset="0"/>
                <a:ea typeface="Arial" pitchFamily="34" charset="-122"/>
                <a:cs typeface="Arial" pitchFamily="34" charset="-120"/>
              </a:rPr>
              <a:t>HIGH-VOLUME NODE</a:t>
            </a:r>
            <a:endParaRPr lang="en-US" sz="2000" dirty="0"/>
          </a:p>
        </p:txBody>
      </p:sp>
      <p:sp>
        <p:nvSpPr>
          <p:cNvPr id="7" name="Text 4"/>
          <p:cNvSpPr txBox="1"/>
          <p:nvPr/>
        </p:nvSpPr>
        <p:spPr>
          <a:xfrm>
            <a:off x="1005840" y="2743200"/>
            <a:ext cx="4541368" cy="2651760"/>
          </a:xfrm>
          <a:prstGeom prst="rect">
            <a:avLst/>
          </a:prstGeom>
          <a:noFill/>
          <a:ln/>
        </p:spPr>
        <p:txBody>
          <a:bodyPr wrap="square" lIns="0" tIns="0" rIns="0" bIns="0" rtlCol="0" anchor="t"/>
          <a:lstStyle/>
          <a:p>
            <a:pPr indent="0" marL="0">
              <a:buNone/>
            </a:pPr>
            <a:r>
              <a:rPr lang="en-US" sz="2600" dirty="0">
                <a:solidFill>
                  <a:srgbClr val="111111"/>
                </a:solidFill>
                <a:latin typeface="Calibri" pitchFamily="34" charset="0"/>
                <a:ea typeface="Calibri" pitchFamily="34" charset="-122"/>
                <a:cs typeface="Calibri" pitchFamily="34" charset="-120"/>
              </a:rPr>
              <a:t>Price agrees it belongs here. It may pause or reverse. Harder for a sweep to punch through cleanly.</a:t>
            </a:r>
            <a:endParaRPr lang="en-US" sz="2600" dirty="0"/>
          </a:p>
        </p:txBody>
      </p:sp>
      <p:sp>
        <p:nvSpPr>
          <p:cNvPr id="8" name="Shape 5"/>
          <p:cNvSpPr/>
          <p:nvPr/>
        </p:nvSpPr>
        <p:spPr>
          <a:xfrm>
            <a:off x="6278728" y="1828800"/>
            <a:ext cx="5272888" cy="3840480"/>
          </a:xfrm>
          <a:prstGeom prst="roundRect">
            <a:avLst>
              <a:gd name="adj" fmla="val 1905"/>
            </a:avLst>
          </a:prstGeom>
          <a:solidFill>
            <a:srgbClr val="F2F2F2"/>
          </a:solidFill>
          <a:ln w="12700">
            <a:solidFill>
              <a:srgbClr val="F2F2F2"/>
            </a:solidFill>
            <a:prstDash val="solid"/>
          </a:ln>
        </p:spPr>
      </p:sp>
      <p:sp>
        <p:nvSpPr>
          <p:cNvPr id="9" name="Text 6"/>
          <p:cNvSpPr txBox="1"/>
          <p:nvPr/>
        </p:nvSpPr>
        <p:spPr>
          <a:xfrm>
            <a:off x="6644488" y="2148840"/>
            <a:ext cx="4541368" cy="41148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LOW-VOLUME GAP</a:t>
            </a:r>
            <a:endParaRPr lang="en-US" sz="2000" dirty="0"/>
          </a:p>
        </p:txBody>
      </p:sp>
      <p:sp>
        <p:nvSpPr>
          <p:cNvPr id="10" name="Text 7"/>
          <p:cNvSpPr txBox="1"/>
          <p:nvPr/>
        </p:nvSpPr>
        <p:spPr>
          <a:xfrm>
            <a:off x="6644488" y="2743200"/>
            <a:ext cx="4541368" cy="2651760"/>
          </a:xfrm>
          <a:prstGeom prst="rect">
            <a:avLst/>
          </a:prstGeom>
          <a:noFill/>
          <a:ln/>
        </p:spPr>
        <p:txBody>
          <a:bodyPr wrap="square" lIns="0" tIns="0" rIns="0" bIns="0" rtlCol="0" anchor="t"/>
          <a:lstStyle/>
          <a:p>
            <a:pPr indent="0" marL="0">
              <a:buNone/>
            </a:pPr>
            <a:r>
              <a:rPr lang="en-US" sz="2600" dirty="0">
                <a:solidFill>
                  <a:srgbClr val="111111"/>
                </a:solidFill>
                <a:latin typeface="Calibri" pitchFamily="34" charset="0"/>
                <a:ea typeface="Calibri" pitchFamily="34" charset="-122"/>
                <a:cs typeface="Calibri" pitchFamily="34" charset="-120"/>
              </a:rPr>
              <a:t>Price moved through fast. Less in the way. This is where I often see manipulation sweeps.</a:t>
            </a:r>
            <a:endParaRPr lang="en-US" sz="2600" dirty="0"/>
          </a:p>
        </p:txBody>
      </p:sp>
      <p:sp>
        <p:nvSpPr>
          <p:cNvPr id="11" name="Text 8"/>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2" name="Text 9"/>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C0392B"/>
                </a:solidFill>
                <a:latin typeface="Arial" pitchFamily="34" charset="0"/>
                <a:ea typeface="Arial" pitchFamily="34" charset="-122"/>
                <a:cs typeface="Arial" pitchFamily="34" charset="-120"/>
              </a:rPr>
              <a:t>EXAMPLE</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Volume Confirms the Sweep</a:t>
            </a:r>
            <a:endParaRPr lang="en-US" sz="3600" dirty="0"/>
          </a:p>
        </p:txBody>
      </p:sp>
      <p:pic>
        <p:nvPicPr>
          <p:cNvPr id="5" name="Image 0" descr="Example with synthetic candles on a 30-minute chart, not a real trade">    </p:cNvPr>
          <p:cNvPicPr>
            <a:picLocks noChangeAspect="1"/>
          </p:cNvPicPr>
          <p:nvPr/>
        </p:nvPicPr>
        <p:blipFill>
          <a:blip r:embed="rId1"/>
          <a:stretch>
            <a:fillRect/>
          </a:stretch>
        </p:blipFill>
        <p:spPr>
          <a:xfrm>
            <a:off x="714924" y="1691640"/>
            <a:ext cx="10761848" cy="4114800"/>
          </a:xfrm>
          <a:prstGeom prst="rect">
            <a:avLst/>
          </a:prstGeom>
        </p:spPr>
      </p:pic>
      <p:sp>
        <p:nvSpPr>
          <p:cNvPr id="6" name="Text 2"/>
          <p:cNvSpPr txBox="1"/>
          <p:nvPr/>
        </p:nvSpPr>
        <p:spPr>
          <a:xfrm>
            <a:off x="640080" y="5897880"/>
            <a:ext cx="10911535" cy="365760"/>
          </a:xfrm>
          <a:prstGeom prst="rect">
            <a:avLst/>
          </a:prstGeom>
          <a:noFill/>
          <a:ln/>
        </p:spPr>
        <p:txBody>
          <a:bodyPr wrap="square" lIns="0" tIns="0" rIns="0" bIns="0" rtlCol="0" anchor="t"/>
          <a:lstStyle/>
          <a:p>
            <a:pPr algn="ctr" indent="0" marL="0">
              <a:buNone/>
            </a:pPr>
            <a:r>
              <a:rPr lang="en-US" sz="1600" i="1" dirty="0">
                <a:solidFill>
                  <a:srgbClr val="C0392B"/>
                </a:solidFill>
                <a:latin typeface="Calibri" pitchFamily="34" charset="0"/>
                <a:ea typeface="Calibri" pitchFamily="34" charset="-122"/>
                <a:cs typeface="Calibri" pitchFamily="34" charset="-120"/>
              </a:rPr>
              <a:t>Example with synthetic candles on a 30-minute chart, not a real trade</a:t>
            </a:r>
            <a:endParaRPr lang="en-US" sz="1600" dirty="0"/>
          </a:p>
        </p:txBody>
      </p:sp>
      <p:sp>
        <p:nvSpPr>
          <p:cNvPr id="7" name="Text 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8" name="Text 4"/>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Gap vs. Node on Real Sweeps</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Sweep #1: through a low-volume gap (fast, clean)</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Sweep #2: into a high-volume node (choppy)</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Compare how each reversal looked</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4.4</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Pull up your Module 3 CRT screenshot</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Overlay Volume Profile on it, 30-minute chart</a:t>
            </a:r>
            <a:endParaRPr lang="en-US" sz="2600" dirty="0"/>
          </a:p>
        </p:txBody>
      </p:sp>
      <p:sp>
        <p:nvSpPr>
          <p:cNvPr id="11" name="Shape 8"/>
          <p:cNvSpPr/>
          <p:nvPr/>
        </p:nvSpPr>
        <p:spPr>
          <a:xfrm>
            <a:off x="640080" y="4206240"/>
            <a:ext cx="640080" cy="640080"/>
          </a:xfrm>
          <a:prstGeom prst="ellipse">
            <a:avLst/>
          </a:prstGeom>
          <a:solidFill>
            <a:srgbClr val="FFFFFF"/>
          </a:solidFill>
          <a:ln w="12700">
            <a:solidFill>
              <a:srgbClr val="FFFFFF"/>
            </a:solidFill>
            <a:prstDash val="solid"/>
          </a:ln>
        </p:spPr>
      </p:sp>
      <p:sp>
        <p:nvSpPr>
          <p:cNvPr id="12" name="Text 9"/>
          <p:cNvSpPr txBox="1"/>
          <p:nvPr/>
        </p:nvSpPr>
        <p:spPr>
          <a:xfrm>
            <a:off x="640080" y="420624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3</a:t>
            </a:r>
            <a:endParaRPr lang="en-US" sz="2400" dirty="0"/>
          </a:p>
        </p:txBody>
      </p:sp>
      <p:sp>
        <p:nvSpPr>
          <p:cNvPr id="13" name="Text 10"/>
          <p:cNvSpPr txBox="1"/>
          <p:nvPr/>
        </p:nvSpPr>
        <p:spPr>
          <a:xfrm>
            <a:off x="1645920" y="411480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Post: did the sweep pass through high or low volume?</a:t>
            </a:r>
            <a:endParaRPr lang="en-US" sz="26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4.4</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4.5</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Using the POC as an Entry or Exit</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One Line, Two Jobs</a:t>
            </a:r>
            <a:endParaRPr lang="en-US" sz="3600" dirty="0"/>
          </a:p>
        </p:txBody>
      </p:sp>
      <p:sp>
        <p:nvSpPr>
          <p:cNvPr id="5" name="Shape 2"/>
          <p:cNvSpPr/>
          <p:nvPr/>
        </p:nvSpPr>
        <p:spPr>
          <a:xfrm>
            <a:off x="640080" y="1828800"/>
            <a:ext cx="10911535" cy="2743200"/>
          </a:xfrm>
          <a:prstGeom prst="roundRect">
            <a:avLst>
              <a:gd name="adj" fmla="val 2667"/>
            </a:avLst>
          </a:prstGeom>
          <a:solidFill>
            <a:srgbClr val="F2F2F2"/>
          </a:solidFill>
          <a:ln w="12700">
            <a:solidFill>
              <a:srgbClr val="F2F2F2"/>
            </a:solidFill>
            <a:prstDash val="solid"/>
          </a:ln>
        </p:spPr>
      </p:sp>
      <p:sp>
        <p:nvSpPr>
          <p:cNvPr id="6" name="Text 3"/>
          <p:cNvSpPr txBox="1"/>
          <p:nvPr/>
        </p:nvSpPr>
        <p:spPr>
          <a:xfrm>
            <a:off x="1097280" y="1828800"/>
            <a:ext cx="9997135" cy="274320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I use the POC as my exit</a:t>
            </a:r>
            <a:endParaRPr lang="en-US" sz="3600" dirty="0"/>
          </a:p>
          <a:p>
            <a:pPr indent="0" marL="0">
              <a:buNone/>
            </a:pPr>
            <a:r>
              <a:rPr lang="en-US" sz="3600" b="1" dirty="0">
                <a:solidFill>
                  <a:srgbClr val="111111"/>
                </a:solidFill>
                <a:latin typeface="Calibri" pitchFamily="34" charset="0"/>
                <a:ea typeface="Calibri" pitchFamily="34" charset="-122"/>
                <a:cs typeface="Calibri" pitchFamily="34" charset="-120"/>
              </a:rPr>
              <a:t>or as my entry.</a:t>
            </a:r>
            <a:endParaRPr lang="en-US" sz="3600" dirty="0"/>
          </a:p>
        </p:txBody>
      </p:sp>
      <p:sp>
        <p:nvSpPr>
          <p:cNvPr id="7" name="Text 4"/>
          <p:cNvSpPr txBox="1"/>
          <p:nvPr/>
        </p:nvSpPr>
        <p:spPr>
          <a:xfrm>
            <a:off x="640080" y="4846320"/>
            <a:ext cx="10911535" cy="91440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This is how I trade it. It's not a law the market has to follow.</a:t>
            </a:r>
            <a:endParaRPr lang="en-US" sz="2400" dirty="0"/>
          </a:p>
        </p:txBody>
      </p:sp>
      <p:sp>
        <p:nvSpPr>
          <p:cNvPr id="8" name="Text 5"/>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9" name="Text 6"/>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The POC as My Exit</a:t>
            </a:r>
            <a:endParaRPr lang="en-US" sz="3600" dirty="0"/>
          </a:p>
        </p:txBody>
      </p:sp>
      <p:sp>
        <p:nvSpPr>
          <p:cNvPr id="5" name="Shape 2"/>
          <p:cNvSpPr/>
          <p:nvPr/>
        </p:nvSpPr>
        <p:spPr>
          <a:xfrm>
            <a:off x="640080" y="1965960"/>
            <a:ext cx="731520" cy="731520"/>
          </a:xfrm>
          <a:prstGeom prst="ellipse">
            <a:avLst/>
          </a:prstGeom>
          <a:solidFill>
            <a:srgbClr val="E8912D"/>
          </a:solidFill>
          <a:ln w="12700">
            <a:solidFill>
              <a:srgbClr val="E8912D"/>
            </a:solidFill>
            <a:prstDash val="solid"/>
          </a:ln>
        </p:spPr>
      </p:sp>
      <p:sp>
        <p:nvSpPr>
          <p:cNvPr id="6" name="Text 3"/>
          <p:cNvSpPr txBox="1"/>
          <p:nvPr/>
        </p:nvSpPr>
        <p:spPr>
          <a:xfrm>
            <a:off x="640080" y="19659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7" name="Shape 4"/>
          <p:cNvSpPr/>
          <p:nvPr/>
        </p:nvSpPr>
        <p:spPr>
          <a:xfrm>
            <a:off x="1645920" y="1874520"/>
            <a:ext cx="9905695" cy="914400"/>
          </a:xfrm>
          <a:prstGeom prst="roundRect">
            <a:avLst>
              <a:gd name="adj" fmla="val 6000"/>
            </a:avLst>
          </a:prstGeom>
          <a:solidFill>
            <a:srgbClr val="F2F2F2"/>
          </a:solidFill>
          <a:ln w="12700">
            <a:solidFill>
              <a:srgbClr val="F2F2F2"/>
            </a:solidFill>
            <a:prstDash val="solid"/>
          </a:ln>
        </p:spPr>
      </p:sp>
      <p:sp>
        <p:nvSpPr>
          <p:cNvPr id="8" name="Text 5"/>
          <p:cNvSpPr txBox="1"/>
          <p:nvPr/>
        </p:nvSpPr>
        <p:spPr>
          <a:xfrm>
            <a:off x="1920240" y="1874520"/>
            <a:ext cx="9448495" cy="914400"/>
          </a:xfrm>
          <a:prstGeom prst="rect">
            <a:avLst/>
          </a:prstGeom>
          <a:noFill/>
          <a:ln/>
        </p:spPr>
        <p:txBody>
          <a:bodyPr wrap="square" lIns="0" tIns="0" rIns="0" bIns="0" rtlCol="0" anchor="ctr"/>
          <a:lstStyle/>
          <a:p>
            <a:pPr indent="0" marL="0">
              <a:buNone/>
            </a:pPr>
            <a:r>
              <a:rPr lang="en-US" sz="2400" dirty="0">
                <a:solidFill>
                  <a:srgbClr val="111111"/>
                </a:solidFill>
                <a:latin typeface="Calibri" pitchFamily="34" charset="0"/>
                <a:ea typeface="Calibri" pitchFamily="34" charset="-122"/>
                <a:cs typeface="Calibri" pitchFamily="34" charset="-120"/>
              </a:rPr>
              <a:t>Draw the profile on the 30-minute chart, over the range I'm trading</a:t>
            </a:r>
            <a:endParaRPr lang="en-US" sz="2400" dirty="0"/>
          </a:p>
        </p:txBody>
      </p:sp>
      <p:sp>
        <p:nvSpPr>
          <p:cNvPr id="9" name="Shape 6"/>
          <p:cNvSpPr/>
          <p:nvPr/>
        </p:nvSpPr>
        <p:spPr>
          <a:xfrm>
            <a:off x="640080" y="3291840"/>
            <a:ext cx="731520" cy="731520"/>
          </a:xfrm>
          <a:prstGeom prst="ellipse">
            <a:avLst/>
          </a:prstGeom>
          <a:solidFill>
            <a:srgbClr val="E8912D"/>
          </a:solidFill>
          <a:ln w="12700">
            <a:solidFill>
              <a:srgbClr val="E8912D"/>
            </a:solidFill>
            <a:prstDash val="solid"/>
          </a:ln>
        </p:spPr>
      </p:sp>
      <p:sp>
        <p:nvSpPr>
          <p:cNvPr id="10" name="Text 7"/>
          <p:cNvSpPr txBox="1"/>
          <p:nvPr/>
        </p:nvSpPr>
        <p:spPr>
          <a:xfrm>
            <a:off x="640080" y="32918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1" name="Shape 8"/>
          <p:cNvSpPr/>
          <p:nvPr/>
        </p:nvSpPr>
        <p:spPr>
          <a:xfrm>
            <a:off x="1645920" y="3200400"/>
            <a:ext cx="9905695" cy="914400"/>
          </a:xfrm>
          <a:prstGeom prst="roundRect">
            <a:avLst>
              <a:gd name="adj" fmla="val 6000"/>
            </a:avLst>
          </a:prstGeom>
          <a:solidFill>
            <a:srgbClr val="F2F2F2"/>
          </a:solidFill>
          <a:ln w="12700">
            <a:solidFill>
              <a:srgbClr val="F2F2F2"/>
            </a:solidFill>
            <a:prstDash val="solid"/>
          </a:ln>
        </p:spPr>
      </p:sp>
      <p:sp>
        <p:nvSpPr>
          <p:cNvPr id="12" name="Text 9"/>
          <p:cNvSpPr txBox="1"/>
          <p:nvPr/>
        </p:nvSpPr>
        <p:spPr>
          <a:xfrm>
            <a:off x="1920240" y="3200400"/>
            <a:ext cx="9448495" cy="914400"/>
          </a:xfrm>
          <a:prstGeom prst="rect">
            <a:avLst/>
          </a:prstGeom>
          <a:noFill/>
          <a:ln/>
        </p:spPr>
        <p:txBody>
          <a:bodyPr wrap="square" lIns="0" tIns="0" rIns="0" bIns="0" rtlCol="0" anchor="ctr"/>
          <a:lstStyle/>
          <a:p>
            <a:pPr indent="0" marL="0">
              <a:buNone/>
            </a:pPr>
            <a:r>
              <a:rPr lang="en-US" sz="2400" dirty="0">
                <a:solidFill>
                  <a:srgbClr val="111111"/>
                </a:solidFill>
                <a:latin typeface="Calibri" pitchFamily="34" charset="0"/>
                <a:ea typeface="Calibri" pitchFamily="34" charset="-122"/>
                <a:cs typeface="Calibri" pitchFamily="34" charset="-120"/>
              </a:rPr>
              <a:t>After the sweep and my CRT entry, I manage the trade at the POC, or a few ticks before it</a:t>
            </a:r>
            <a:endParaRPr lang="en-US" sz="2400" dirty="0"/>
          </a:p>
        </p:txBody>
      </p:sp>
      <p:sp>
        <p:nvSpPr>
          <p:cNvPr id="13" name="Shape 10"/>
          <p:cNvSpPr/>
          <p:nvPr/>
        </p:nvSpPr>
        <p:spPr>
          <a:xfrm>
            <a:off x="640080" y="4617720"/>
            <a:ext cx="731520" cy="731520"/>
          </a:xfrm>
          <a:prstGeom prst="ellipse">
            <a:avLst/>
          </a:prstGeom>
          <a:solidFill>
            <a:srgbClr val="E8912D"/>
          </a:solidFill>
          <a:ln w="12700">
            <a:solidFill>
              <a:srgbClr val="E8912D"/>
            </a:solidFill>
            <a:prstDash val="solid"/>
          </a:ln>
        </p:spPr>
      </p:sp>
      <p:sp>
        <p:nvSpPr>
          <p:cNvPr id="14" name="Text 11"/>
          <p:cNvSpPr txBox="1"/>
          <p:nvPr/>
        </p:nvSpPr>
        <p:spPr>
          <a:xfrm>
            <a:off x="640080" y="46177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15" name="Shape 12"/>
          <p:cNvSpPr/>
          <p:nvPr/>
        </p:nvSpPr>
        <p:spPr>
          <a:xfrm>
            <a:off x="1645920" y="4526280"/>
            <a:ext cx="9905695" cy="914400"/>
          </a:xfrm>
          <a:prstGeom prst="roundRect">
            <a:avLst>
              <a:gd name="adj" fmla="val 6000"/>
            </a:avLst>
          </a:prstGeom>
          <a:solidFill>
            <a:srgbClr val="F2F2F2"/>
          </a:solidFill>
          <a:ln w="12700">
            <a:solidFill>
              <a:srgbClr val="F2F2F2"/>
            </a:solidFill>
            <a:prstDash val="solid"/>
          </a:ln>
        </p:spPr>
      </p:sp>
      <p:sp>
        <p:nvSpPr>
          <p:cNvPr id="16" name="Text 13"/>
          <p:cNvSpPr txBox="1"/>
          <p:nvPr/>
        </p:nvSpPr>
        <p:spPr>
          <a:xfrm>
            <a:off x="1920240" y="4526280"/>
            <a:ext cx="9448495" cy="914400"/>
          </a:xfrm>
          <a:prstGeom prst="rect">
            <a:avLst/>
          </a:prstGeom>
          <a:noFill/>
          <a:ln/>
        </p:spPr>
        <p:txBody>
          <a:bodyPr wrap="square" lIns="0" tIns="0" rIns="0" bIns="0" rtlCol="0" anchor="ctr"/>
          <a:lstStyle/>
          <a:p>
            <a:pPr indent="0" marL="0">
              <a:buNone/>
            </a:pPr>
            <a:r>
              <a:rPr lang="en-US" sz="2400" dirty="0">
                <a:solidFill>
                  <a:srgbClr val="111111"/>
                </a:solidFill>
                <a:latin typeface="Calibri" pitchFamily="34" charset="0"/>
                <a:ea typeface="Calibri" pitchFamily="34" charset="-122"/>
                <a:cs typeface="Calibri" pitchFamily="34" charset="-120"/>
              </a:rPr>
              <a:t>Full exit or a partial with a runner: I decide from how the candles move into the POC</a:t>
            </a:r>
            <a:endParaRPr lang="en-US" sz="2400" dirty="0"/>
          </a:p>
        </p:txBody>
      </p:sp>
      <p:sp>
        <p:nvSpPr>
          <p:cNvPr id="17" name="Text 14"/>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8" name="Text 15"/>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C0392B"/>
                </a:solidFill>
                <a:latin typeface="Arial" pitchFamily="34" charset="0"/>
                <a:ea typeface="Arial" pitchFamily="34" charset="-122"/>
                <a:cs typeface="Arial" pitchFamily="34" charset="-120"/>
              </a:rPr>
              <a:t>EXAMPLE</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The POC as the Exit</a:t>
            </a:r>
            <a:endParaRPr lang="en-US" sz="3600" dirty="0"/>
          </a:p>
        </p:txBody>
      </p:sp>
      <p:pic>
        <p:nvPicPr>
          <p:cNvPr id="5" name="Image 0" descr="Example with synthetic candles on a 30-minute chart, not a real trade">    </p:cNvPr>
          <p:cNvPicPr>
            <a:picLocks noChangeAspect="1"/>
          </p:cNvPicPr>
          <p:nvPr/>
        </p:nvPicPr>
        <p:blipFill>
          <a:blip r:embed="rId1"/>
          <a:stretch>
            <a:fillRect/>
          </a:stretch>
        </p:blipFill>
        <p:spPr>
          <a:xfrm>
            <a:off x="1240589" y="1691640"/>
            <a:ext cx="9710517" cy="4114800"/>
          </a:xfrm>
          <a:prstGeom prst="rect">
            <a:avLst/>
          </a:prstGeom>
        </p:spPr>
      </p:pic>
      <p:sp>
        <p:nvSpPr>
          <p:cNvPr id="6" name="Text 2"/>
          <p:cNvSpPr txBox="1"/>
          <p:nvPr/>
        </p:nvSpPr>
        <p:spPr>
          <a:xfrm>
            <a:off x="640080" y="5897880"/>
            <a:ext cx="10911535" cy="365760"/>
          </a:xfrm>
          <a:prstGeom prst="rect">
            <a:avLst/>
          </a:prstGeom>
          <a:noFill/>
          <a:ln/>
        </p:spPr>
        <p:txBody>
          <a:bodyPr wrap="square" lIns="0" tIns="0" rIns="0" bIns="0" rtlCol="0" anchor="t"/>
          <a:lstStyle/>
          <a:p>
            <a:pPr algn="ctr" indent="0" marL="0">
              <a:buNone/>
            </a:pPr>
            <a:r>
              <a:rPr lang="en-US" sz="1600" i="1" dirty="0">
                <a:solidFill>
                  <a:srgbClr val="C0392B"/>
                </a:solidFill>
                <a:latin typeface="Calibri" pitchFamily="34" charset="0"/>
                <a:ea typeface="Calibri" pitchFamily="34" charset="-122"/>
                <a:cs typeface="Calibri" pitchFamily="34" charset="-120"/>
              </a:rPr>
              <a:t>Example with synthetic candles on a 30-minute chart, not a real trade</a:t>
            </a:r>
            <a:endParaRPr lang="en-US" sz="1600" dirty="0"/>
          </a:p>
        </p:txBody>
      </p:sp>
      <p:sp>
        <p:nvSpPr>
          <p:cNvPr id="7" name="Text 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8" name="Text 4"/>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Where It's Headed vs. Where It Slows Down</a:t>
            </a:r>
            <a:endParaRPr lang="en-US" sz="3600" dirty="0"/>
          </a:p>
        </p:txBody>
      </p:sp>
      <p:sp>
        <p:nvSpPr>
          <p:cNvPr id="5" name="Shape 2"/>
          <p:cNvSpPr/>
          <p:nvPr/>
        </p:nvSpPr>
        <p:spPr>
          <a:xfrm>
            <a:off x="640080" y="2011680"/>
            <a:ext cx="5120640" cy="3291840"/>
          </a:xfrm>
          <a:prstGeom prst="roundRect">
            <a:avLst>
              <a:gd name="adj" fmla="val 2222"/>
            </a:avLst>
          </a:prstGeom>
          <a:solidFill>
            <a:srgbClr val="F2F2F2"/>
          </a:solidFill>
          <a:ln w="12700">
            <a:solidFill>
              <a:srgbClr val="F2F2F2"/>
            </a:solidFill>
            <a:prstDash val="solid"/>
          </a:ln>
        </p:spPr>
      </p:sp>
      <p:sp>
        <p:nvSpPr>
          <p:cNvPr id="6" name="Text 3"/>
          <p:cNvSpPr txBox="1"/>
          <p:nvPr/>
        </p:nvSpPr>
        <p:spPr>
          <a:xfrm>
            <a:off x="1005840" y="2377440"/>
            <a:ext cx="4389120" cy="457200"/>
          </a:xfrm>
          <a:prstGeom prst="rect">
            <a:avLst/>
          </a:prstGeom>
          <a:noFill/>
          <a:ln/>
        </p:spPr>
        <p:txBody>
          <a:bodyPr wrap="square" lIns="0" tIns="0" rIns="0" bIns="0" rtlCol="0" anchor="t"/>
          <a:lstStyle/>
          <a:p>
            <a:pPr indent="0" marL="0">
              <a:buNone/>
            </a:pPr>
            <a:r>
              <a:rPr lang="en-US" sz="2200" b="1" spc="200" kern="0" dirty="0">
                <a:solidFill>
                  <a:srgbClr val="2A6FDB"/>
                </a:solidFill>
                <a:latin typeface="Arial" pitchFamily="34" charset="0"/>
                <a:ea typeface="Arial" pitchFamily="34" charset="-122"/>
                <a:cs typeface="Arial" pitchFamily="34" charset="-120"/>
              </a:rPr>
              <a:t>SESSION LIQUIDITY</a:t>
            </a:r>
            <a:endParaRPr lang="en-US" sz="2200" dirty="0"/>
          </a:p>
        </p:txBody>
      </p:sp>
      <p:sp>
        <p:nvSpPr>
          <p:cNvPr id="7" name="Text 4"/>
          <p:cNvSpPr txBox="1"/>
          <p:nvPr/>
        </p:nvSpPr>
        <p:spPr>
          <a:xfrm>
            <a:off x="1005840" y="3108960"/>
            <a:ext cx="4389120" cy="1920240"/>
          </a:xfrm>
          <a:prstGeom prst="rect">
            <a:avLst/>
          </a:prstGeom>
          <a:noFill/>
          <a:ln/>
        </p:spPr>
        <p:txBody>
          <a:bodyPr wrap="square" lIns="0" tIns="0" rIns="0" bIns="0" rtlCol="0" anchor="t"/>
          <a:lstStyle/>
          <a:p>
            <a:pPr indent="0" marL="0">
              <a:buNone/>
            </a:pPr>
            <a:r>
              <a:rPr lang="en-US" sz="3400" b="1" dirty="0">
                <a:solidFill>
                  <a:srgbClr val="111111"/>
                </a:solidFill>
                <a:latin typeface="Arial" pitchFamily="34" charset="0"/>
                <a:ea typeface="Arial" pitchFamily="34" charset="-122"/>
                <a:cs typeface="Arial" pitchFamily="34" charset="-120"/>
              </a:rPr>
              <a:t>Where price is headed</a:t>
            </a:r>
            <a:endParaRPr lang="en-US" sz="3400" dirty="0"/>
          </a:p>
        </p:txBody>
      </p:sp>
      <p:sp>
        <p:nvSpPr>
          <p:cNvPr id="8" name="Shape 5"/>
          <p:cNvSpPr/>
          <p:nvPr/>
        </p:nvSpPr>
        <p:spPr>
          <a:xfrm>
            <a:off x="6430975" y="2011680"/>
            <a:ext cx="5120640" cy="3291840"/>
          </a:xfrm>
          <a:prstGeom prst="roundRect">
            <a:avLst>
              <a:gd name="adj" fmla="val 2222"/>
            </a:avLst>
          </a:prstGeom>
          <a:solidFill>
            <a:srgbClr val="F2F2F2"/>
          </a:solidFill>
          <a:ln w="12700">
            <a:solidFill>
              <a:srgbClr val="F2F2F2"/>
            </a:solidFill>
            <a:prstDash val="solid"/>
          </a:ln>
        </p:spPr>
      </p:sp>
      <p:sp>
        <p:nvSpPr>
          <p:cNvPr id="9" name="Text 6"/>
          <p:cNvSpPr txBox="1"/>
          <p:nvPr/>
        </p:nvSpPr>
        <p:spPr>
          <a:xfrm>
            <a:off x="6796735" y="2377440"/>
            <a:ext cx="4389120" cy="457200"/>
          </a:xfrm>
          <a:prstGeom prst="rect">
            <a:avLst/>
          </a:prstGeom>
          <a:noFill/>
          <a:ln/>
        </p:spPr>
        <p:txBody>
          <a:bodyPr wrap="square" lIns="0" tIns="0" rIns="0" bIns="0" rtlCol="0" anchor="t"/>
          <a:lstStyle/>
          <a:p>
            <a:pPr indent="0" marL="0">
              <a:buNone/>
            </a:pPr>
            <a:r>
              <a:rPr lang="en-US" sz="2200" b="1" spc="200" kern="0" dirty="0">
                <a:solidFill>
                  <a:srgbClr val="E8912D"/>
                </a:solidFill>
                <a:latin typeface="Arial" pitchFamily="34" charset="0"/>
                <a:ea typeface="Arial" pitchFamily="34" charset="-122"/>
                <a:cs typeface="Arial" pitchFamily="34" charset="-120"/>
              </a:rPr>
              <a:t>POC</a:t>
            </a:r>
            <a:endParaRPr lang="en-US" sz="2200" dirty="0"/>
          </a:p>
        </p:txBody>
      </p:sp>
      <p:sp>
        <p:nvSpPr>
          <p:cNvPr id="10" name="Text 7"/>
          <p:cNvSpPr txBox="1"/>
          <p:nvPr/>
        </p:nvSpPr>
        <p:spPr>
          <a:xfrm>
            <a:off x="6796735" y="3108960"/>
            <a:ext cx="4389120" cy="1920240"/>
          </a:xfrm>
          <a:prstGeom prst="rect">
            <a:avLst/>
          </a:prstGeom>
          <a:noFill/>
          <a:ln/>
        </p:spPr>
        <p:txBody>
          <a:bodyPr wrap="square" lIns="0" tIns="0" rIns="0" bIns="0" rtlCol="0" anchor="t"/>
          <a:lstStyle/>
          <a:p>
            <a:pPr indent="0" marL="0">
              <a:buNone/>
            </a:pPr>
            <a:r>
              <a:rPr lang="en-US" sz="3400" b="1" dirty="0">
                <a:solidFill>
                  <a:srgbClr val="111111"/>
                </a:solidFill>
                <a:latin typeface="Arial" pitchFamily="34" charset="0"/>
                <a:ea typeface="Arial" pitchFamily="34" charset="-122"/>
                <a:cs typeface="Arial" pitchFamily="34" charset="-120"/>
              </a:rPr>
              <a:t>Where price is likely to slow down on the way</a:t>
            </a:r>
            <a:endParaRPr lang="en-US" sz="3400" dirty="0"/>
          </a:p>
        </p:txBody>
      </p:sp>
      <p:sp>
        <p:nvSpPr>
          <p:cNvPr id="11" name="Shape 8"/>
          <p:cNvSpPr/>
          <p:nvPr/>
        </p:nvSpPr>
        <p:spPr>
          <a:xfrm>
            <a:off x="5684368" y="3337560"/>
            <a:ext cx="822960" cy="640080"/>
          </a:xfrm>
          <a:prstGeom prst="rightArrow">
            <a:avLst/>
          </a:prstGeom>
          <a:solidFill>
            <a:srgbClr val="111111"/>
          </a:solidFill>
          <a:ln w="12700">
            <a:solidFill>
              <a:srgbClr val="111111"/>
            </a:solidFill>
            <a:prstDash val="solid"/>
          </a:ln>
        </p:spPr>
      </p:sp>
      <p:sp>
        <p:nvSpPr>
          <p:cNvPr id="12" name="Text 9"/>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3" name="Text 10"/>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The POC as My Entry</a:t>
            </a:r>
            <a:endParaRPr lang="en-US" sz="3600" dirty="0"/>
          </a:p>
        </p:txBody>
      </p:sp>
      <p:sp>
        <p:nvSpPr>
          <p:cNvPr id="5" name="Shape 2"/>
          <p:cNvSpPr/>
          <p:nvPr/>
        </p:nvSpPr>
        <p:spPr>
          <a:xfrm>
            <a:off x="640080" y="1965960"/>
            <a:ext cx="731520" cy="731520"/>
          </a:xfrm>
          <a:prstGeom prst="ellipse">
            <a:avLst/>
          </a:prstGeom>
          <a:solidFill>
            <a:srgbClr val="E8912D"/>
          </a:solidFill>
          <a:ln w="12700">
            <a:solidFill>
              <a:srgbClr val="E8912D"/>
            </a:solidFill>
            <a:prstDash val="solid"/>
          </a:ln>
        </p:spPr>
      </p:sp>
      <p:sp>
        <p:nvSpPr>
          <p:cNvPr id="6" name="Text 3"/>
          <p:cNvSpPr txBox="1"/>
          <p:nvPr/>
        </p:nvSpPr>
        <p:spPr>
          <a:xfrm>
            <a:off x="640080" y="19659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7" name="Shape 4"/>
          <p:cNvSpPr/>
          <p:nvPr/>
        </p:nvSpPr>
        <p:spPr>
          <a:xfrm>
            <a:off x="1645920" y="1874520"/>
            <a:ext cx="9905695" cy="914400"/>
          </a:xfrm>
          <a:prstGeom prst="roundRect">
            <a:avLst>
              <a:gd name="adj" fmla="val 6000"/>
            </a:avLst>
          </a:prstGeom>
          <a:solidFill>
            <a:srgbClr val="F2F2F2"/>
          </a:solidFill>
          <a:ln w="12700">
            <a:solidFill>
              <a:srgbClr val="F2F2F2"/>
            </a:solidFill>
            <a:prstDash val="solid"/>
          </a:ln>
        </p:spPr>
      </p:sp>
      <p:sp>
        <p:nvSpPr>
          <p:cNvPr id="8" name="Text 5"/>
          <p:cNvSpPr txBox="1"/>
          <p:nvPr/>
        </p:nvSpPr>
        <p:spPr>
          <a:xfrm>
            <a:off x="1920240" y="1874520"/>
            <a:ext cx="9448495" cy="914400"/>
          </a:xfrm>
          <a:prstGeom prst="rect">
            <a:avLst/>
          </a:prstGeom>
          <a:noFill/>
          <a:ln/>
        </p:spPr>
        <p:txBody>
          <a:bodyPr wrap="square" lIns="0" tIns="0" rIns="0" bIns="0" rtlCol="0" anchor="ctr"/>
          <a:lstStyle/>
          <a:p>
            <a:pPr indent="0" marL="0">
              <a:buNone/>
            </a:pPr>
            <a:r>
              <a:rPr lang="en-US" sz="2400" dirty="0">
                <a:solidFill>
                  <a:srgbClr val="111111"/>
                </a:solidFill>
                <a:latin typeface="Calibri" pitchFamily="34" charset="0"/>
                <a:ea typeface="Calibri" pitchFamily="34" charset="-122"/>
                <a:cs typeface="Calibri" pitchFamily="34" charset="-120"/>
              </a:rPr>
              <a:t>Price leaves the range, then comes back to the POC</a:t>
            </a:r>
            <a:endParaRPr lang="en-US" sz="2400" dirty="0"/>
          </a:p>
        </p:txBody>
      </p:sp>
      <p:sp>
        <p:nvSpPr>
          <p:cNvPr id="9" name="Shape 6"/>
          <p:cNvSpPr/>
          <p:nvPr/>
        </p:nvSpPr>
        <p:spPr>
          <a:xfrm>
            <a:off x="640080" y="3291840"/>
            <a:ext cx="731520" cy="731520"/>
          </a:xfrm>
          <a:prstGeom prst="ellipse">
            <a:avLst/>
          </a:prstGeom>
          <a:solidFill>
            <a:srgbClr val="E8912D"/>
          </a:solidFill>
          <a:ln w="12700">
            <a:solidFill>
              <a:srgbClr val="E8912D"/>
            </a:solidFill>
            <a:prstDash val="solid"/>
          </a:ln>
        </p:spPr>
      </p:sp>
      <p:sp>
        <p:nvSpPr>
          <p:cNvPr id="10" name="Text 7"/>
          <p:cNvSpPr txBox="1"/>
          <p:nvPr/>
        </p:nvSpPr>
        <p:spPr>
          <a:xfrm>
            <a:off x="640080" y="32918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1" name="Shape 8"/>
          <p:cNvSpPr/>
          <p:nvPr/>
        </p:nvSpPr>
        <p:spPr>
          <a:xfrm>
            <a:off x="1645920" y="3200400"/>
            <a:ext cx="9905695" cy="914400"/>
          </a:xfrm>
          <a:prstGeom prst="roundRect">
            <a:avLst>
              <a:gd name="adj" fmla="val 6000"/>
            </a:avLst>
          </a:prstGeom>
          <a:solidFill>
            <a:srgbClr val="F2F2F2"/>
          </a:solidFill>
          <a:ln w="12700">
            <a:solidFill>
              <a:srgbClr val="F2F2F2"/>
            </a:solidFill>
            <a:prstDash val="solid"/>
          </a:ln>
        </p:spPr>
      </p:sp>
      <p:sp>
        <p:nvSpPr>
          <p:cNvPr id="12" name="Text 9"/>
          <p:cNvSpPr txBox="1"/>
          <p:nvPr/>
        </p:nvSpPr>
        <p:spPr>
          <a:xfrm>
            <a:off x="1920240" y="3200400"/>
            <a:ext cx="9448495" cy="914400"/>
          </a:xfrm>
          <a:prstGeom prst="rect">
            <a:avLst/>
          </a:prstGeom>
          <a:noFill/>
          <a:ln/>
        </p:spPr>
        <p:txBody>
          <a:bodyPr wrap="square" lIns="0" tIns="0" rIns="0" bIns="0" rtlCol="0" anchor="ctr"/>
          <a:lstStyle/>
          <a:p>
            <a:pPr indent="0" marL="0">
              <a:buNone/>
            </a:pPr>
            <a:r>
              <a:rPr lang="en-US" sz="2400" dirty="0">
                <a:solidFill>
                  <a:srgbClr val="111111"/>
                </a:solidFill>
                <a:latin typeface="Calibri" pitchFamily="34" charset="0"/>
                <a:ea typeface="Calibri" pitchFamily="34" charset="-122"/>
                <a:cs typeface="Calibri" pitchFamily="34" charset="-120"/>
              </a:rPr>
              <a:t>I don't enter on the touch. I wait for a reaction candle at the POC</a:t>
            </a:r>
            <a:endParaRPr lang="en-US" sz="2400" dirty="0"/>
          </a:p>
        </p:txBody>
      </p:sp>
      <p:sp>
        <p:nvSpPr>
          <p:cNvPr id="13" name="Shape 10"/>
          <p:cNvSpPr/>
          <p:nvPr/>
        </p:nvSpPr>
        <p:spPr>
          <a:xfrm>
            <a:off x="640080" y="4617720"/>
            <a:ext cx="731520" cy="731520"/>
          </a:xfrm>
          <a:prstGeom prst="ellipse">
            <a:avLst/>
          </a:prstGeom>
          <a:solidFill>
            <a:srgbClr val="E8912D"/>
          </a:solidFill>
          <a:ln w="12700">
            <a:solidFill>
              <a:srgbClr val="E8912D"/>
            </a:solidFill>
            <a:prstDash val="solid"/>
          </a:ln>
        </p:spPr>
      </p:sp>
      <p:sp>
        <p:nvSpPr>
          <p:cNvPr id="14" name="Text 11"/>
          <p:cNvSpPr txBox="1"/>
          <p:nvPr/>
        </p:nvSpPr>
        <p:spPr>
          <a:xfrm>
            <a:off x="640080" y="46177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15" name="Shape 12"/>
          <p:cNvSpPr/>
          <p:nvPr/>
        </p:nvSpPr>
        <p:spPr>
          <a:xfrm>
            <a:off x="1645920" y="4526280"/>
            <a:ext cx="9905695" cy="914400"/>
          </a:xfrm>
          <a:prstGeom prst="roundRect">
            <a:avLst>
              <a:gd name="adj" fmla="val 6000"/>
            </a:avLst>
          </a:prstGeom>
          <a:solidFill>
            <a:srgbClr val="F2F2F2"/>
          </a:solidFill>
          <a:ln w="12700">
            <a:solidFill>
              <a:srgbClr val="F2F2F2"/>
            </a:solidFill>
            <a:prstDash val="solid"/>
          </a:ln>
        </p:spPr>
      </p:sp>
      <p:sp>
        <p:nvSpPr>
          <p:cNvPr id="16" name="Text 13"/>
          <p:cNvSpPr txBox="1"/>
          <p:nvPr/>
        </p:nvSpPr>
        <p:spPr>
          <a:xfrm>
            <a:off x="1920240" y="4526280"/>
            <a:ext cx="9448495" cy="914400"/>
          </a:xfrm>
          <a:prstGeom prst="rect">
            <a:avLst/>
          </a:prstGeom>
          <a:noFill/>
          <a:ln/>
        </p:spPr>
        <p:txBody>
          <a:bodyPr wrap="square" lIns="0" tIns="0" rIns="0" bIns="0" rtlCol="0" anchor="ctr"/>
          <a:lstStyle/>
          <a:p>
            <a:pPr indent="0" marL="0">
              <a:buNone/>
            </a:pPr>
            <a:r>
              <a:rPr lang="en-US" sz="2400" dirty="0">
                <a:solidFill>
                  <a:srgbClr val="111111"/>
                </a:solidFill>
                <a:latin typeface="Calibri" pitchFamily="34" charset="0"/>
                <a:ea typeface="Calibri" pitchFamily="34" charset="-122"/>
                <a:cs typeface="Calibri" pitchFamily="34" charset="-120"/>
              </a:rPr>
              <a:t>If it lines up with my CRT direction, I enter on that candle's close</a:t>
            </a:r>
            <a:endParaRPr lang="en-US" sz="2400" dirty="0"/>
          </a:p>
        </p:txBody>
      </p:sp>
      <p:sp>
        <p:nvSpPr>
          <p:cNvPr id="17" name="Text 14"/>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8" name="Text 15"/>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Your Stop and Target on a POC Entry</a:t>
            </a:r>
            <a:endParaRPr lang="en-US" sz="3600" dirty="0"/>
          </a:p>
        </p:txBody>
      </p:sp>
      <p:sp>
        <p:nvSpPr>
          <p:cNvPr id="5" name="Shape 2"/>
          <p:cNvSpPr/>
          <p:nvPr/>
        </p:nvSpPr>
        <p:spPr>
          <a:xfrm>
            <a:off x="640080" y="1828800"/>
            <a:ext cx="3393338" cy="3200400"/>
          </a:xfrm>
          <a:prstGeom prst="roundRect">
            <a:avLst>
              <a:gd name="adj" fmla="val 2286"/>
            </a:avLst>
          </a:prstGeom>
          <a:solidFill>
            <a:srgbClr val="F2F2F2"/>
          </a:solidFill>
          <a:ln w="12700">
            <a:solidFill>
              <a:srgbClr val="F2F2F2"/>
            </a:solidFill>
            <a:prstDash val="solid"/>
          </a:ln>
        </p:spPr>
      </p:sp>
      <p:sp>
        <p:nvSpPr>
          <p:cNvPr id="6" name="Text 3"/>
          <p:cNvSpPr txBox="1"/>
          <p:nvPr/>
        </p:nvSpPr>
        <p:spPr>
          <a:xfrm>
            <a:off x="868680"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3.5–4</a:t>
            </a:r>
            <a:endParaRPr lang="en-US" sz="5400" dirty="0"/>
          </a:p>
        </p:txBody>
      </p:sp>
      <p:sp>
        <p:nvSpPr>
          <p:cNvPr id="7" name="Text 4"/>
          <p:cNvSpPr txBox="1"/>
          <p:nvPr/>
        </p:nvSpPr>
        <p:spPr>
          <a:xfrm>
            <a:off x="914400" y="3429000"/>
            <a:ext cx="2844698" cy="14630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point hard stop, measured from the reaction candle's close</a:t>
            </a:r>
            <a:endParaRPr lang="en-US" sz="2200" dirty="0"/>
          </a:p>
        </p:txBody>
      </p:sp>
      <p:sp>
        <p:nvSpPr>
          <p:cNvPr id="8" name="Shape 5"/>
          <p:cNvSpPr/>
          <p:nvPr/>
        </p:nvSpPr>
        <p:spPr>
          <a:xfrm>
            <a:off x="4399178" y="1828800"/>
            <a:ext cx="3393338" cy="3200400"/>
          </a:xfrm>
          <a:prstGeom prst="roundRect">
            <a:avLst>
              <a:gd name="adj" fmla="val 2286"/>
            </a:avLst>
          </a:prstGeom>
          <a:solidFill>
            <a:srgbClr val="F2F2F2"/>
          </a:solidFill>
          <a:ln w="12700">
            <a:solidFill>
              <a:srgbClr val="F2F2F2"/>
            </a:solidFill>
            <a:prstDash val="solid"/>
          </a:ln>
        </p:spPr>
      </p:sp>
      <p:sp>
        <p:nvSpPr>
          <p:cNvPr id="9" name="Text 6"/>
          <p:cNvSpPr txBox="1"/>
          <p:nvPr/>
        </p:nvSpPr>
        <p:spPr>
          <a:xfrm>
            <a:off x="4627778" y="2103120"/>
            <a:ext cx="2936138" cy="1188720"/>
          </a:xfrm>
          <a:prstGeom prst="rect">
            <a:avLst/>
          </a:prstGeom>
          <a:noFill/>
          <a:ln/>
        </p:spPr>
        <p:txBody>
          <a:bodyPr wrap="square" lIns="0" tIns="0" rIns="0" bIns="0" rtlCol="0" anchor="ctr"/>
          <a:lstStyle/>
          <a:p>
            <a:pPr algn="ctr" indent="0" marL="0">
              <a:buNone/>
            </a:pPr>
            <a:r>
              <a:rPr lang="en-US" sz="3600" b="1" dirty="0">
                <a:solidFill>
                  <a:srgbClr val="E8912D"/>
                </a:solidFill>
                <a:latin typeface="Arial" pitchFamily="34" charset="0"/>
                <a:ea typeface="Arial" pitchFamily="34" charset="-122"/>
                <a:cs typeface="Arial" pitchFamily="34" charset="-120"/>
              </a:rPr>
              <a:t>Session H/L</a:t>
            </a:r>
            <a:endParaRPr lang="en-US" sz="3600" dirty="0"/>
          </a:p>
        </p:txBody>
      </p:sp>
      <p:sp>
        <p:nvSpPr>
          <p:cNvPr id="10" name="Text 7"/>
          <p:cNvSpPr txBox="1"/>
          <p:nvPr/>
        </p:nvSpPr>
        <p:spPr>
          <a:xfrm>
            <a:off x="4673498" y="3429000"/>
            <a:ext cx="2844698" cy="14630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target: the untaken liquidity in your direction</a:t>
            </a:r>
            <a:endParaRPr lang="en-US" sz="2200" dirty="0"/>
          </a:p>
        </p:txBody>
      </p:sp>
      <p:sp>
        <p:nvSpPr>
          <p:cNvPr id="11" name="Shape 8"/>
          <p:cNvSpPr/>
          <p:nvPr/>
        </p:nvSpPr>
        <p:spPr>
          <a:xfrm>
            <a:off x="8158277" y="1828800"/>
            <a:ext cx="3393338" cy="3200400"/>
          </a:xfrm>
          <a:prstGeom prst="roundRect">
            <a:avLst>
              <a:gd name="adj" fmla="val 2286"/>
            </a:avLst>
          </a:prstGeom>
          <a:solidFill>
            <a:srgbClr val="F2F2F2"/>
          </a:solidFill>
          <a:ln w="12700">
            <a:solidFill>
              <a:srgbClr val="F2F2F2"/>
            </a:solidFill>
            <a:prstDash val="solid"/>
          </a:ln>
        </p:spPr>
      </p:sp>
      <p:sp>
        <p:nvSpPr>
          <p:cNvPr id="12" name="Text 9"/>
          <p:cNvSpPr txBox="1"/>
          <p:nvPr/>
        </p:nvSpPr>
        <p:spPr>
          <a:xfrm>
            <a:off x="8386877" y="2103120"/>
            <a:ext cx="2936138" cy="1188720"/>
          </a:xfrm>
          <a:prstGeom prst="rect">
            <a:avLst/>
          </a:prstGeom>
          <a:noFill/>
          <a:ln/>
        </p:spPr>
        <p:txBody>
          <a:bodyPr wrap="square" lIns="0" tIns="0" rIns="0" bIns="0" rtlCol="0" anchor="ctr"/>
          <a:lstStyle/>
          <a:p>
            <a:pPr algn="ctr" indent="0" marL="0">
              <a:buNone/>
            </a:pPr>
            <a:r>
              <a:rPr lang="en-US" sz="5400" b="1" dirty="0">
                <a:solidFill>
                  <a:srgbClr val="E8912D"/>
                </a:solidFill>
                <a:latin typeface="Arial" pitchFamily="34" charset="0"/>
                <a:ea typeface="Arial" pitchFamily="34" charset="-122"/>
                <a:cs typeface="Arial" pitchFamily="34" charset="-120"/>
              </a:rPr>
              <a:t>±1 pt</a:t>
            </a:r>
            <a:endParaRPr lang="en-US" sz="5400" dirty="0"/>
          </a:p>
        </p:txBody>
      </p:sp>
      <p:sp>
        <p:nvSpPr>
          <p:cNvPr id="13" name="Text 10"/>
          <p:cNvSpPr txBox="1"/>
          <p:nvPr/>
        </p:nvSpPr>
        <p:spPr>
          <a:xfrm>
            <a:off x="8432597" y="3429000"/>
            <a:ext cx="2844698" cy="1463040"/>
          </a:xfrm>
          <a:prstGeom prst="rect">
            <a:avLst/>
          </a:prstGeom>
          <a:noFill/>
          <a:ln/>
        </p:spPr>
        <p:txBody>
          <a:bodyPr wrap="square" lIns="0" tIns="0" rIns="0" bIns="0" rtlCol="0" anchor="t"/>
          <a:lstStyle/>
          <a:p>
            <a:pPr algn="ctr" indent="0" marL="0">
              <a:buNone/>
            </a:pPr>
            <a:r>
              <a:rPr lang="en-US" sz="2200" dirty="0">
                <a:solidFill>
                  <a:srgbClr val="111111"/>
                </a:solidFill>
                <a:latin typeface="Calibri" pitchFamily="34" charset="0"/>
                <a:ea typeface="Calibri" pitchFamily="34" charset="-122"/>
                <a:cs typeface="Calibri" pitchFamily="34" charset="-120"/>
              </a:rPr>
              <a:t>exit at that line or within a point of it</a:t>
            </a:r>
            <a:endParaRPr lang="en-US" sz="2200" dirty="0"/>
          </a:p>
        </p:txBody>
      </p:sp>
      <p:sp>
        <p:nvSpPr>
          <p:cNvPr id="14" name="Text 11"/>
          <p:cNvSpPr txBox="1"/>
          <p:nvPr/>
        </p:nvSpPr>
        <p:spPr>
          <a:xfrm>
            <a:off x="640080" y="5349240"/>
            <a:ext cx="10911535" cy="640080"/>
          </a:xfrm>
          <a:prstGeom prst="rect">
            <a:avLst/>
          </a:prstGeom>
          <a:noFill/>
          <a:ln/>
        </p:spPr>
        <p:txBody>
          <a:bodyPr wrap="square" lIns="0" tIns="0" rIns="0" bIns="0" rtlCol="0" anchor="t"/>
          <a:lstStyle/>
          <a:p>
            <a:pPr indent="0" marL="0">
              <a:buNone/>
            </a:pPr>
            <a:r>
              <a:rPr lang="en-US" sz="2400" b="1" dirty="0">
                <a:solidFill>
                  <a:srgbClr val="111111"/>
                </a:solidFill>
                <a:latin typeface="Calibri" pitchFamily="34" charset="0"/>
                <a:ea typeface="Calibri" pitchFamily="34" charset="-122"/>
                <a:cs typeface="Calibri" pitchFamily="34" charset="-120"/>
              </a:rPr>
              <a:t>No stop, no trade. Full risk rules are in Module 5.</a:t>
            </a:r>
            <a:endParaRPr lang="en-US" sz="2400" dirty="0"/>
          </a:p>
        </p:txBody>
      </p:sp>
      <p:sp>
        <p:nvSpPr>
          <p:cNvPr id="15" name="Text 1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6" name="Text 1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C0392B"/>
                </a:solidFill>
                <a:latin typeface="Arial" pitchFamily="34" charset="0"/>
                <a:ea typeface="Arial" pitchFamily="34" charset="-122"/>
                <a:cs typeface="Arial" pitchFamily="34" charset="-120"/>
              </a:rPr>
              <a:t>EXAMPLE</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The POC as the Entry</a:t>
            </a:r>
            <a:endParaRPr lang="en-US" sz="3600" dirty="0"/>
          </a:p>
        </p:txBody>
      </p:sp>
      <p:pic>
        <p:nvPicPr>
          <p:cNvPr id="5" name="Image 0" descr="Example with synthetic candles on a 30-minute chart, not a real trade">    </p:cNvPr>
          <p:cNvPicPr>
            <a:picLocks noChangeAspect="1"/>
          </p:cNvPicPr>
          <p:nvPr/>
        </p:nvPicPr>
        <p:blipFill>
          <a:blip r:embed="rId1"/>
          <a:stretch>
            <a:fillRect/>
          </a:stretch>
        </p:blipFill>
        <p:spPr>
          <a:xfrm>
            <a:off x="1405799" y="1691640"/>
            <a:ext cx="9380098" cy="4114800"/>
          </a:xfrm>
          <a:prstGeom prst="rect">
            <a:avLst/>
          </a:prstGeom>
        </p:spPr>
      </p:pic>
      <p:sp>
        <p:nvSpPr>
          <p:cNvPr id="6" name="Text 2"/>
          <p:cNvSpPr txBox="1"/>
          <p:nvPr/>
        </p:nvSpPr>
        <p:spPr>
          <a:xfrm>
            <a:off x="640080" y="5897880"/>
            <a:ext cx="10911535" cy="365760"/>
          </a:xfrm>
          <a:prstGeom prst="rect">
            <a:avLst/>
          </a:prstGeom>
          <a:noFill/>
          <a:ln/>
        </p:spPr>
        <p:txBody>
          <a:bodyPr wrap="square" lIns="0" tIns="0" rIns="0" bIns="0" rtlCol="0" anchor="t"/>
          <a:lstStyle/>
          <a:p>
            <a:pPr algn="ctr" indent="0" marL="0">
              <a:buNone/>
            </a:pPr>
            <a:r>
              <a:rPr lang="en-US" sz="1600" i="1" dirty="0">
                <a:solidFill>
                  <a:srgbClr val="C0392B"/>
                </a:solidFill>
                <a:latin typeface="Calibri" pitchFamily="34" charset="0"/>
                <a:ea typeface="Calibri" pitchFamily="34" charset="-122"/>
                <a:cs typeface="Calibri" pitchFamily="34" charset="-120"/>
              </a:rPr>
              <a:t>Example with synthetic candles on a 30-minute chart, not a real trade</a:t>
            </a:r>
            <a:endParaRPr lang="en-US" sz="1600" dirty="0"/>
          </a:p>
        </p:txBody>
      </p:sp>
      <p:sp>
        <p:nvSpPr>
          <p:cNvPr id="7" name="Text 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8" name="Text 4"/>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POC on Real Setups</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30-minute chart: draw the profile over the range you trade</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Setup #1: the POC as the target</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Setup #2: the POC as the entry, with stop and target marked</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4.5</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On the 30-minute chart, draw Volume Profile on your range and mark the POC</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On your Module 3 CRT screenshot, mark the POC: entry or target?</a:t>
            </a:r>
            <a:endParaRPr lang="en-US" sz="2600" dirty="0"/>
          </a:p>
        </p:txBody>
      </p:sp>
      <p:sp>
        <p:nvSpPr>
          <p:cNvPr id="11" name="Shape 8"/>
          <p:cNvSpPr/>
          <p:nvPr/>
        </p:nvSpPr>
        <p:spPr>
          <a:xfrm>
            <a:off x="640080" y="4206240"/>
            <a:ext cx="640080" cy="640080"/>
          </a:xfrm>
          <a:prstGeom prst="ellipse">
            <a:avLst/>
          </a:prstGeom>
          <a:solidFill>
            <a:srgbClr val="FFFFFF"/>
          </a:solidFill>
          <a:ln w="12700">
            <a:solidFill>
              <a:srgbClr val="FFFFFF"/>
            </a:solidFill>
            <a:prstDash val="solid"/>
          </a:ln>
        </p:spPr>
      </p:sp>
      <p:sp>
        <p:nvSpPr>
          <p:cNvPr id="12" name="Text 9"/>
          <p:cNvSpPr txBox="1"/>
          <p:nvPr/>
        </p:nvSpPr>
        <p:spPr>
          <a:xfrm>
            <a:off x="640080" y="420624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3</a:t>
            </a:r>
            <a:endParaRPr lang="en-US" sz="2400" dirty="0"/>
          </a:p>
        </p:txBody>
      </p:sp>
      <p:sp>
        <p:nvSpPr>
          <p:cNvPr id="13" name="Text 10"/>
          <p:cNvSpPr txBox="1"/>
          <p:nvPr/>
        </p:nvSpPr>
        <p:spPr>
          <a:xfrm>
            <a:off x="1645920" y="411480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Post it with your entry, stop and target marked</a:t>
            </a:r>
            <a:endParaRPr lang="en-US" sz="26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4.5</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0"/>
          <p:cNvSpPr txBox="1"/>
          <p:nvPr/>
        </p:nvSpPr>
        <p:spPr>
          <a:xfrm>
            <a:off x="640080" y="2377440"/>
            <a:ext cx="7315200" cy="457200"/>
          </a:xfrm>
          <a:prstGeom prst="rect">
            <a:avLst/>
          </a:prstGeom>
          <a:noFill/>
          <a:ln/>
        </p:spPr>
        <p:txBody>
          <a:bodyPr wrap="square" lIns="0" tIns="0" rIns="0" bIns="0" rtlCol="0" anchor="t"/>
          <a:lstStyle/>
          <a:p>
            <a:pPr indent="0" marL="0">
              <a:buNone/>
            </a:pPr>
            <a:r>
              <a:rPr lang="en-US" sz="2200" b="1" spc="600" kern="0" dirty="0">
                <a:solidFill>
                  <a:srgbClr val="E8912D"/>
                </a:solidFill>
                <a:latin typeface="Arial" pitchFamily="34" charset="0"/>
                <a:ea typeface="Arial" pitchFamily="34" charset="-122"/>
                <a:cs typeface="Arial" pitchFamily="34" charset="-120"/>
              </a:rPr>
              <a:t>LESSON 4.6</a:t>
            </a:r>
            <a:endParaRPr lang="en-US" sz="2200" dirty="0"/>
          </a:p>
        </p:txBody>
      </p:sp>
      <p:sp>
        <p:nvSpPr>
          <p:cNvPr id="4" name="Text 1"/>
          <p:cNvSpPr txBox="1"/>
          <p:nvPr/>
        </p:nvSpPr>
        <p:spPr>
          <a:xfrm>
            <a:off x="640080" y="2926080"/>
            <a:ext cx="10515600" cy="128016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Combining Both Tools with CRT</a:t>
            </a:r>
            <a:endParaRPr lang="en-US" sz="4800" dirty="0"/>
          </a:p>
        </p:txBody>
      </p:sp>
      <p:sp>
        <p:nvSpPr>
          <p:cNvPr id="5" name="Text 2"/>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6" name="Text 3"/>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4.6</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TELL</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111111"/>
                </a:solidFill>
                <a:latin typeface="Arial" pitchFamily="34" charset="0"/>
                <a:ea typeface="Arial" pitchFamily="34" charset="-122"/>
                <a:cs typeface="Arial" pitchFamily="34" charset="-120"/>
              </a:rPr>
              <a:t>3 Tools, 1 Trade</a:t>
            </a:r>
            <a:endParaRPr lang="en-US" sz="3600" dirty="0"/>
          </a:p>
        </p:txBody>
      </p:sp>
      <p:sp>
        <p:nvSpPr>
          <p:cNvPr id="5" name="Shape 2"/>
          <p:cNvSpPr/>
          <p:nvPr/>
        </p:nvSpPr>
        <p:spPr>
          <a:xfrm>
            <a:off x="640080" y="1920240"/>
            <a:ext cx="3210458" cy="2926080"/>
          </a:xfrm>
          <a:prstGeom prst="roundRect">
            <a:avLst>
              <a:gd name="adj" fmla="val 2500"/>
            </a:avLst>
          </a:prstGeom>
          <a:solidFill>
            <a:srgbClr val="F2F2F2"/>
          </a:solidFill>
          <a:ln w="12700">
            <a:solidFill>
              <a:srgbClr val="F2F2F2"/>
            </a:solidFill>
            <a:prstDash val="solid"/>
          </a:ln>
        </p:spPr>
      </p:sp>
      <p:sp>
        <p:nvSpPr>
          <p:cNvPr id="6" name="Text 3"/>
          <p:cNvSpPr txBox="1"/>
          <p:nvPr/>
        </p:nvSpPr>
        <p:spPr>
          <a:xfrm>
            <a:off x="914400" y="2240280"/>
            <a:ext cx="2661818" cy="45720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SESSION LIQUIDITY</a:t>
            </a:r>
            <a:endParaRPr lang="en-US" sz="2000" dirty="0"/>
          </a:p>
        </p:txBody>
      </p:sp>
      <p:sp>
        <p:nvSpPr>
          <p:cNvPr id="7" name="Text 4"/>
          <p:cNvSpPr txBox="1"/>
          <p:nvPr/>
        </p:nvSpPr>
        <p:spPr>
          <a:xfrm>
            <a:off x="914400" y="2880360"/>
            <a:ext cx="2661818" cy="1737360"/>
          </a:xfrm>
          <a:prstGeom prst="rect">
            <a:avLst/>
          </a:prstGeom>
          <a:noFill/>
          <a:ln/>
        </p:spPr>
        <p:txBody>
          <a:bodyPr wrap="square" lIns="0" tIns="0" rIns="0" bIns="0" rtlCol="0" anchor="t"/>
          <a:lstStyle/>
          <a:p>
            <a:pPr indent="0" marL="0">
              <a:buNone/>
            </a:pPr>
            <a:r>
              <a:rPr lang="en-US" sz="2800" b="1" dirty="0">
                <a:solidFill>
                  <a:srgbClr val="111111"/>
                </a:solidFill>
                <a:latin typeface="Calibri" pitchFamily="34" charset="0"/>
                <a:ea typeface="Calibri" pitchFamily="34" charset="-122"/>
                <a:cs typeface="Calibri" pitchFamily="34" charset="-120"/>
              </a:rPr>
              <a:t>Where price is headed</a:t>
            </a:r>
            <a:endParaRPr lang="en-US" sz="2800" dirty="0"/>
          </a:p>
        </p:txBody>
      </p:sp>
      <p:sp>
        <p:nvSpPr>
          <p:cNvPr id="8" name="Shape 5"/>
          <p:cNvSpPr/>
          <p:nvPr/>
        </p:nvSpPr>
        <p:spPr>
          <a:xfrm>
            <a:off x="3960266" y="3172968"/>
            <a:ext cx="420624" cy="420624"/>
          </a:xfrm>
          <a:prstGeom prst="rightArrow">
            <a:avLst/>
          </a:prstGeom>
          <a:solidFill>
            <a:srgbClr val="111111"/>
          </a:solidFill>
          <a:ln w="12700">
            <a:solidFill>
              <a:srgbClr val="111111"/>
            </a:solidFill>
            <a:prstDash val="solid"/>
          </a:ln>
        </p:spPr>
      </p:sp>
      <p:sp>
        <p:nvSpPr>
          <p:cNvPr id="9" name="Shape 6"/>
          <p:cNvSpPr/>
          <p:nvPr/>
        </p:nvSpPr>
        <p:spPr>
          <a:xfrm>
            <a:off x="4490618" y="1920240"/>
            <a:ext cx="3210458" cy="2926080"/>
          </a:xfrm>
          <a:prstGeom prst="roundRect">
            <a:avLst>
              <a:gd name="adj" fmla="val 2500"/>
            </a:avLst>
          </a:prstGeom>
          <a:solidFill>
            <a:srgbClr val="F2F2F2"/>
          </a:solidFill>
          <a:ln w="12700">
            <a:solidFill>
              <a:srgbClr val="F2F2F2"/>
            </a:solidFill>
            <a:prstDash val="solid"/>
          </a:ln>
        </p:spPr>
      </p:sp>
      <p:sp>
        <p:nvSpPr>
          <p:cNvPr id="10" name="Text 7"/>
          <p:cNvSpPr txBox="1"/>
          <p:nvPr/>
        </p:nvSpPr>
        <p:spPr>
          <a:xfrm>
            <a:off x="4764938" y="2240280"/>
            <a:ext cx="2661818" cy="45720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CRT</a:t>
            </a:r>
            <a:endParaRPr lang="en-US" sz="2000" dirty="0"/>
          </a:p>
        </p:txBody>
      </p:sp>
      <p:sp>
        <p:nvSpPr>
          <p:cNvPr id="11" name="Text 8"/>
          <p:cNvSpPr txBox="1"/>
          <p:nvPr/>
        </p:nvSpPr>
        <p:spPr>
          <a:xfrm>
            <a:off x="4764938" y="2880360"/>
            <a:ext cx="2661818" cy="1737360"/>
          </a:xfrm>
          <a:prstGeom prst="rect">
            <a:avLst/>
          </a:prstGeom>
          <a:noFill/>
          <a:ln/>
        </p:spPr>
        <p:txBody>
          <a:bodyPr wrap="square" lIns="0" tIns="0" rIns="0" bIns="0" rtlCol="0" anchor="t"/>
          <a:lstStyle/>
          <a:p>
            <a:pPr indent="0" marL="0">
              <a:buNone/>
            </a:pPr>
            <a:r>
              <a:rPr lang="en-US" sz="2800" b="1" dirty="0">
                <a:solidFill>
                  <a:srgbClr val="111111"/>
                </a:solidFill>
                <a:latin typeface="Calibri" pitchFamily="34" charset="0"/>
                <a:ea typeface="Calibri" pitchFamily="34" charset="-122"/>
                <a:cs typeface="Calibri" pitchFamily="34" charset="-120"/>
              </a:rPr>
              <a:t>The sweep and the entry</a:t>
            </a:r>
            <a:endParaRPr lang="en-US" sz="2800" dirty="0"/>
          </a:p>
        </p:txBody>
      </p:sp>
      <p:sp>
        <p:nvSpPr>
          <p:cNvPr id="12" name="Shape 9"/>
          <p:cNvSpPr/>
          <p:nvPr/>
        </p:nvSpPr>
        <p:spPr>
          <a:xfrm>
            <a:off x="7810805" y="3172968"/>
            <a:ext cx="420624" cy="420624"/>
          </a:xfrm>
          <a:prstGeom prst="rightArrow">
            <a:avLst/>
          </a:prstGeom>
          <a:solidFill>
            <a:srgbClr val="111111"/>
          </a:solidFill>
          <a:ln w="12700">
            <a:solidFill>
              <a:srgbClr val="111111"/>
            </a:solidFill>
            <a:prstDash val="solid"/>
          </a:ln>
        </p:spPr>
      </p:sp>
      <p:sp>
        <p:nvSpPr>
          <p:cNvPr id="13" name="Shape 10"/>
          <p:cNvSpPr/>
          <p:nvPr/>
        </p:nvSpPr>
        <p:spPr>
          <a:xfrm>
            <a:off x="8341157" y="1920240"/>
            <a:ext cx="3210458" cy="2926080"/>
          </a:xfrm>
          <a:prstGeom prst="roundRect">
            <a:avLst>
              <a:gd name="adj" fmla="val 2500"/>
            </a:avLst>
          </a:prstGeom>
          <a:solidFill>
            <a:srgbClr val="F2F2F2"/>
          </a:solidFill>
          <a:ln w="12700">
            <a:solidFill>
              <a:srgbClr val="F2F2F2"/>
            </a:solidFill>
            <a:prstDash val="solid"/>
          </a:ln>
        </p:spPr>
      </p:sp>
      <p:sp>
        <p:nvSpPr>
          <p:cNvPr id="14" name="Text 11"/>
          <p:cNvSpPr txBox="1"/>
          <p:nvPr/>
        </p:nvSpPr>
        <p:spPr>
          <a:xfrm>
            <a:off x="8615477" y="2240280"/>
            <a:ext cx="2661818" cy="457200"/>
          </a:xfrm>
          <a:prstGeom prst="rect">
            <a:avLst/>
          </a:prstGeom>
          <a:noFill/>
          <a:ln/>
        </p:spPr>
        <p:txBody>
          <a:bodyPr wrap="square" lIns="0" tIns="0" rIns="0" bIns="0" rtlCol="0" anchor="t"/>
          <a:lstStyle/>
          <a:p>
            <a:pPr indent="0" marL="0">
              <a:buNone/>
            </a:pPr>
            <a:r>
              <a:rPr lang="en-US" sz="2000" b="1" spc="200" kern="0" dirty="0">
                <a:solidFill>
                  <a:srgbClr val="E8912D"/>
                </a:solidFill>
                <a:latin typeface="Arial" pitchFamily="34" charset="0"/>
                <a:ea typeface="Arial" pitchFamily="34" charset="-122"/>
                <a:cs typeface="Arial" pitchFamily="34" charset="-120"/>
              </a:rPr>
              <a:t>VOLUME PROFILE</a:t>
            </a:r>
            <a:endParaRPr lang="en-US" sz="2000" dirty="0"/>
          </a:p>
        </p:txBody>
      </p:sp>
      <p:sp>
        <p:nvSpPr>
          <p:cNvPr id="15" name="Text 12"/>
          <p:cNvSpPr txBox="1"/>
          <p:nvPr/>
        </p:nvSpPr>
        <p:spPr>
          <a:xfrm>
            <a:off x="8615477" y="2880360"/>
            <a:ext cx="2661818" cy="1737360"/>
          </a:xfrm>
          <a:prstGeom prst="rect">
            <a:avLst/>
          </a:prstGeom>
          <a:noFill/>
          <a:ln/>
        </p:spPr>
        <p:txBody>
          <a:bodyPr wrap="square" lIns="0" tIns="0" rIns="0" bIns="0" rtlCol="0" anchor="t"/>
          <a:lstStyle/>
          <a:p>
            <a:pPr indent="0" marL="0">
              <a:buNone/>
            </a:pPr>
            <a:r>
              <a:rPr lang="en-US" sz="2800" b="1" dirty="0">
                <a:solidFill>
                  <a:srgbClr val="111111"/>
                </a:solidFill>
                <a:latin typeface="Calibri" pitchFamily="34" charset="0"/>
                <a:ea typeface="Calibri" pitchFamily="34" charset="-122"/>
                <a:cs typeface="Calibri" pitchFamily="34" charset="-120"/>
              </a:rPr>
              <a:t>Does volume agree? Where's the POC?</a:t>
            </a:r>
            <a:endParaRPr lang="en-US" sz="2800" dirty="0"/>
          </a:p>
        </p:txBody>
      </p:sp>
      <p:sp>
        <p:nvSpPr>
          <p:cNvPr id="16" name="Text 13"/>
          <p:cNvSpPr txBox="1"/>
          <p:nvPr/>
        </p:nvSpPr>
        <p:spPr>
          <a:xfrm>
            <a:off x="640080" y="5257800"/>
            <a:ext cx="10911535" cy="640080"/>
          </a:xfrm>
          <a:prstGeom prst="rect">
            <a:avLst/>
          </a:prstGeom>
          <a:noFill/>
          <a:ln/>
        </p:spPr>
        <p:txBody>
          <a:bodyPr wrap="square" lIns="0" tIns="0" rIns="0" bIns="0" rtlCol="0" anchor="t"/>
          <a:lstStyle/>
          <a:p>
            <a:pPr indent="0" marL="0">
              <a:buNone/>
            </a:pPr>
            <a:r>
              <a:rPr lang="en-US" sz="2400" dirty="0">
                <a:solidFill>
                  <a:srgbClr val="6E6E6E"/>
                </a:solidFill>
                <a:latin typeface="Calibri" pitchFamily="34" charset="0"/>
                <a:ea typeface="Calibri" pitchFamily="34" charset="-122"/>
                <a:cs typeface="Calibri" pitchFamily="34" charset="-120"/>
              </a:rPr>
              <a:t>None of these tools work alone. They have to agree.</a:t>
            </a:r>
            <a:endParaRPr lang="en-US" sz="2400" dirty="0"/>
          </a:p>
        </p:txBody>
      </p:sp>
      <p:sp>
        <p:nvSpPr>
          <p:cNvPr id="17" name="Text 14"/>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A8A8A8"/>
                </a:solidFill>
                <a:latin typeface="Calibri" pitchFamily="34" charset="0"/>
                <a:ea typeface="Calibri" pitchFamily="34" charset="-122"/>
                <a:cs typeface="Calibri" pitchFamily="34" charset="-120"/>
              </a:rPr>
              <a:t>Defined Risk Trading</a:t>
            </a:r>
            <a:endParaRPr lang="en-US" sz="1100" dirty="0"/>
          </a:p>
        </p:txBody>
      </p:sp>
      <p:sp>
        <p:nvSpPr>
          <p:cNvPr id="18" name="Text 15"/>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A8A8A8"/>
                </a:solidFill>
                <a:latin typeface="Calibri" pitchFamily="34" charset="0"/>
                <a:ea typeface="Calibri" pitchFamily="34" charset="-122"/>
                <a:cs typeface="Calibri" pitchFamily="34" charset="-120"/>
              </a:rPr>
              <a:t>MODULE 4  •  LESSON 4.6</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Shape 0"/>
          <p:cNvSpPr/>
          <p:nvPr/>
        </p:nvSpPr>
        <p:spPr>
          <a:xfrm>
            <a:off x="411480" y="365760"/>
            <a:ext cx="11368735" cy="5852160"/>
          </a:xfrm>
          <a:prstGeom prst="roundRect">
            <a:avLst>
              <a:gd name="adj" fmla="val 1563"/>
            </a:avLst>
          </a:prstGeom>
          <a:solidFill>
            <a:srgbClr val="111111"/>
          </a:solidFill>
          <a:ln w="38100">
            <a:solidFill>
              <a:srgbClr val="E8912D"/>
            </a:solidFill>
            <a:prstDash val="dash"/>
          </a:ln>
        </p:spPr>
      </p:sp>
      <p:pic>
        <p:nvPicPr>
          <p:cNvPr id="4" name="Image 0" descr="preencoded.png">    </p:cNvPr>
          <p:cNvPicPr>
            <a:picLocks noChangeAspect="1"/>
          </p:cNvPicPr>
          <p:nvPr/>
        </p:nvPicPr>
        <p:blipFill>
          <a:blip r:embed="rId1"/>
          <a:stretch>
            <a:fillRect/>
          </a:stretch>
        </p:blipFill>
        <p:spPr>
          <a:xfrm>
            <a:off x="822960" y="685800"/>
            <a:ext cx="731520" cy="731520"/>
          </a:xfrm>
          <a:prstGeom prst="rect">
            <a:avLst/>
          </a:prstGeom>
        </p:spPr>
      </p:pic>
      <p:sp>
        <p:nvSpPr>
          <p:cNvPr id="5" name="Text 1"/>
          <p:cNvSpPr txBox="1"/>
          <p:nvPr/>
        </p:nvSpPr>
        <p:spPr>
          <a:xfrm>
            <a:off x="1737360" y="685800"/>
            <a:ext cx="7315200" cy="365760"/>
          </a:xfrm>
          <a:prstGeom prst="rect">
            <a:avLst/>
          </a:prstGeom>
          <a:noFill/>
          <a:ln/>
        </p:spPr>
        <p:txBody>
          <a:bodyPr wrap="square" lIns="0" tIns="0" rIns="0" bIns="0" rtlCol="0" anchor="t"/>
          <a:lstStyle/>
          <a:p>
            <a:pPr indent="0" marL="0">
              <a:buNone/>
            </a:pPr>
            <a:r>
              <a:rPr lang="en-US" sz="1800" b="1" spc="400" kern="0" dirty="0">
                <a:solidFill>
                  <a:srgbClr val="E8912D"/>
                </a:solidFill>
                <a:latin typeface="Arial" pitchFamily="34" charset="0"/>
                <a:ea typeface="Arial" pitchFamily="34" charset="-122"/>
                <a:cs typeface="Arial" pitchFamily="34" charset="-120"/>
              </a:rPr>
              <a:t>SCREEN-SHARE: TRADINGVIEW</a:t>
            </a:r>
            <a:endParaRPr lang="en-US" sz="1800" dirty="0"/>
          </a:p>
        </p:txBody>
      </p:sp>
      <p:sp>
        <p:nvSpPr>
          <p:cNvPr id="6" name="Text 2"/>
          <p:cNvSpPr txBox="1"/>
          <p:nvPr/>
        </p:nvSpPr>
        <p:spPr>
          <a:xfrm>
            <a:off x="1737360" y="1051560"/>
            <a:ext cx="9631375"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One Trade, All Three Tools</a:t>
            </a:r>
            <a:endParaRPr lang="en-US" sz="3600" dirty="0"/>
          </a:p>
        </p:txBody>
      </p:sp>
      <p:sp>
        <p:nvSpPr>
          <p:cNvPr id="7" name="Text 3"/>
          <p:cNvSpPr txBox="1"/>
          <p:nvPr/>
        </p:nvSpPr>
        <p:spPr>
          <a:xfrm>
            <a:off x="822960" y="2240280"/>
            <a:ext cx="5486400" cy="365760"/>
          </a:xfrm>
          <a:prstGeom prst="rect">
            <a:avLst/>
          </a:prstGeom>
          <a:noFill/>
          <a:ln/>
        </p:spPr>
        <p:txBody>
          <a:bodyPr wrap="square" lIns="0" tIns="0" rIns="0" bIns="0" rtlCol="0" anchor="t"/>
          <a:lstStyle/>
          <a:p>
            <a:pPr indent="0" marL="0">
              <a:buNone/>
            </a:pPr>
            <a:r>
              <a:rPr lang="en-US" sz="1600" b="1" spc="300" kern="0" dirty="0">
                <a:solidFill>
                  <a:srgbClr val="A8A8A8"/>
                </a:solidFill>
                <a:latin typeface="Arial" pitchFamily="34" charset="0"/>
                <a:ea typeface="Arial" pitchFamily="34" charset="-122"/>
                <a:cs typeface="Arial" pitchFamily="34" charset="-120"/>
              </a:rPr>
              <a:t>ON THE CHART</a:t>
            </a:r>
            <a:endParaRPr lang="en-US" sz="1600" dirty="0"/>
          </a:p>
        </p:txBody>
      </p:sp>
      <p:sp>
        <p:nvSpPr>
          <p:cNvPr id="8" name="Shape 4"/>
          <p:cNvSpPr/>
          <p:nvPr/>
        </p:nvSpPr>
        <p:spPr>
          <a:xfrm>
            <a:off x="822960" y="2816352"/>
            <a:ext cx="548640" cy="548640"/>
          </a:xfrm>
          <a:prstGeom prst="ellipse">
            <a:avLst/>
          </a:prstGeom>
          <a:solidFill>
            <a:srgbClr val="E8912D"/>
          </a:solidFill>
          <a:ln w="12700">
            <a:solidFill>
              <a:srgbClr val="E8912D"/>
            </a:solidFill>
            <a:prstDash val="solid"/>
          </a:ln>
        </p:spPr>
      </p:sp>
      <p:sp>
        <p:nvSpPr>
          <p:cNvPr id="9" name="Text 5"/>
          <p:cNvSpPr txBox="1"/>
          <p:nvPr/>
        </p:nvSpPr>
        <p:spPr>
          <a:xfrm>
            <a:off x="822960" y="28163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1</a:t>
            </a:r>
            <a:endParaRPr lang="en-US" sz="2200" dirty="0"/>
          </a:p>
        </p:txBody>
      </p:sp>
      <p:sp>
        <p:nvSpPr>
          <p:cNvPr id="10" name="Text 6"/>
          <p:cNvSpPr txBox="1"/>
          <p:nvPr/>
        </p:nvSpPr>
        <p:spPr>
          <a:xfrm>
            <a:off x="1645920" y="27432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Mark the session liquidity target</a:t>
            </a:r>
            <a:endParaRPr lang="en-US" sz="2600" dirty="0"/>
          </a:p>
        </p:txBody>
      </p:sp>
      <p:sp>
        <p:nvSpPr>
          <p:cNvPr id="11" name="Shape 7"/>
          <p:cNvSpPr/>
          <p:nvPr/>
        </p:nvSpPr>
        <p:spPr>
          <a:xfrm>
            <a:off x="822960" y="3730752"/>
            <a:ext cx="548640" cy="548640"/>
          </a:xfrm>
          <a:prstGeom prst="ellipse">
            <a:avLst/>
          </a:prstGeom>
          <a:solidFill>
            <a:srgbClr val="E8912D"/>
          </a:solidFill>
          <a:ln w="12700">
            <a:solidFill>
              <a:srgbClr val="E8912D"/>
            </a:solidFill>
            <a:prstDash val="solid"/>
          </a:ln>
        </p:spPr>
      </p:sp>
      <p:sp>
        <p:nvSpPr>
          <p:cNvPr id="12" name="Text 8"/>
          <p:cNvSpPr txBox="1"/>
          <p:nvPr/>
        </p:nvSpPr>
        <p:spPr>
          <a:xfrm>
            <a:off x="822960" y="37307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2</a:t>
            </a:r>
            <a:endParaRPr lang="en-US" sz="2200" dirty="0"/>
          </a:p>
        </p:txBody>
      </p:sp>
      <p:sp>
        <p:nvSpPr>
          <p:cNvPr id="13" name="Text 9"/>
          <p:cNvSpPr txBox="1"/>
          <p:nvPr/>
        </p:nvSpPr>
        <p:spPr>
          <a:xfrm>
            <a:off x="1645920" y="36576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Show the CRT sweep into it</a:t>
            </a:r>
            <a:endParaRPr lang="en-US" sz="2600" dirty="0"/>
          </a:p>
        </p:txBody>
      </p:sp>
      <p:sp>
        <p:nvSpPr>
          <p:cNvPr id="14" name="Shape 10"/>
          <p:cNvSpPr/>
          <p:nvPr/>
        </p:nvSpPr>
        <p:spPr>
          <a:xfrm>
            <a:off x="822960" y="4645152"/>
            <a:ext cx="548640" cy="548640"/>
          </a:xfrm>
          <a:prstGeom prst="ellipse">
            <a:avLst/>
          </a:prstGeom>
          <a:solidFill>
            <a:srgbClr val="E8912D"/>
          </a:solidFill>
          <a:ln w="12700">
            <a:solidFill>
              <a:srgbClr val="E8912D"/>
            </a:solidFill>
            <a:prstDash val="solid"/>
          </a:ln>
        </p:spPr>
      </p:sp>
      <p:sp>
        <p:nvSpPr>
          <p:cNvPr id="15" name="Text 11"/>
          <p:cNvSpPr txBox="1"/>
          <p:nvPr/>
        </p:nvSpPr>
        <p:spPr>
          <a:xfrm>
            <a:off x="822960" y="4645152"/>
            <a:ext cx="548640" cy="548640"/>
          </a:xfrm>
          <a:prstGeom prst="rect">
            <a:avLst/>
          </a:prstGeom>
          <a:noFill/>
          <a:ln/>
        </p:spPr>
        <p:txBody>
          <a:bodyPr wrap="square" lIns="0" tIns="0" rIns="0" bIns="0" rtlCol="0" anchor="ctr"/>
          <a:lstStyle/>
          <a:p>
            <a:pPr algn="ctr" indent="0" marL="0">
              <a:buNone/>
            </a:pPr>
            <a:r>
              <a:rPr lang="en-US" sz="2200" b="1" dirty="0">
                <a:solidFill>
                  <a:srgbClr val="111111"/>
                </a:solidFill>
                <a:latin typeface="Arial" pitchFamily="34" charset="0"/>
                <a:ea typeface="Arial" pitchFamily="34" charset="-122"/>
                <a:cs typeface="Arial" pitchFamily="34" charset="-120"/>
              </a:rPr>
              <a:t>3</a:t>
            </a:r>
            <a:endParaRPr lang="en-US" sz="2200" dirty="0"/>
          </a:p>
        </p:txBody>
      </p:sp>
      <p:sp>
        <p:nvSpPr>
          <p:cNvPr id="16" name="Text 12"/>
          <p:cNvSpPr txBox="1"/>
          <p:nvPr/>
        </p:nvSpPr>
        <p:spPr>
          <a:xfrm>
            <a:off x="1645920" y="4572000"/>
            <a:ext cx="9539935" cy="694944"/>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Volume profile (30m): sweep through a low-volume gap, entry, POC as the target</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0"/>
          <p:cNvSpPr txBox="1"/>
          <p:nvPr/>
        </p:nvSpPr>
        <p:spPr>
          <a:xfrm>
            <a:off x="640080" y="411480"/>
            <a:ext cx="54864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DO</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Your Turn: Lesson 4.6</a:t>
            </a:r>
            <a:endParaRPr lang="en-US" sz="3600" dirty="0"/>
          </a:p>
        </p:txBody>
      </p:sp>
      <p:sp>
        <p:nvSpPr>
          <p:cNvPr id="5" name="Shape 2"/>
          <p:cNvSpPr/>
          <p:nvPr/>
        </p:nvSpPr>
        <p:spPr>
          <a:xfrm>
            <a:off x="640080" y="2011680"/>
            <a:ext cx="640080" cy="640080"/>
          </a:xfrm>
          <a:prstGeom prst="ellipse">
            <a:avLst/>
          </a:prstGeom>
          <a:solidFill>
            <a:srgbClr val="FFFFFF"/>
          </a:solidFill>
          <a:ln w="12700">
            <a:solidFill>
              <a:srgbClr val="FFFFFF"/>
            </a:solidFill>
            <a:prstDash val="solid"/>
          </a:ln>
        </p:spPr>
      </p:sp>
      <p:sp>
        <p:nvSpPr>
          <p:cNvPr id="6" name="Text 3"/>
          <p:cNvSpPr txBox="1"/>
          <p:nvPr/>
        </p:nvSpPr>
        <p:spPr>
          <a:xfrm>
            <a:off x="640080" y="201168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1</a:t>
            </a:r>
            <a:endParaRPr lang="en-US" sz="2400" dirty="0"/>
          </a:p>
        </p:txBody>
      </p:sp>
      <p:sp>
        <p:nvSpPr>
          <p:cNvPr id="7" name="Text 4"/>
          <p:cNvSpPr txBox="1"/>
          <p:nvPr/>
        </p:nvSpPr>
        <p:spPr>
          <a:xfrm>
            <a:off x="1645920" y="192024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Find your own three-tool example this week</a:t>
            </a:r>
            <a:endParaRPr lang="en-US" sz="2600" dirty="0"/>
          </a:p>
        </p:txBody>
      </p:sp>
      <p:sp>
        <p:nvSpPr>
          <p:cNvPr id="8" name="Shape 5"/>
          <p:cNvSpPr/>
          <p:nvPr/>
        </p:nvSpPr>
        <p:spPr>
          <a:xfrm>
            <a:off x="640080" y="3108960"/>
            <a:ext cx="640080" cy="640080"/>
          </a:xfrm>
          <a:prstGeom prst="ellipse">
            <a:avLst/>
          </a:prstGeom>
          <a:solidFill>
            <a:srgbClr val="FFFFFF"/>
          </a:solidFill>
          <a:ln w="12700">
            <a:solidFill>
              <a:srgbClr val="FFFFFF"/>
            </a:solidFill>
            <a:prstDash val="solid"/>
          </a:ln>
        </p:spPr>
      </p:sp>
      <p:sp>
        <p:nvSpPr>
          <p:cNvPr id="9" name="Text 6"/>
          <p:cNvSpPr txBox="1"/>
          <p:nvPr/>
        </p:nvSpPr>
        <p:spPr>
          <a:xfrm>
            <a:off x="640080" y="310896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2</a:t>
            </a:r>
            <a:endParaRPr lang="en-US" sz="2400" dirty="0"/>
          </a:p>
        </p:txBody>
      </p:sp>
      <p:sp>
        <p:nvSpPr>
          <p:cNvPr id="10" name="Text 7"/>
          <p:cNvSpPr txBox="1"/>
          <p:nvPr/>
        </p:nvSpPr>
        <p:spPr>
          <a:xfrm>
            <a:off x="1645920" y="301752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Session liquidity + CRT + Volume Profile all agreeing, POC marked as your target</a:t>
            </a:r>
            <a:endParaRPr lang="en-US" sz="2600" dirty="0"/>
          </a:p>
        </p:txBody>
      </p:sp>
      <p:sp>
        <p:nvSpPr>
          <p:cNvPr id="11" name="Shape 8"/>
          <p:cNvSpPr/>
          <p:nvPr/>
        </p:nvSpPr>
        <p:spPr>
          <a:xfrm>
            <a:off x="640080" y="4206240"/>
            <a:ext cx="640080" cy="640080"/>
          </a:xfrm>
          <a:prstGeom prst="ellipse">
            <a:avLst/>
          </a:prstGeom>
          <a:solidFill>
            <a:srgbClr val="FFFFFF"/>
          </a:solidFill>
          <a:ln w="12700">
            <a:solidFill>
              <a:srgbClr val="FFFFFF"/>
            </a:solidFill>
            <a:prstDash val="solid"/>
          </a:ln>
        </p:spPr>
      </p:sp>
      <p:sp>
        <p:nvSpPr>
          <p:cNvPr id="12" name="Text 9"/>
          <p:cNvSpPr txBox="1"/>
          <p:nvPr/>
        </p:nvSpPr>
        <p:spPr>
          <a:xfrm>
            <a:off x="640080" y="4206240"/>
            <a:ext cx="640080" cy="640080"/>
          </a:xfrm>
          <a:prstGeom prst="rect">
            <a:avLst/>
          </a:prstGeom>
          <a:noFill/>
          <a:ln/>
        </p:spPr>
        <p:txBody>
          <a:bodyPr wrap="square" lIns="0" tIns="0" rIns="0" bIns="0" rtlCol="0" anchor="ctr"/>
          <a:lstStyle/>
          <a:p>
            <a:pPr algn="ctr" indent="0" marL="0">
              <a:buNone/>
            </a:pPr>
            <a:r>
              <a:rPr lang="en-US" sz="2400" b="1" dirty="0">
                <a:solidFill>
                  <a:srgbClr val="111111"/>
                </a:solidFill>
                <a:latin typeface="Arial" pitchFamily="34" charset="0"/>
                <a:ea typeface="Arial" pitchFamily="34" charset="-122"/>
                <a:cs typeface="Arial" pitchFamily="34" charset="-120"/>
              </a:rPr>
              <a:t>3</a:t>
            </a:r>
            <a:endParaRPr lang="en-US" sz="2400" dirty="0"/>
          </a:p>
        </p:txBody>
      </p:sp>
      <p:sp>
        <p:nvSpPr>
          <p:cNvPr id="13" name="Text 10"/>
          <p:cNvSpPr txBox="1"/>
          <p:nvPr/>
        </p:nvSpPr>
        <p:spPr>
          <a:xfrm>
            <a:off x="1645920" y="4114800"/>
            <a:ext cx="9905695" cy="82296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Post it whenever you spot one. No deadline.</a:t>
            </a:r>
            <a:endParaRPr lang="en-US" sz="2600" dirty="0"/>
          </a:p>
        </p:txBody>
      </p:sp>
      <p:sp>
        <p:nvSpPr>
          <p:cNvPr id="14" name="Text 11"/>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15" name="Text 12"/>
          <p:cNvSpPr txBox="1"/>
          <p:nvPr/>
        </p:nvSpPr>
        <p:spPr>
          <a:xfrm>
            <a:off x="6705295" y="6400800"/>
            <a:ext cx="4206240" cy="274320"/>
          </a:xfrm>
          <a:prstGeom prst="rect">
            <a:avLst/>
          </a:prstGeom>
          <a:noFill/>
          <a:ln/>
        </p:spPr>
        <p:txBody>
          <a:bodyPr wrap="square" lIns="0" tIns="0" rIns="0" bIns="0" rtlCol="0" anchor="t"/>
          <a:lstStyle/>
          <a:p>
            <a:pPr algn="r" indent="0" marL="0">
              <a:buNone/>
            </a:pPr>
            <a:r>
              <a:rPr lang="en-US" sz="1100" dirty="0">
                <a:solidFill>
                  <a:srgbClr val="6E6E6E"/>
                </a:solidFill>
                <a:latin typeface="Calibri" pitchFamily="34" charset="0"/>
                <a:ea typeface="Calibri" pitchFamily="34" charset="-122"/>
                <a:cs typeface="Calibri" pitchFamily="34" charset="-120"/>
              </a:rPr>
              <a:t>MODULE 4  •  LESSON 4.6</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0"/>
          <p:cNvSpPr txBox="1"/>
          <p:nvPr/>
        </p:nvSpPr>
        <p:spPr>
          <a:xfrm>
            <a:off x="640080" y="411480"/>
            <a:ext cx="7315200" cy="320040"/>
          </a:xfrm>
          <a:prstGeom prst="rect">
            <a:avLst/>
          </a:prstGeom>
          <a:noFill/>
          <a:ln/>
        </p:spPr>
        <p:txBody>
          <a:bodyPr wrap="square" lIns="0" tIns="0" rIns="0" bIns="0" rtlCol="0" anchor="t"/>
          <a:lstStyle/>
          <a:p>
            <a:pPr indent="0" marL="0">
              <a:buNone/>
            </a:pPr>
            <a:r>
              <a:rPr lang="en-US" sz="1400" b="1" spc="400" kern="0" dirty="0">
                <a:solidFill>
                  <a:srgbClr val="E8912D"/>
                </a:solidFill>
                <a:latin typeface="Arial" pitchFamily="34" charset="0"/>
                <a:ea typeface="Arial" pitchFamily="34" charset="-122"/>
                <a:cs typeface="Arial" pitchFamily="34" charset="-120"/>
              </a:rPr>
              <a:t>MODULE 4  •  RECAP</a:t>
            </a:r>
            <a:endParaRPr lang="en-US" sz="1400" dirty="0"/>
          </a:p>
        </p:txBody>
      </p:sp>
      <p:sp>
        <p:nvSpPr>
          <p:cNvPr id="4" name="Text 1"/>
          <p:cNvSpPr txBox="1"/>
          <p:nvPr/>
        </p:nvSpPr>
        <p:spPr>
          <a:xfrm>
            <a:off x="640080" y="777240"/>
            <a:ext cx="10911535" cy="8229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Module 4 in One Slide</a:t>
            </a:r>
            <a:endParaRPr lang="en-US" sz="3600" dirty="0"/>
          </a:p>
        </p:txBody>
      </p:sp>
      <p:sp>
        <p:nvSpPr>
          <p:cNvPr id="5" name="Shape 2"/>
          <p:cNvSpPr/>
          <p:nvPr/>
        </p:nvSpPr>
        <p:spPr>
          <a:xfrm>
            <a:off x="640080" y="1984248"/>
            <a:ext cx="237744" cy="237744"/>
          </a:xfrm>
          <a:prstGeom prst="ellipse">
            <a:avLst/>
          </a:prstGeom>
          <a:solidFill>
            <a:srgbClr val="E8912D"/>
          </a:solidFill>
          <a:ln w="12700">
            <a:solidFill>
              <a:srgbClr val="E8912D"/>
            </a:solidFill>
            <a:prstDash val="solid"/>
          </a:ln>
        </p:spPr>
      </p:sp>
      <p:sp>
        <p:nvSpPr>
          <p:cNvPr id="6" name="Text 3"/>
          <p:cNvSpPr txBox="1"/>
          <p:nvPr/>
        </p:nvSpPr>
        <p:spPr>
          <a:xfrm>
            <a:off x="1143000" y="18288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Session highs and lows are where the orders sit</a:t>
            </a:r>
            <a:endParaRPr lang="en-US" sz="2400" dirty="0"/>
          </a:p>
        </p:txBody>
      </p:sp>
      <p:sp>
        <p:nvSpPr>
          <p:cNvPr id="7" name="Shape 4"/>
          <p:cNvSpPr/>
          <p:nvPr/>
        </p:nvSpPr>
        <p:spPr>
          <a:xfrm>
            <a:off x="640080" y="2670048"/>
            <a:ext cx="237744" cy="237744"/>
          </a:xfrm>
          <a:prstGeom prst="ellipse">
            <a:avLst/>
          </a:prstGeom>
          <a:solidFill>
            <a:srgbClr val="E8912D"/>
          </a:solidFill>
          <a:ln w="12700">
            <a:solidFill>
              <a:srgbClr val="E8912D"/>
            </a:solidFill>
            <a:prstDash val="solid"/>
          </a:ln>
        </p:spPr>
      </p:sp>
      <p:sp>
        <p:nvSpPr>
          <p:cNvPr id="8" name="Text 5"/>
          <p:cNvSpPr txBox="1"/>
          <p:nvPr/>
        </p:nvSpPr>
        <p:spPr>
          <a:xfrm>
            <a:off x="1143000" y="25146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London often sweeps Asia. New York often hunts the untouched level</a:t>
            </a:r>
            <a:endParaRPr lang="en-US" sz="2400" dirty="0"/>
          </a:p>
        </p:txBody>
      </p:sp>
      <p:sp>
        <p:nvSpPr>
          <p:cNvPr id="9" name="Shape 6"/>
          <p:cNvSpPr/>
          <p:nvPr/>
        </p:nvSpPr>
        <p:spPr>
          <a:xfrm>
            <a:off x="640080" y="3355848"/>
            <a:ext cx="237744" cy="237744"/>
          </a:xfrm>
          <a:prstGeom prst="ellipse">
            <a:avLst/>
          </a:prstGeom>
          <a:solidFill>
            <a:srgbClr val="E8912D"/>
          </a:solidFill>
          <a:ln w="12700">
            <a:solidFill>
              <a:srgbClr val="E8912D"/>
            </a:solidFill>
            <a:prstDash val="solid"/>
          </a:ln>
        </p:spPr>
      </p:sp>
      <p:sp>
        <p:nvSpPr>
          <p:cNvPr id="10" name="Text 7"/>
          <p:cNvSpPr txBox="1"/>
          <p:nvPr/>
        </p:nvSpPr>
        <p:spPr>
          <a:xfrm>
            <a:off x="1143000" y="32004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POC = most-traded price. Draw it on the 30-minute chart</a:t>
            </a:r>
            <a:endParaRPr lang="en-US" sz="2400" dirty="0"/>
          </a:p>
        </p:txBody>
      </p:sp>
      <p:sp>
        <p:nvSpPr>
          <p:cNvPr id="11" name="Shape 8"/>
          <p:cNvSpPr/>
          <p:nvPr/>
        </p:nvSpPr>
        <p:spPr>
          <a:xfrm>
            <a:off x="640080" y="4041648"/>
            <a:ext cx="237744" cy="237744"/>
          </a:xfrm>
          <a:prstGeom prst="ellipse">
            <a:avLst/>
          </a:prstGeom>
          <a:solidFill>
            <a:srgbClr val="E8912D"/>
          </a:solidFill>
          <a:ln w="12700">
            <a:solidFill>
              <a:srgbClr val="E8912D"/>
            </a:solidFill>
            <a:prstDash val="solid"/>
          </a:ln>
        </p:spPr>
      </p:sp>
      <p:sp>
        <p:nvSpPr>
          <p:cNvPr id="12" name="Text 9"/>
          <p:cNvSpPr txBox="1"/>
          <p:nvPr/>
        </p:nvSpPr>
        <p:spPr>
          <a:xfrm>
            <a:off x="1143000" y="38862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Sweeps through low-volume gaps read cleaner</a:t>
            </a:r>
            <a:endParaRPr lang="en-US" sz="2400" dirty="0"/>
          </a:p>
        </p:txBody>
      </p:sp>
      <p:sp>
        <p:nvSpPr>
          <p:cNvPr id="13" name="Shape 10"/>
          <p:cNvSpPr/>
          <p:nvPr/>
        </p:nvSpPr>
        <p:spPr>
          <a:xfrm>
            <a:off x="640080" y="4727448"/>
            <a:ext cx="237744" cy="237744"/>
          </a:xfrm>
          <a:prstGeom prst="ellipse">
            <a:avLst/>
          </a:prstGeom>
          <a:solidFill>
            <a:srgbClr val="E8912D"/>
          </a:solidFill>
          <a:ln w="12700">
            <a:solidFill>
              <a:srgbClr val="E8912D"/>
            </a:solidFill>
            <a:prstDash val="solid"/>
          </a:ln>
        </p:spPr>
      </p:sp>
      <p:sp>
        <p:nvSpPr>
          <p:cNvPr id="14" name="Text 11"/>
          <p:cNvSpPr txBox="1"/>
          <p:nvPr/>
        </p:nvSpPr>
        <p:spPr>
          <a:xfrm>
            <a:off x="1143000" y="4572000"/>
            <a:ext cx="10408615"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The POC is your exit or your entry. Hard stop 3.5–4 points, every time</a:t>
            </a:r>
            <a:endParaRPr lang="en-US" sz="2400" dirty="0"/>
          </a:p>
        </p:txBody>
      </p:sp>
      <p:sp>
        <p:nvSpPr>
          <p:cNvPr id="15" name="Text 12"/>
          <p:cNvSpPr txBox="1"/>
          <p:nvPr/>
        </p:nvSpPr>
        <p:spPr>
          <a:xfrm>
            <a:off x="640080" y="5486400"/>
            <a:ext cx="10911535" cy="548640"/>
          </a:xfrm>
          <a:prstGeom prst="rect">
            <a:avLst/>
          </a:prstGeom>
          <a:noFill/>
          <a:ln/>
        </p:spPr>
        <p:txBody>
          <a:bodyPr wrap="square" lIns="0" tIns="0" rIns="0" bIns="0" rtlCol="0" anchor="t"/>
          <a:lstStyle/>
          <a:p>
            <a:pPr indent="0" marL="0">
              <a:buNone/>
            </a:pPr>
            <a:r>
              <a:rPr lang="en-US" sz="2400" b="1" dirty="0">
                <a:solidFill>
                  <a:srgbClr val="E8912D"/>
                </a:solidFill>
                <a:latin typeface="Calibri" pitchFamily="34" charset="0"/>
                <a:ea typeface="Calibri" pitchFamily="34" charset="-122"/>
                <a:cs typeface="Calibri" pitchFamily="34" charset="-120"/>
              </a:rPr>
              <a:t>Next: Module 5, Full Workflow &amp; Risk Management</a:t>
            </a:r>
            <a:endParaRPr lang="en-US" sz="2400" dirty="0"/>
          </a:p>
        </p:txBody>
      </p:sp>
      <p:sp>
        <p:nvSpPr>
          <p:cNvPr id="16" name="Text 13"/>
          <p:cNvSpPr txBox="1"/>
          <p:nvPr/>
        </p:nvSpPr>
        <p:spPr>
          <a:xfrm>
            <a:off x="640080" y="6400800"/>
            <a:ext cx="3657600" cy="274320"/>
          </a:xfrm>
          <a:prstGeom prst="rect">
            <a:avLst/>
          </a:prstGeom>
          <a:noFill/>
          <a:ln/>
        </p:spPr>
        <p:txBody>
          <a:bodyPr wrap="square" lIns="0" tIns="0" rIns="0" bIns="0" rtlCol="0" anchor="t"/>
          <a:lstStyle/>
          <a:p>
            <a:pPr indent="0" marL="0">
              <a:buNone/>
            </a:pPr>
            <a:r>
              <a:rPr lang="en-US" sz="1100" dirty="0">
                <a:solidFill>
                  <a:srgbClr val="6E6E6E"/>
                </a:solidFill>
                <a:latin typeface="Calibri" pitchFamily="34" charset="0"/>
                <a:ea typeface="Calibri" pitchFamily="34" charset="-122"/>
                <a:cs typeface="Calibri" pitchFamily="34" charset="-120"/>
              </a:rPr>
              <a:t>Defined Risk Trading</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E6E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DRT Course">
  <a:themeElements>
    <a:clrScheme name="DRT Course">
      <a:dk1>
        <a:srgbClr val="111111"/>
      </a:dk1>
      <a:lt1>
        <a:srgbClr val="FFFFFF"/>
      </a:lt1>
      <a:dk2>
        <a:srgbClr val="333333"/>
      </a:dk2>
      <a:lt2>
        <a:srgbClr val="F2F2F2"/>
      </a:lt2>
      <a:accent1>
        <a:srgbClr val="E8912D"/>
      </a:accent1>
      <a:accent2>
        <a:srgbClr val="2A6FDB"/>
      </a:accent2>
      <a:accent3>
        <a:srgbClr val="1A9E5F"/>
      </a:accent3>
      <a:accent4>
        <a:srgbClr val="D94141"/>
      </a:accent4>
      <a:accent5>
        <a:srgbClr val="6E6E6E"/>
      </a:accent5>
      <a:accent6>
        <a:srgbClr val="8E8E8E"/>
      </a:accent6>
      <a:hlink>
        <a:srgbClr val="2A6FDB"/>
      </a:hlink>
      <a:folHlink>
        <a:srgbClr val="6E6E6E"/>
      </a:folHlink>
    </a:clrScheme>
    <a:fontScheme name="DRT Cour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Session Liquidity &amp; Volume Profile</dc:title>
  <dc:subject>PptxGenJS Presentation</dc:subject>
  <dc:creator>Defined Risk Trading</dc:creator>
  <cp:lastModifiedBy>Defined Risk Trading</cp:lastModifiedBy>
  <cp:revision>1</cp:revision>
  <dcterms:created xsi:type="dcterms:W3CDTF">2026-10-05T21:54:35Z</dcterms:created>
  <dcterms:modified xsi:type="dcterms:W3CDTF">2026-10-05T21:54:35Z</dcterms:modified>
</cp:coreProperties>
</file>