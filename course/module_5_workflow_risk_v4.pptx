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5. You've got every tool now. This module turns them into one process you run the same way every time, and gives you the risk rules that keep you trading next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note as last module. This is education, not financial advice. Futures carry a real risk of loss. The dollar numbers in this module are examples of risk, not promises of profit. Only trade money you can afford to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5.1 is the checklist you run before every trade. 5.2 is position size and your daily limits. 5.3 is where your stop goes. And 5.4 is one full trade,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5.1. The pre-trade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thing I want glued to your monitor. Seven steps before any entry. One, confirm the AMD phase. Two, check the higher-timeframe daily bias. Three, confirm you're in your window. While you're learning, that's 10 AM to 12 PM Eastern. Four, identify the session liquidity targets. Five, check that volume profile agrees on the 30-minute chart, and mark the POC. Is it your entry or your target? Six, confirm CRT confluence. Seven, define your risk before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time. No skipping steps because you're excited. The day you skip one is the day you take the trade you shouldn't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run it on a real setup. [Switch to TradingView.] Step one, AMD phase: [say the phase]. Step two, daily bias: [say it]. Step three, the time is [say it], inside the window. Step four, session liquidity: the untaken level is here. Step five, volume profile on the 30-minute: here's the POC, and it's my [entry or target]. Step six, CRT: here's the sweep and the confirmation. Step seven, risk: hard stop 3.5 to 4 points, here. Seven for seven. That's a trade I'm allowed to take.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Print or save this checklist somewhere you'll see it before every trade. Post a photo of wherever you put it. Screen, wall, notebook, doesn't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5.2. Position sizing and daily risk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math in plain terms. Decide how many dollars you're willing to risk on this one trade. Divide that by how many points your stop is from entry. Divide by 50 dollars, the ES point value. That's your number of contracts. So 200 dollars, divided by a 4 point stop, divided by 50, is 1 contract. That's the formula professional position sizing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that's not what you'll use day to day while you're in this program. I'm giving you two options instead. Option A, 1 ES contract. Every point is 50 dollars. With the 3.5 to 4 point hard stop, one stopped trade is 175 to 200 dollars, inside a 200 dollar limit. Option B, 2 ES contracts. Every point is 100 dollars, and your daily limit goes up to 400. One stopped trade is 350 to 400 dollars, so that one loss ends your session. Here's the trade-off. A takes a smaller hit per loss. B makes bigger moves, and takes bigger losses. It's your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Whichever you pick, keep it fixed, every trade. Stay with it until your account has grown 1.5 to 2 times your starting capital. Once you hit that milestone, you can size up, to a max of 4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 your number before you trade. On Option A, your hard stop risks 175 to 200 dollars per trade. On Option B, it's 350 to 400, and one loss ends your session. So do the quick math for your option. How many losing trades would it take to hit your daily limit? If you don't know that number before you start trading, you're flying blind. Once you can answer it without doing math in the moment, you're ready to size up, to a max of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my numbers. I never risk more than 1,000 dollars total in a single day, and no more than 200 of that during the manipulation session, 3 to 9:29 AM, which I don't want you trading yet anyway. My daily goal is 1 or 2 good trades, then I'm done. These are my numbers, not yours. Set your own daily cap before you trade. In an eval, it's the firm's daily loss limit. And more trades isn't better. It usually means you stopped waiting for the real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you're learning, set a daily profit goal. Two ways. A flat 400 dollars a day. Or personalize it. Take your hourly rate, multiply by 8, then multiply that by 2. So at 20 dollars an hour, 20 times 8 is 160, times 2 is 320. It's a reference number, not a quota. You still stop after 1 or 2 good trades.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TradingView.] Here's a real setup. Entry here. Hard stop 3.5 to 4 points away, here. On Option A, 1 ES contract, that's 175 to 200 dollars of risk on this trade. On Option B, 2 ES contracts, it's 350 to 400, and if it stops out, my session's over. And here's my profit goal for the day next to it, so I know what done looks like.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Three numbers, posted together. One: pick Option A or Option B, then use the 3.5 to 4 point hard stop on a real setup from your chart, and write your dollar risk on that trade. Two: write down your daily limit, then how many losers like that one it allows. Three: your daily profit goal, either 400 flat or your hourly rate times 8 times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5.3. Stop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stop is a hard stop, 3.5 to 4 points from your entry on ES. Every setup: the sweep entry and the POC entry. No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costs. On Option A, 1 contract, 175 to 200 dollars. On Option B, 2 contracts, 350 to 400 dollars. Plus commissions. Know this number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manage my own trades by hand, but that's me, not you. You use the hard stop, and you never take a trade without one. If price gets there, your read on the setup was wrong, and you're out. No moving it. No hoping.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TradingView.] Here's a sweep entry. I'll use the measure tool from the entry and count the points: 1, 2, 3, 3 and a half, 4. That's 14 to 16 ticks. Stop goes here. On 1 contract that's 175 to 200 dollars. On 2 contracts, 350 to 400. [If the indicator draws its own stop line at the sweep wick, point out that it's a different line: in this course you measure 3.5 to 4 points from your entry.]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On your CRT screenshot from Module 3, mark your entry and a 3.5 to 4 point hard stop from it. Post it with your dollar risk for your option, 1 or 2 ES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5.4. The full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trade, every piece of this curriculum, start to finish. The AMD read. The CRT entry. Session liquidity and volume confirmation. Position size. A 3.5 to 4 point hard stop. And the target. This is the lesson that proves it's one process, not five separate tools you're juggling.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the top or the bottom of the range. Measure it in R against your stop. 1R is your stop distance, 3.5 to 4 points. So 2R is 7 to 8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TradingView.] One trade, start to finish. First the AMD read: [say the phase]. Daily bias: [say it]. Time: inside the 10 to 12 window. Session liquidity: the untaken level is here. That's where price is headed. Volume profile on the 30-minute: here's the POC. CRT: here's the sweep, and here's my entry. Size: [Option A or B], so my risk is [dollar amount]. Hard stop, 3.5 to 4 points, here. Target, the top of the range, here. That's [number] points, so about [number] R. Here's what price did. [Walk it forward to the exit, win or loss.]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and this is your Module 5 capstone. Re-create this exact walkthrough on your own chart, using a setup from this week. Post the full breakdown,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Module 5. Run the checklist before every trade. 1 or 2 contracts, fixed, until your account grows 1.5 to 2 times. Know how many losers your daily limit allows. Hard stop, 3.5 to 4 points, every setup. And measure every target in R. One process, not five separate tools. Post your capstone, and I'll see you in the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RT_DARK">
    <p:bg>
      <p:bgPr>
        <a:solidFill>
          <a:srgbClr val="11111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RT_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548640"/>
            <a:ext cx="5486400" cy="365760"/>
          </a:xfrm>
          <a:prstGeom prst="rect">
            <a:avLst/>
          </a:prstGeom>
          <a:noFill/>
          <a:ln/>
        </p:spPr>
        <p:txBody>
          <a:bodyPr wrap="square" lIns="0" tIns="0" rIns="0" bIns="0" rtlCol="0" anchor="t"/>
          <a:lstStyle/>
          <a:p>
            <a:pPr indent="0" marL="0">
              <a:buNone/>
            </a:pPr>
            <a:r>
              <a:rPr lang="en-US" sz="1600" b="1" spc="400" kern="0" dirty="0">
                <a:solidFill>
                  <a:srgbClr val="FFFFFF"/>
                </a:solidFill>
                <a:latin typeface="Arial" pitchFamily="34" charset="0"/>
                <a:ea typeface="Arial" pitchFamily="34" charset="-122"/>
                <a:cs typeface="Arial" pitchFamily="34" charset="-120"/>
              </a:rPr>
              <a:t>DEFINED RISK TRADING</a:t>
            </a:r>
            <a:endParaRPr lang="en-US" sz="1600" dirty="0"/>
          </a:p>
        </p:txBody>
      </p:sp>
      <p:sp>
        <p:nvSpPr>
          <p:cNvPr id="4" name="Text 1"/>
          <p:cNvSpPr txBox="1"/>
          <p:nvPr/>
        </p:nvSpPr>
        <p:spPr>
          <a:xfrm>
            <a:off x="640080" y="2011680"/>
            <a:ext cx="5486400" cy="457200"/>
          </a:xfrm>
          <a:prstGeom prst="rect">
            <a:avLst/>
          </a:prstGeom>
          <a:noFill/>
          <a:ln/>
        </p:spPr>
        <p:txBody>
          <a:bodyPr wrap="square" lIns="0" tIns="0" rIns="0" bIns="0" rtlCol="0" anchor="t"/>
          <a:lstStyle/>
          <a:p>
            <a:pPr indent="0" marL="0">
              <a:buNone/>
            </a:pPr>
            <a:r>
              <a:rPr lang="en-US" sz="2000" b="1" spc="600" kern="0" dirty="0">
                <a:solidFill>
                  <a:srgbClr val="E8912D"/>
                </a:solidFill>
                <a:latin typeface="Arial" pitchFamily="34" charset="0"/>
                <a:ea typeface="Arial" pitchFamily="34" charset="-122"/>
                <a:cs typeface="Arial" pitchFamily="34" charset="-120"/>
              </a:rPr>
              <a:t>MODULE 5</a:t>
            </a:r>
            <a:endParaRPr lang="en-US" sz="2000" dirty="0"/>
          </a:p>
        </p:txBody>
      </p:sp>
      <p:sp>
        <p:nvSpPr>
          <p:cNvPr id="5" name="Text 2"/>
          <p:cNvSpPr txBox="1"/>
          <p:nvPr/>
        </p:nvSpPr>
        <p:spPr>
          <a:xfrm>
            <a:off x="640080" y="2560320"/>
            <a:ext cx="10058400" cy="201168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Full Workflow &amp;</a:t>
            </a:r>
            <a:endParaRPr lang="en-US" sz="5400" dirty="0"/>
          </a:p>
          <a:p>
            <a:pPr indent="0" marL="0">
              <a:buNone/>
            </a:pPr>
            <a:r>
              <a:rPr lang="en-US" sz="5400" b="1" dirty="0">
                <a:solidFill>
                  <a:srgbClr val="FFFFFF"/>
                </a:solidFill>
                <a:latin typeface="Arial" pitchFamily="34" charset="0"/>
                <a:ea typeface="Arial" pitchFamily="34" charset="-122"/>
                <a:cs typeface="Arial" pitchFamily="34" charset="-120"/>
              </a:rPr>
              <a:t>Risk Management</a:t>
            </a:r>
            <a:endParaRPr lang="en-US" sz="5400" dirty="0"/>
          </a:p>
        </p:txBody>
      </p:sp>
      <p:sp>
        <p:nvSpPr>
          <p:cNvPr id="6" name="Text 3"/>
          <p:cNvSpPr txBox="1"/>
          <p:nvPr/>
        </p:nvSpPr>
        <p:spPr>
          <a:xfrm>
            <a:off x="640080" y="4754880"/>
            <a:ext cx="10972800" cy="548640"/>
          </a:xfrm>
          <a:prstGeom prst="rect">
            <a:avLst/>
          </a:prstGeom>
          <a:noFill/>
          <a:ln/>
        </p:spPr>
        <p:txBody>
          <a:bodyPr wrap="square" lIns="0" tIns="0" rIns="0" bIns="0" rtlCol="0" anchor="t"/>
          <a:lstStyle/>
          <a:p>
            <a:pPr indent="0" marL="0">
              <a:buNone/>
            </a:pPr>
            <a:r>
              <a:rPr lang="en-US" sz="2400" i="1" dirty="0">
                <a:solidFill>
                  <a:srgbClr val="A8A8A8"/>
                </a:solidFill>
                <a:latin typeface="Calibri" pitchFamily="34" charset="0"/>
                <a:ea typeface="Calibri" pitchFamily="34" charset="-122"/>
                <a:cs typeface="Calibri" pitchFamily="34" charset="-120"/>
              </a:rPr>
              <a:t>One repeatable process, and the risk math that keeps it survivable</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640080" y="502920"/>
            <a:ext cx="640080" cy="640080"/>
          </a:xfrm>
          <a:prstGeom prst="rect">
            <a:avLst/>
          </a:prstGeom>
        </p:spPr>
      </p:pic>
      <p:sp>
        <p:nvSpPr>
          <p:cNvPr id="4" name="Text 0"/>
          <p:cNvSpPr txBox="1"/>
          <p:nvPr/>
        </p:nvSpPr>
        <p:spPr>
          <a:xfrm>
            <a:off x="1508760" y="502920"/>
            <a:ext cx="914400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Before We Start</a:t>
            </a:r>
            <a:endParaRPr lang="en-US" sz="3600" dirty="0"/>
          </a:p>
        </p:txBody>
      </p:sp>
      <p:sp>
        <p:nvSpPr>
          <p:cNvPr id="5" name="Text 1"/>
          <p:cNvSpPr txBox="1"/>
          <p:nvPr/>
        </p:nvSpPr>
        <p:spPr>
          <a:xfrm>
            <a:off x="1508760" y="228600"/>
            <a:ext cx="5486400" cy="274320"/>
          </a:xfrm>
          <a:prstGeom prst="rect">
            <a:avLst/>
          </a:prstGeom>
          <a:noFill/>
          <a:ln/>
        </p:spPr>
        <p:txBody>
          <a:bodyPr wrap="square" lIns="0" tIns="0" rIns="0" bIns="0" rtlCol="0" anchor="t"/>
          <a:lstStyle/>
          <a:p>
            <a:pPr indent="0" marL="0">
              <a:buNone/>
            </a:pPr>
            <a:r>
              <a:rPr lang="en-US" sz="1300" b="1" spc="400" kern="0" dirty="0">
                <a:solidFill>
                  <a:srgbClr val="E8912D"/>
                </a:solidFill>
                <a:latin typeface="Arial" pitchFamily="34" charset="0"/>
                <a:ea typeface="Arial" pitchFamily="34" charset="-122"/>
                <a:cs typeface="Arial" pitchFamily="34" charset="-120"/>
              </a:rPr>
              <a:t>RISK DISCLAIMER</a:t>
            </a:r>
            <a:endParaRPr lang="en-US" sz="1300" dirty="0"/>
          </a:p>
        </p:txBody>
      </p:sp>
      <p:sp>
        <p:nvSpPr>
          <p:cNvPr id="6" name="Text 2"/>
          <p:cNvSpPr txBox="1"/>
          <p:nvPr/>
        </p:nvSpPr>
        <p:spPr>
          <a:xfrm>
            <a:off x="640080" y="1645920"/>
            <a:ext cx="10911535" cy="4206240"/>
          </a:xfrm>
          <a:prstGeom prst="rect">
            <a:avLst/>
          </a:prstGeom>
          <a:noFill/>
          <a:ln/>
        </p:spPr>
        <p:txBody>
          <a:bodyPr wrap="square" lIns="0" tIns="0" rIns="0" bIns="0" rtlCol="0" anchor="t"/>
          <a:lstStyle/>
          <a:p>
            <a:pPr marL="304800" indent="-3048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This is education, not financial advice.</a:t>
            </a:r>
            <a:endParaRPr lang="en-US" sz="2600" dirty="0"/>
          </a:p>
          <a:p>
            <a:pPr marL="304800" indent="-3048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Futures trading carries a real risk of loss. You can lose more than you planned if you trade without a stop.</a:t>
            </a:r>
            <a:endParaRPr lang="en-US" sz="2600" dirty="0"/>
          </a:p>
          <a:p>
            <a:pPr marL="304800" indent="-3048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Chart examples are for teaching. Past results don't predict future results.</a:t>
            </a:r>
            <a:endParaRPr lang="en-US" sz="2600" dirty="0"/>
          </a:p>
          <a:p>
            <a:pPr marL="304800" indent="-3048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Only trade money you can afford to lose.</a:t>
            </a:r>
            <a:endParaRPr lang="en-US" sz="2600" dirty="0"/>
          </a:p>
        </p:txBody>
      </p:sp>
      <p:sp>
        <p:nvSpPr>
          <p:cNvPr id="7" name="Text 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MODULE 5</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Module 5 Lessons</a:t>
            </a:r>
            <a:endParaRPr lang="en-US" sz="3600" dirty="0"/>
          </a:p>
        </p:txBody>
      </p:sp>
      <p:sp>
        <p:nvSpPr>
          <p:cNvPr id="5" name="Shape 2"/>
          <p:cNvSpPr/>
          <p:nvPr/>
        </p:nvSpPr>
        <p:spPr>
          <a:xfrm>
            <a:off x="640080" y="1828800"/>
            <a:ext cx="10058400" cy="868680"/>
          </a:xfrm>
          <a:prstGeom prst="roundRect">
            <a:avLst>
              <a:gd name="adj" fmla="val 8421"/>
            </a:avLst>
          </a:prstGeom>
          <a:solidFill>
            <a:srgbClr val="1E1E1E"/>
          </a:solidFill>
          <a:ln w="12700">
            <a:solidFill>
              <a:srgbClr val="1E1E1E"/>
            </a:solidFill>
            <a:prstDash val="solid"/>
          </a:ln>
        </p:spPr>
      </p:sp>
      <p:sp>
        <p:nvSpPr>
          <p:cNvPr id="6" name="Text 3"/>
          <p:cNvSpPr txBox="1"/>
          <p:nvPr/>
        </p:nvSpPr>
        <p:spPr>
          <a:xfrm>
            <a:off x="914400" y="1828800"/>
            <a:ext cx="914400" cy="86868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5.1</a:t>
            </a:r>
            <a:endParaRPr lang="en-US" sz="2600" dirty="0"/>
          </a:p>
        </p:txBody>
      </p:sp>
      <p:sp>
        <p:nvSpPr>
          <p:cNvPr id="7" name="Text 4"/>
          <p:cNvSpPr txBox="1"/>
          <p:nvPr/>
        </p:nvSpPr>
        <p:spPr>
          <a:xfrm>
            <a:off x="1874520" y="1828800"/>
            <a:ext cx="8641080" cy="86868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Pre-Trade Checklist</a:t>
            </a:r>
            <a:endParaRPr lang="en-US" sz="2200" dirty="0"/>
          </a:p>
        </p:txBody>
      </p:sp>
      <p:sp>
        <p:nvSpPr>
          <p:cNvPr id="8" name="Shape 5"/>
          <p:cNvSpPr/>
          <p:nvPr/>
        </p:nvSpPr>
        <p:spPr>
          <a:xfrm>
            <a:off x="640080" y="2880360"/>
            <a:ext cx="10058400" cy="868680"/>
          </a:xfrm>
          <a:prstGeom prst="roundRect">
            <a:avLst>
              <a:gd name="adj" fmla="val 8421"/>
            </a:avLst>
          </a:prstGeom>
          <a:solidFill>
            <a:srgbClr val="1E1E1E"/>
          </a:solidFill>
          <a:ln w="12700">
            <a:solidFill>
              <a:srgbClr val="1E1E1E"/>
            </a:solidFill>
            <a:prstDash val="solid"/>
          </a:ln>
        </p:spPr>
      </p:sp>
      <p:sp>
        <p:nvSpPr>
          <p:cNvPr id="9" name="Text 6"/>
          <p:cNvSpPr txBox="1"/>
          <p:nvPr/>
        </p:nvSpPr>
        <p:spPr>
          <a:xfrm>
            <a:off x="914400" y="2880360"/>
            <a:ext cx="914400" cy="86868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5.2</a:t>
            </a:r>
            <a:endParaRPr lang="en-US" sz="2600" dirty="0"/>
          </a:p>
        </p:txBody>
      </p:sp>
      <p:sp>
        <p:nvSpPr>
          <p:cNvPr id="10" name="Text 7"/>
          <p:cNvSpPr txBox="1"/>
          <p:nvPr/>
        </p:nvSpPr>
        <p:spPr>
          <a:xfrm>
            <a:off x="1874520" y="2880360"/>
            <a:ext cx="8641080" cy="86868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Position Sizing &amp; Daily Risk Rules</a:t>
            </a:r>
            <a:endParaRPr lang="en-US" sz="2200" dirty="0"/>
          </a:p>
        </p:txBody>
      </p:sp>
      <p:sp>
        <p:nvSpPr>
          <p:cNvPr id="11" name="Shape 8"/>
          <p:cNvSpPr/>
          <p:nvPr/>
        </p:nvSpPr>
        <p:spPr>
          <a:xfrm>
            <a:off x="640080" y="3931920"/>
            <a:ext cx="10058400" cy="868680"/>
          </a:xfrm>
          <a:prstGeom prst="roundRect">
            <a:avLst>
              <a:gd name="adj" fmla="val 8421"/>
            </a:avLst>
          </a:prstGeom>
          <a:solidFill>
            <a:srgbClr val="1E1E1E"/>
          </a:solidFill>
          <a:ln w="12700">
            <a:solidFill>
              <a:srgbClr val="1E1E1E"/>
            </a:solidFill>
            <a:prstDash val="solid"/>
          </a:ln>
        </p:spPr>
      </p:sp>
      <p:sp>
        <p:nvSpPr>
          <p:cNvPr id="12" name="Text 9"/>
          <p:cNvSpPr txBox="1"/>
          <p:nvPr/>
        </p:nvSpPr>
        <p:spPr>
          <a:xfrm>
            <a:off x="914400" y="3931920"/>
            <a:ext cx="914400" cy="86868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5.3</a:t>
            </a:r>
            <a:endParaRPr lang="en-US" sz="2600" dirty="0"/>
          </a:p>
        </p:txBody>
      </p:sp>
      <p:sp>
        <p:nvSpPr>
          <p:cNvPr id="13" name="Text 10"/>
          <p:cNvSpPr txBox="1"/>
          <p:nvPr/>
        </p:nvSpPr>
        <p:spPr>
          <a:xfrm>
            <a:off x="1874520" y="3931920"/>
            <a:ext cx="8641080" cy="86868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Stop Placement</a:t>
            </a:r>
            <a:endParaRPr lang="en-US" sz="2200" dirty="0"/>
          </a:p>
        </p:txBody>
      </p:sp>
      <p:sp>
        <p:nvSpPr>
          <p:cNvPr id="14" name="Shape 11"/>
          <p:cNvSpPr/>
          <p:nvPr/>
        </p:nvSpPr>
        <p:spPr>
          <a:xfrm>
            <a:off x="640080" y="4983480"/>
            <a:ext cx="10058400" cy="868680"/>
          </a:xfrm>
          <a:prstGeom prst="roundRect">
            <a:avLst>
              <a:gd name="adj" fmla="val 8421"/>
            </a:avLst>
          </a:prstGeom>
          <a:solidFill>
            <a:srgbClr val="1E1E1E"/>
          </a:solidFill>
          <a:ln w="12700">
            <a:solidFill>
              <a:srgbClr val="1E1E1E"/>
            </a:solidFill>
            <a:prstDash val="solid"/>
          </a:ln>
        </p:spPr>
      </p:sp>
      <p:sp>
        <p:nvSpPr>
          <p:cNvPr id="15" name="Text 12"/>
          <p:cNvSpPr txBox="1"/>
          <p:nvPr/>
        </p:nvSpPr>
        <p:spPr>
          <a:xfrm>
            <a:off x="914400" y="4983480"/>
            <a:ext cx="914400" cy="86868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5.4</a:t>
            </a:r>
            <a:endParaRPr lang="en-US" sz="2600" dirty="0"/>
          </a:p>
        </p:txBody>
      </p:sp>
      <p:sp>
        <p:nvSpPr>
          <p:cNvPr id="16" name="Text 13"/>
          <p:cNvSpPr txBox="1"/>
          <p:nvPr/>
        </p:nvSpPr>
        <p:spPr>
          <a:xfrm>
            <a:off x="1874520" y="4983480"/>
            <a:ext cx="8641080" cy="86868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Full Worked Example</a:t>
            </a:r>
            <a:endParaRPr lang="en-US" sz="2200" dirty="0"/>
          </a:p>
        </p:txBody>
      </p:sp>
      <p:sp>
        <p:nvSpPr>
          <p:cNvPr id="17" name="Text 14"/>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5.1</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Pre-Trade Checklist</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5  •  LESSON 5.1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Glue This to Your Monitor</a:t>
            </a:r>
            <a:endParaRPr lang="en-US" sz="3600" dirty="0"/>
          </a:p>
        </p:txBody>
      </p:sp>
      <p:sp>
        <p:nvSpPr>
          <p:cNvPr id="5" name="Shape 2"/>
          <p:cNvSpPr/>
          <p:nvPr/>
        </p:nvSpPr>
        <p:spPr>
          <a:xfrm>
            <a:off x="640080" y="1819656"/>
            <a:ext cx="475488" cy="475488"/>
          </a:xfrm>
          <a:prstGeom prst="ellipse">
            <a:avLst/>
          </a:prstGeom>
          <a:solidFill>
            <a:srgbClr val="111111"/>
          </a:solidFill>
          <a:ln w="12700">
            <a:solidFill>
              <a:srgbClr val="111111"/>
            </a:solidFill>
            <a:prstDash val="solid"/>
          </a:ln>
        </p:spPr>
      </p:sp>
      <p:sp>
        <p:nvSpPr>
          <p:cNvPr id="6" name="Text 3"/>
          <p:cNvSpPr txBox="1"/>
          <p:nvPr/>
        </p:nvSpPr>
        <p:spPr>
          <a:xfrm>
            <a:off x="640080" y="181965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1371600" y="1783080"/>
            <a:ext cx="10180015" cy="548640"/>
          </a:xfrm>
          <a:prstGeom prst="rect">
            <a:avLst/>
          </a:prstGeom>
          <a:noFill/>
          <a:ln/>
        </p:spPr>
        <p:txBody>
          <a:bodyPr wrap="square" lIns="0" tIns="0" rIns="0" bIns="0" rtlCol="0" anchor="ctr"/>
          <a:lstStyle/>
          <a:p>
            <a:pPr indent="0" marL="0">
              <a:buNone/>
            </a:pPr>
            <a:r>
              <a:rPr lang="en-US" sz="2600" dirty="0">
                <a:solidFill>
                  <a:srgbClr val="111111"/>
                </a:solidFill>
                <a:latin typeface="Calibri" pitchFamily="34" charset="0"/>
                <a:ea typeface="Calibri" pitchFamily="34" charset="-122"/>
                <a:cs typeface="Calibri" pitchFamily="34" charset="-120"/>
              </a:rPr>
              <a:t>Confirm the AMD phase</a:t>
            </a:r>
            <a:endParaRPr lang="en-US" sz="2600" dirty="0"/>
          </a:p>
        </p:txBody>
      </p:sp>
      <p:sp>
        <p:nvSpPr>
          <p:cNvPr id="8" name="Shape 5"/>
          <p:cNvSpPr/>
          <p:nvPr/>
        </p:nvSpPr>
        <p:spPr>
          <a:xfrm>
            <a:off x="640080" y="2441448"/>
            <a:ext cx="475488" cy="475488"/>
          </a:xfrm>
          <a:prstGeom prst="ellipse">
            <a:avLst/>
          </a:prstGeom>
          <a:solidFill>
            <a:srgbClr val="111111"/>
          </a:solidFill>
          <a:ln w="12700">
            <a:solidFill>
              <a:srgbClr val="111111"/>
            </a:solidFill>
            <a:prstDash val="solid"/>
          </a:ln>
        </p:spPr>
      </p:sp>
      <p:sp>
        <p:nvSpPr>
          <p:cNvPr id="9" name="Text 6"/>
          <p:cNvSpPr txBox="1"/>
          <p:nvPr/>
        </p:nvSpPr>
        <p:spPr>
          <a:xfrm>
            <a:off x="640080" y="244144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7"/>
          <p:cNvSpPr txBox="1"/>
          <p:nvPr/>
        </p:nvSpPr>
        <p:spPr>
          <a:xfrm>
            <a:off x="1371600" y="2404872"/>
            <a:ext cx="10180015" cy="548640"/>
          </a:xfrm>
          <a:prstGeom prst="rect">
            <a:avLst/>
          </a:prstGeom>
          <a:noFill/>
          <a:ln/>
        </p:spPr>
        <p:txBody>
          <a:bodyPr wrap="square" lIns="0" tIns="0" rIns="0" bIns="0" rtlCol="0" anchor="ctr"/>
          <a:lstStyle/>
          <a:p>
            <a:pPr indent="0" marL="0">
              <a:buNone/>
            </a:pPr>
            <a:r>
              <a:rPr lang="en-US" sz="2600" dirty="0">
                <a:solidFill>
                  <a:srgbClr val="111111"/>
                </a:solidFill>
                <a:latin typeface="Calibri" pitchFamily="34" charset="0"/>
                <a:ea typeface="Calibri" pitchFamily="34" charset="-122"/>
                <a:cs typeface="Calibri" pitchFamily="34" charset="-120"/>
              </a:rPr>
              <a:t>Check the daily bias (higher timeframe)</a:t>
            </a:r>
            <a:endParaRPr lang="en-US" sz="2600" dirty="0"/>
          </a:p>
        </p:txBody>
      </p:sp>
      <p:sp>
        <p:nvSpPr>
          <p:cNvPr id="11" name="Shape 8"/>
          <p:cNvSpPr/>
          <p:nvPr/>
        </p:nvSpPr>
        <p:spPr>
          <a:xfrm>
            <a:off x="640080" y="3063240"/>
            <a:ext cx="475488" cy="475488"/>
          </a:xfrm>
          <a:prstGeom prst="ellipse">
            <a:avLst/>
          </a:prstGeom>
          <a:solidFill>
            <a:srgbClr val="111111"/>
          </a:solidFill>
          <a:ln w="12700">
            <a:solidFill>
              <a:srgbClr val="111111"/>
            </a:solidFill>
            <a:prstDash val="solid"/>
          </a:ln>
        </p:spPr>
      </p:sp>
      <p:sp>
        <p:nvSpPr>
          <p:cNvPr id="12" name="Text 9"/>
          <p:cNvSpPr txBox="1"/>
          <p:nvPr/>
        </p:nvSpPr>
        <p:spPr>
          <a:xfrm>
            <a:off x="640080" y="306324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3" name="Text 10"/>
          <p:cNvSpPr txBox="1"/>
          <p:nvPr/>
        </p:nvSpPr>
        <p:spPr>
          <a:xfrm>
            <a:off x="1371600" y="3026664"/>
            <a:ext cx="10180015" cy="548640"/>
          </a:xfrm>
          <a:prstGeom prst="rect">
            <a:avLst/>
          </a:prstGeom>
          <a:noFill/>
          <a:ln/>
        </p:spPr>
        <p:txBody>
          <a:bodyPr wrap="square" lIns="0" tIns="0" rIns="0" bIns="0" rtlCol="0" anchor="ctr"/>
          <a:lstStyle/>
          <a:p>
            <a:pPr indent="0" marL="0">
              <a:buNone/>
            </a:pPr>
            <a:r>
              <a:rPr lang="en-US" sz="2600" dirty="0">
                <a:solidFill>
                  <a:srgbClr val="111111"/>
                </a:solidFill>
                <a:latin typeface="Calibri" pitchFamily="34" charset="0"/>
                <a:ea typeface="Calibri" pitchFamily="34" charset="-122"/>
                <a:cs typeface="Calibri" pitchFamily="34" charset="-120"/>
              </a:rPr>
              <a:t>In your window: 10 AM–12 PM ET while learning</a:t>
            </a:r>
            <a:endParaRPr lang="en-US" sz="2600" dirty="0"/>
          </a:p>
        </p:txBody>
      </p:sp>
      <p:sp>
        <p:nvSpPr>
          <p:cNvPr id="14" name="Shape 11"/>
          <p:cNvSpPr/>
          <p:nvPr/>
        </p:nvSpPr>
        <p:spPr>
          <a:xfrm>
            <a:off x="640080" y="3685032"/>
            <a:ext cx="475488" cy="475488"/>
          </a:xfrm>
          <a:prstGeom prst="ellipse">
            <a:avLst/>
          </a:prstGeom>
          <a:solidFill>
            <a:srgbClr val="111111"/>
          </a:solidFill>
          <a:ln w="12700">
            <a:solidFill>
              <a:srgbClr val="111111"/>
            </a:solidFill>
            <a:prstDash val="solid"/>
          </a:ln>
        </p:spPr>
      </p:sp>
      <p:sp>
        <p:nvSpPr>
          <p:cNvPr id="15" name="Text 12"/>
          <p:cNvSpPr txBox="1"/>
          <p:nvPr/>
        </p:nvSpPr>
        <p:spPr>
          <a:xfrm>
            <a:off x="640080" y="368503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6" name="Text 13"/>
          <p:cNvSpPr txBox="1"/>
          <p:nvPr/>
        </p:nvSpPr>
        <p:spPr>
          <a:xfrm>
            <a:off x="1371600" y="3648456"/>
            <a:ext cx="10180015" cy="548640"/>
          </a:xfrm>
          <a:prstGeom prst="rect">
            <a:avLst/>
          </a:prstGeom>
          <a:noFill/>
          <a:ln/>
        </p:spPr>
        <p:txBody>
          <a:bodyPr wrap="square" lIns="0" tIns="0" rIns="0" bIns="0" rtlCol="0" anchor="ctr"/>
          <a:lstStyle/>
          <a:p>
            <a:pPr indent="0" marL="0">
              <a:buNone/>
            </a:pPr>
            <a:r>
              <a:rPr lang="en-US" sz="2600" dirty="0">
                <a:solidFill>
                  <a:srgbClr val="111111"/>
                </a:solidFill>
                <a:latin typeface="Calibri" pitchFamily="34" charset="0"/>
                <a:ea typeface="Calibri" pitchFamily="34" charset="-122"/>
                <a:cs typeface="Calibri" pitchFamily="34" charset="-120"/>
              </a:rPr>
              <a:t>Identify the session liquidity targets</a:t>
            </a:r>
            <a:endParaRPr lang="en-US" sz="2600" dirty="0"/>
          </a:p>
        </p:txBody>
      </p:sp>
      <p:sp>
        <p:nvSpPr>
          <p:cNvPr id="17" name="Shape 14"/>
          <p:cNvSpPr/>
          <p:nvPr/>
        </p:nvSpPr>
        <p:spPr>
          <a:xfrm>
            <a:off x="640080" y="4306824"/>
            <a:ext cx="475488" cy="475488"/>
          </a:xfrm>
          <a:prstGeom prst="ellipse">
            <a:avLst/>
          </a:prstGeom>
          <a:solidFill>
            <a:srgbClr val="111111"/>
          </a:solidFill>
          <a:ln w="12700">
            <a:solidFill>
              <a:srgbClr val="111111"/>
            </a:solidFill>
            <a:prstDash val="solid"/>
          </a:ln>
        </p:spPr>
      </p:sp>
      <p:sp>
        <p:nvSpPr>
          <p:cNvPr id="18" name="Text 15"/>
          <p:cNvSpPr txBox="1"/>
          <p:nvPr/>
        </p:nvSpPr>
        <p:spPr>
          <a:xfrm>
            <a:off x="640080" y="4306824"/>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19" name="Text 16"/>
          <p:cNvSpPr txBox="1"/>
          <p:nvPr/>
        </p:nvSpPr>
        <p:spPr>
          <a:xfrm>
            <a:off x="1371600" y="4270248"/>
            <a:ext cx="10180015" cy="548640"/>
          </a:xfrm>
          <a:prstGeom prst="rect">
            <a:avLst/>
          </a:prstGeom>
          <a:noFill/>
          <a:ln/>
        </p:spPr>
        <p:txBody>
          <a:bodyPr wrap="square" lIns="0" tIns="0" rIns="0" bIns="0" rtlCol="0" anchor="ctr"/>
          <a:lstStyle/>
          <a:p>
            <a:pPr indent="0" marL="0">
              <a:buNone/>
            </a:pPr>
            <a:r>
              <a:rPr lang="en-US" sz="2600" dirty="0">
                <a:solidFill>
                  <a:srgbClr val="111111"/>
                </a:solidFill>
                <a:latin typeface="Calibri" pitchFamily="34" charset="0"/>
                <a:ea typeface="Calibri" pitchFamily="34" charset="-122"/>
                <a:cs typeface="Calibri" pitchFamily="34" charset="-120"/>
              </a:rPr>
              <a:t>Volume profile agrees (30m). POC: entry or target?</a:t>
            </a:r>
            <a:endParaRPr lang="en-US" sz="2600" dirty="0"/>
          </a:p>
        </p:txBody>
      </p:sp>
      <p:sp>
        <p:nvSpPr>
          <p:cNvPr id="20" name="Shape 17"/>
          <p:cNvSpPr/>
          <p:nvPr/>
        </p:nvSpPr>
        <p:spPr>
          <a:xfrm>
            <a:off x="640080" y="4928616"/>
            <a:ext cx="475488" cy="475488"/>
          </a:xfrm>
          <a:prstGeom prst="ellipse">
            <a:avLst/>
          </a:prstGeom>
          <a:solidFill>
            <a:srgbClr val="111111"/>
          </a:solidFill>
          <a:ln w="12700">
            <a:solidFill>
              <a:srgbClr val="111111"/>
            </a:solidFill>
            <a:prstDash val="solid"/>
          </a:ln>
        </p:spPr>
      </p:sp>
      <p:sp>
        <p:nvSpPr>
          <p:cNvPr id="21" name="Text 18"/>
          <p:cNvSpPr txBox="1"/>
          <p:nvPr/>
        </p:nvSpPr>
        <p:spPr>
          <a:xfrm>
            <a:off x="640080" y="492861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2" name="Text 19"/>
          <p:cNvSpPr txBox="1"/>
          <p:nvPr/>
        </p:nvSpPr>
        <p:spPr>
          <a:xfrm>
            <a:off x="1371600" y="4892040"/>
            <a:ext cx="10180015" cy="548640"/>
          </a:xfrm>
          <a:prstGeom prst="rect">
            <a:avLst/>
          </a:prstGeom>
          <a:noFill/>
          <a:ln/>
        </p:spPr>
        <p:txBody>
          <a:bodyPr wrap="square" lIns="0" tIns="0" rIns="0" bIns="0" rtlCol="0" anchor="ctr"/>
          <a:lstStyle/>
          <a:p>
            <a:pPr indent="0" marL="0">
              <a:buNone/>
            </a:pPr>
            <a:r>
              <a:rPr lang="en-US" sz="2600" dirty="0">
                <a:solidFill>
                  <a:srgbClr val="111111"/>
                </a:solidFill>
                <a:latin typeface="Calibri" pitchFamily="34" charset="0"/>
                <a:ea typeface="Calibri" pitchFamily="34" charset="-122"/>
                <a:cs typeface="Calibri" pitchFamily="34" charset="-120"/>
              </a:rPr>
              <a:t>Confirm CRT confluence</a:t>
            </a:r>
            <a:endParaRPr lang="en-US" sz="2600" dirty="0"/>
          </a:p>
        </p:txBody>
      </p:sp>
      <p:sp>
        <p:nvSpPr>
          <p:cNvPr id="23" name="Shape 20"/>
          <p:cNvSpPr/>
          <p:nvPr/>
        </p:nvSpPr>
        <p:spPr>
          <a:xfrm>
            <a:off x="640080" y="5550408"/>
            <a:ext cx="475488" cy="475488"/>
          </a:xfrm>
          <a:prstGeom prst="ellipse">
            <a:avLst/>
          </a:prstGeom>
          <a:solidFill>
            <a:srgbClr val="111111"/>
          </a:solidFill>
          <a:ln w="12700">
            <a:solidFill>
              <a:srgbClr val="111111"/>
            </a:solidFill>
            <a:prstDash val="solid"/>
          </a:ln>
        </p:spPr>
      </p:sp>
      <p:sp>
        <p:nvSpPr>
          <p:cNvPr id="24" name="Text 21"/>
          <p:cNvSpPr txBox="1"/>
          <p:nvPr/>
        </p:nvSpPr>
        <p:spPr>
          <a:xfrm>
            <a:off x="640080" y="55504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7</a:t>
            </a:r>
            <a:endParaRPr lang="en-US" sz="2000" dirty="0"/>
          </a:p>
        </p:txBody>
      </p:sp>
      <p:sp>
        <p:nvSpPr>
          <p:cNvPr id="25" name="Text 22"/>
          <p:cNvSpPr txBox="1"/>
          <p:nvPr/>
        </p:nvSpPr>
        <p:spPr>
          <a:xfrm>
            <a:off x="1371600" y="5513832"/>
            <a:ext cx="10180015" cy="548640"/>
          </a:xfrm>
          <a:prstGeom prst="rect">
            <a:avLst/>
          </a:prstGeom>
          <a:noFill/>
          <a:ln/>
        </p:spPr>
        <p:txBody>
          <a:bodyPr wrap="square" lIns="0" tIns="0" rIns="0" bIns="0" rtlCol="0" anchor="ctr"/>
          <a:lstStyle/>
          <a:p>
            <a:pPr indent="0" marL="0">
              <a:buNone/>
            </a:pPr>
            <a:r>
              <a:rPr lang="en-US" sz="2600" dirty="0">
                <a:solidFill>
                  <a:srgbClr val="111111"/>
                </a:solidFill>
                <a:latin typeface="Calibri" pitchFamily="34" charset="0"/>
                <a:ea typeface="Calibri" pitchFamily="34" charset="-122"/>
                <a:cs typeface="Calibri" pitchFamily="34" charset="-120"/>
              </a:rPr>
              <a:t>Define your risk before entry</a:t>
            </a:r>
            <a:endParaRPr lang="en-US" sz="2600" dirty="0"/>
          </a:p>
        </p:txBody>
      </p:sp>
      <p:sp>
        <p:nvSpPr>
          <p:cNvPr id="26" name="Text 2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27" name="Text 24"/>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Every Single Time</a:t>
            </a:r>
            <a:endParaRPr lang="en-US" sz="3600" dirty="0"/>
          </a:p>
        </p:txBody>
      </p:sp>
      <p:sp>
        <p:nvSpPr>
          <p:cNvPr id="5" name="Shape 2"/>
          <p:cNvSpPr/>
          <p:nvPr/>
        </p:nvSpPr>
        <p:spPr>
          <a:xfrm>
            <a:off x="640080" y="1828800"/>
            <a:ext cx="10911535" cy="2743200"/>
          </a:xfrm>
          <a:prstGeom prst="roundRect">
            <a:avLst>
              <a:gd name="adj" fmla="val 2667"/>
            </a:avLst>
          </a:prstGeom>
          <a:solidFill>
            <a:srgbClr val="F2F2F2"/>
          </a:solidFill>
          <a:ln w="12700">
            <a:solidFill>
              <a:srgbClr val="F2F2F2"/>
            </a:solidFill>
            <a:prstDash val="solid"/>
          </a:ln>
        </p:spPr>
      </p:sp>
      <p:sp>
        <p:nvSpPr>
          <p:cNvPr id="6" name="Text 3"/>
          <p:cNvSpPr txBox="1"/>
          <p:nvPr/>
        </p:nvSpPr>
        <p:spPr>
          <a:xfrm>
            <a:off x="1097280" y="1828800"/>
            <a:ext cx="9997135" cy="274320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No skipping steps because you're excited.</a:t>
            </a:r>
            <a:endParaRPr lang="en-US" sz="3600" dirty="0"/>
          </a:p>
        </p:txBody>
      </p:sp>
      <p:sp>
        <p:nvSpPr>
          <p:cNvPr id="7" name="Text 4"/>
          <p:cNvSpPr txBox="1"/>
          <p:nvPr/>
        </p:nvSpPr>
        <p:spPr>
          <a:xfrm>
            <a:off x="640080" y="4846320"/>
            <a:ext cx="10911535" cy="91440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The checklist is what keeps a good setup from turning into a guess.</a:t>
            </a:r>
            <a:endParaRPr lang="en-US" sz="2400" dirty="0"/>
          </a:p>
        </p:txBody>
      </p:sp>
      <p:sp>
        <p:nvSpPr>
          <p:cNvPr id="8" name="Text 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9" name="Text 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 Checklist on a Real Setup</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Pick a recent setup</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Run all 7 steps out loud</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Check off each one as you go</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5.1</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Print or save this checklist where you'll see it before every trade</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Post a photo of where you put it: screen, wall, notebook</a:t>
            </a:r>
            <a:endParaRPr lang="en-US" sz="2600" dirty="0"/>
          </a:p>
        </p:txBody>
      </p:sp>
      <p:sp>
        <p:nvSpPr>
          <p:cNvPr id="11" name="Text 8"/>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2" name="Text 9"/>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5  •  LESSON 5.1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5.2</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Position Sizing &amp; Daily Risk Rules</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5  •  LESSON 5.2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The Sizing Formula</a:t>
            </a:r>
            <a:endParaRPr lang="en-US" sz="3600" dirty="0"/>
          </a:p>
        </p:txBody>
      </p:sp>
      <p:sp>
        <p:nvSpPr>
          <p:cNvPr id="5" name="Shape 2"/>
          <p:cNvSpPr/>
          <p:nvPr/>
        </p:nvSpPr>
        <p:spPr>
          <a:xfrm>
            <a:off x="640080" y="2103120"/>
            <a:ext cx="2316404" cy="1645920"/>
          </a:xfrm>
          <a:prstGeom prst="roundRect">
            <a:avLst>
              <a:gd name="adj" fmla="val 4444"/>
            </a:avLst>
          </a:prstGeom>
          <a:solidFill>
            <a:srgbClr val="F2F2F2"/>
          </a:solidFill>
          <a:ln w="12700">
            <a:solidFill>
              <a:srgbClr val="F2F2F2"/>
            </a:solidFill>
            <a:prstDash val="solid"/>
          </a:ln>
        </p:spPr>
      </p:sp>
      <p:sp>
        <p:nvSpPr>
          <p:cNvPr id="6" name="Text 3"/>
          <p:cNvSpPr txBox="1"/>
          <p:nvPr/>
        </p:nvSpPr>
        <p:spPr>
          <a:xfrm>
            <a:off x="777240" y="2103120"/>
            <a:ext cx="2042084" cy="1645920"/>
          </a:xfrm>
          <a:prstGeom prst="rect">
            <a:avLst/>
          </a:prstGeom>
          <a:noFill/>
          <a:ln/>
        </p:spPr>
        <p:txBody>
          <a:bodyPr wrap="square" lIns="0" tIns="0" rIns="0" bIns="0" rtlCol="0" anchor="ctr"/>
          <a:lstStyle/>
          <a:p>
            <a:pPr algn="ctr" indent="0" marL="0">
              <a:buNone/>
            </a:pPr>
            <a:r>
              <a:rPr lang="en-US" sz="2600" b="1" dirty="0">
                <a:solidFill>
                  <a:srgbClr val="111111"/>
                </a:solidFill>
                <a:latin typeface="Arial" pitchFamily="34" charset="0"/>
                <a:ea typeface="Arial" pitchFamily="34" charset="-122"/>
                <a:cs typeface="Arial" pitchFamily="34" charset="-120"/>
              </a:rPr>
              <a:t>$ you'll risk</a:t>
            </a:r>
            <a:endParaRPr lang="en-US" sz="2600" dirty="0"/>
          </a:p>
        </p:txBody>
      </p:sp>
      <p:sp>
        <p:nvSpPr>
          <p:cNvPr id="7" name="Text 4"/>
          <p:cNvSpPr txBox="1"/>
          <p:nvPr/>
        </p:nvSpPr>
        <p:spPr>
          <a:xfrm>
            <a:off x="2956484" y="2103120"/>
            <a:ext cx="548640" cy="1645920"/>
          </a:xfrm>
          <a:prstGeom prst="rect">
            <a:avLst/>
          </a:prstGeom>
          <a:noFill/>
          <a:ln/>
        </p:spPr>
        <p:txBody>
          <a:bodyPr wrap="square" lIns="0" tIns="0" rIns="0" bIns="0" rtlCol="0" anchor="ctr"/>
          <a:lstStyle/>
          <a:p>
            <a:pPr algn="ctr" indent="0" marL="0">
              <a:buNone/>
            </a:pPr>
            <a:r>
              <a:rPr lang="en-US" sz="4000" b="1" dirty="0">
                <a:solidFill>
                  <a:srgbClr val="E8912D"/>
                </a:solidFill>
                <a:latin typeface="Arial" pitchFamily="34" charset="0"/>
                <a:ea typeface="Arial" pitchFamily="34" charset="-122"/>
                <a:cs typeface="Arial" pitchFamily="34" charset="-120"/>
              </a:rPr>
              <a:t>÷</a:t>
            </a:r>
            <a:endParaRPr lang="en-US" sz="4000" dirty="0"/>
          </a:p>
        </p:txBody>
      </p:sp>
      <p:sp>
        <p:nvSpPr>
          <p:cNvPr id="8" name="Shape 5"/>
          <p:cNvSpPr/>
          <p:nvPr/>
        </p:nvSpPr>
        <p:spPr>
          <a:xfrm>
            <a:off x="3505124" y="2103120"/>
            <a:ext cx="2316404" cy="1645920"/>
          </a:xfrm>
          <a:prstGeom prst="roundRect">
            <a:avLst>
              <a:gd name="adj" fmla="val 4444"/>
            </a:avLst>
          </a:prstGeom>
          <a:solidFill>
            <a:srgbClr val="F2F2F2"/>
          </a:solidFill>
          <a:ln w="12700">
            <a:solidFill>
              <a:srgbClr val="F2F2F2"/>
            </a:solidFill>
            <a:prstDash val="solid"/>
          </a:ln>
        </p:spPr>
      </p:sp>
      <p:sp>
        <p:nvSpPr>
          <p:cNvPr id="9" name="Text 6"/>
          <p:cNvSpPr txBox="1"/>
          <p:nvPr/>
        </p:nvSpPr>
        <p:spPr>
          <a:xfrm>
            <a:off x="3642284" y="2103120"/>
            <a:ext cx="2042084" cy="1645920"/>
          </a:xfrm>
          <a:prstGeom prst="rect">
            <a:avLst/>
          </a:prstGeom>
          <a:noFill/>
          <a:ln/>
        </p:spPr>
        <p:txBody>
          <a:bodyPr wrap="square" lIns="0" tIns="0" rIns="0" bIns="0" rtlCol="0" anchor="ctr"/>
          <a:lstStyle/>
          <a:p>
            <a:pPr algn="ctr" indent="0" marL="0">
              <a:buNone/>
            </a:pPr>
            <a:r>
              <a:rPr lang="en-US" sz="2600" b="1" dirty="0">
                <a:solidFill>
                  <a:srgbClr val="111111"/>
                </a:solidFill>
                <a:latin typeface="Arial" pitchFamily="34" charset="0"/>
                <a:ea typeface="Arial" pitchFamily="34" charset="-122"/>
                <a:cs typeface="Arial" pitchFamily="34" charset="-120"/>
              </a:rPr>
              <a:t>stop in points</a:t>
            </a:r>
            <a:endParaRPr lang="en-US" sz="2600" dirty="0"/>
          </a:p>
        </p:txBody>
      </p:sp>
      <p:sp>
        <p:nvSpPr>
          <p:cNvPr id="10" name="Text 7"/>
          <p:cNvSpPr txBox="1"/>
          <p:nvPr/>
        </p:nvSpPr>
        <p:spPr>
          <a:xfrm>
            <a:off x="5821528" y="2103120"/>
            <a:ext cx="548640" cy="1645920"/>
          </a:xfrm>
          <a:prstGeom prst="rect">
            <a:avLst/>
          </a:prstGeom>
          <a:noFill/>
          <a:ln/>
        </p:spPr>
        <p:txBody>
          <a:bodyPr wrap="square" lIns="0" tIns="0" rIns="0" bIns="0" rtlCol="0" anchor="ctr"/>
          <a:lstStyle/>
          <a:p>
            <a:pPr algn="ctr" indent="0" marL="0">
              <a:buNone/>
            </a:pPr>
            <a:r>
              <a:rPr lang="en-US" sz="4000" b="1" dirty="0">
                <a:solidFill>
                  <a:srgbClr val="E8912D"/>
                </a:solidFill>
                <a:latin typeface="Arial" pitchFamily="34" charset="0"/>
                <a:ea typeface="Arial" pitchFamily="34" charset="-122"/>
                <a:cs typeface="Arial" pitchFamily="34" charset="-120"/>
              </a:rPr>
              <a:t>÷</a:t>
            </a:r>
            <a:endParaRPr lang="en-US" sz="4000" dirty="0"/>
          </a:p>
        </p:txBody>
      </p:sp>
      <p:sp>
        <p:nvSpPr>
          <p:cNvPr id="11" name="Shape 8"/>
          <p:cNvSpPr/>
          <p:nvPr/>
        </p:nvSpPr>
        <p:spPr>
          <a:xfrm>
            <a:off x="6370168" y="2103120"/>
            <a:ext cx="2316404" cy="1645920"/>
          </a:xfrm>
          <a:prstGeom prst="roundRect">
            <a:avLst>
              <a:gd name="adj" fmla="val 4444"/>
            </a:avLst>
          </a:prstGeom>
          <a:solidFill>
            <a:srgbClr val="F2F2F2"/>
          </a:solidFill>
          <a:ln w="12700">
            <a:solidFill>
              <a:srgbClr val="F2F2F2"/>
            </a:solidFill>
            <a:prstDash val="solid"/>
          </a:ln>
        </p:spPr>
      </p:sp>
      <p:sp>
        <p:nvSpPr>
          <p:cNvPr id="12" name="Text 9"/>
          <p:cNvSpPr txBox="1"/>
          <p:nvPr/>
        </p:nvSpPr>
        <p:spPr>
          <a:xfrm>
            <a:off x="6507328" y="2103120"/>
            <a:ext cx="2042084" cy="1645920"/>
          </a:xfrm>
          <a:prstGeom prst="rect">
            <a:avLst/>
          </a:prstGeom>
          <a:noFill/>
          <a:ln/>
        </p:spPr>
        <p:txBody>
          <a:bodyPr wrap="square" lIns="0" tIns="0" rIns="0" bIns="0" rtlCol="0" anchor="ctr"/>
          <a:lstStyle/>
          <a:p>
            <a:pPr algn="ctr" indent="0" marL="0">
              <a:buNone/>
            </a:pPr>
            <a:r>
              <a:rPr lang="en-US" sz="2600" b="1" dirty="0">
                <a:solidFill>
                  <a:srgbClr val="111111"/>
                </a:solidFill>
                <a:latin typeface="Arial" pitchFamily="34" charset="0"/>
                <a:ea typeface="Arial" pitchFamily="34" charset="-122"/>
                <a:cs typeface="Arial" pitchFamily="34" charset="-120"/>
              </a:rPr>
              <a:t>$50 per point</a:t>
            </a:r>
            <a:endParaRPr lang="en-US" sz="2600" dirty="0"/>
          </a:p>
        </p:txBody>
      </p:sp>
      <p:sp>
        <p:nvSpPr>
          <p:cNvPr id="13" name="Text 10"/>
          <p:cNvSpPr txBox="1"/>
          <p:nvPr/>
        </p:nvSpPr>
        <p:spPr>
          <a:xfrm>
            <a:off x="8686571" y="2103120"/>
            <a:ext cx="548640" cy="1645920"/>
          </a:xfrm>
          <a:prstGeom prst="rect">
            <a:avLst/>
          </a:prstGeom>
          <a:noFill/>
          <a:ln/>
        </p:spPr>
        <p:txBody>
          <a:bodyPr wrap="square" lIns="0" tIns="0" rIns="0" bIns="0" rtlCol="0" anchor="ctr"/>
          <a:lstStyle/>
          <a:p>
            <a:pPr algn="ctr" indent="0" marL="0">
              <a:buNone/>
            </a:pPr>
            <a:r>
              <a:rPr lang="en-US" sz="4000" b="1" dirty="0">
                <a:solidFill>
                  <a:srgbClr val="E8912D"/>
                </a:solidFill>
                <a:latin typeface="Arial" pitchFamily="34" charset="0"/>
                <a:ea typeface="Arial" pitchFamily="34" charset="-122"/>
                <a:cs typeface="Arial" pitchFamily="34" charset="-120"/>
              </a:rPr>
              <a:t>=</a:t>
            </a:r>
            <a:endParaRPr lang="en-US" sz="4000" dirty="0"/>
          </a:p>
        </p:txBody>
      </p:sp>
      <p:sp>
        <p:nvSpPr>
          <p:cNvPr id="14" name="Shape 11"/>
          <p:cNvSpPr/>
          <p:nvPr/>
        </p:nvSpPr>
        <p:spPr>
          <a:xfrm>
            <a:off x="9235211" y="2103120"/>
            <a:ext cx="2316404" cy="1645920"/>
          </a:xfrm>
          <a:prstGeom prst="roundRect">
            <a:avLst>
              <a:gd name="adj" fmla="val 4444"/>
            </a:avLst>
          </a:prstGeom>
          <a:solidFill>
            <a:srgbClr val="111111"/>
          </a:solidFill>
          <a:ln w="12700">
            <a:solidFill>
              <a:srgbClr val="111111"/>
            </a:solidFill>
            <a:prstDash val="solid"/>
          </a:ln>
        </p:spPr>
      </p:sp>
      <p:sp>
        <p:nvSpPr>
          <p:cNvPr id="15" name="Text 12"/>
          <p:cNvSpPr txBox="1"/>
          <p:nvPr/>
        </p:nvSpPr>
        <p:spPr>
          <a:xfrm>
            <a:off x="9372371" y="2103120"/>
            <a:ext cx="2042084" cy="16459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contracts</a:t>
            </a:r>
            <a:endParaRPr lang="en-US" sz="2600" dirty="0"/>
          </a:p>
        </p:txBody>
      </p:sp>
      <p:sp>
        <p:nvSpPr>
          <p:cNvPr id="16" name="Text 13"/>
          <p:cNvSpPr txBox="1"/>
          <p:nvPr/>
        </p:nvSpPr>
        <p:spPr>
          <a:xfrm>
            <a:off x="640080" y="4206240"/>
            <a:ext cx="10911535" cy="640080"/>
          </a:xfrm>
          <a:prstGeom prst="rect">
            <a:avLst/>
          </a:prstGeom>
          <a:noFill/>
          <a:ln/>
        </p:spPr>
        <p:txBody>
          <a:bodyPr wrap="square" lIns="0" tIns="0" rIns="0" bIns="0" rtlCol="0" anchor="t"/>
          <a:lstStyle/>
          <a:p>
            <a:pPr indent="0" marL="0">
              <a:buNone/>
            </a:pPr>
            <a:r>
              <a:rPr lang="en-US" sz="2800" b="1" dirty="0">
                <a:solidFill>
                  <a:srgbClr val="111111"/>
                </a:solidFill>
                <a:latin typeface="Calibri" pitchFamily="34" charset="0"/>
                <a:ea typeface="Calibri" pitchFamily="34" charset="-122"/>
                <a:cs typeface="Calibri" pitchFamily="34" charset="-120"/>
              </a:rPr>
              <a:t>Example: $200 ÷ 4 points ÷ $50 = 1 ES contract</a:t>
            </a:r>
            <a:endParaRPr lang="en-US" sz="2800" dirty="0"/>
          </a:p>
        </p:txBody>
      </p:sp>
      <p:sp>
        <p:nvSpPr>
          <p:cNvPr id="17" name="Text 14"/>
          <p:cNvSpPr txBox="1"/>
          <p:nvPr/>
        </p:nvSpPr>
        <p:spPr>
          <a:xfrm>
            <a:off x="640080" y="5029200"/>
            <a:ext cx="10911535" cy="731520"/>
          </a:xfrm>
          <a:prstGeom prst="rect">
            <a:avLst/>
          </a:prstGeom>
          <a:noFill/>
          <a:ln/>
        </p:spPr>
        <p:txBody>
          <a:bodyPr wrap="square" lIns="0" tIns="0" rIns="0" bIns="0" rtlCol="0" anchor="t"/>
          <a:lstStyle/>
          <a:p>
            <a:pPr indent="0" marL="0">
              <a:buNone/>
            </a:pPr>
            <a:r>
              <a:rPr lang="en-US" sz="2200" dirty="0">
                <a:solidFill>
                  <a:srgbClr val="6E6E6E"/>
                </a:solidFill>
                <a:latin typeface="Calibri" pitchFamily="34" charset="0"/>
                <a:ea typeface="Calibri" pitchFamily="34" charset="-122"/>
                <a:cs typeface="Calibri" pitchFamily="34" charset="-120"/>
              </a:rPr>
              <a:t>That's the formula professional sizing is built on. Next slide: what you'll use.</a:t>
            </a:r>
            <a:endParaRPr lang="en-US" sz="2200" dirty="0"/>
          </a:p>
        </p:txBody>
      </p:sp>
      <p:sp>
        <p:nvSpPr>
          <p:cNvPr id="18" name="Text 1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9" name="Text 1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Your Size While You Learn: Pick One</a:t>
            </a:r>
            <a:endParaRPr lang="en-US" sz="3600" dirty="0"/>
          </a:p>
        </p:txBody>
      </p:sp>
      <p:sp>
        <p:nvSpPr>
          <p:cNvPr id="5" name="Shape 2"/>
          <p:cNvSpPr/>
          <p:nvPr/>
        </p:nvSpPr>
        <p:spPr>
          <a:xfrm>
            <a:off x="640080" y="1783080"/>
            <a:ext cx="5257800" cy="3429000"/>
          </a:xfrm>
          <a:prstGeom prst="roundRect">
            <a:avLst>
              <a:gd name="adj" fmla="val 2133"/>
            </a:avLst>
          </a:prstGeom>
          <a:solidFill>
            <a:srgbClr val="F2F2F2"/>
          </a:solidFill>
          <a:ln w="12700">
            <a:solidFill>
              <a:srgbClr val="F2F2F2"/>
            </a:solidFill>
            <a:prstDash val="solid"/>
          </a:ln>
        </p:spPr>
      </p:sp>
      <p:sp>
        <p:nvSpPr>
          <p:cNvPr id="6" name="Text 3"/>
          <p:cNvSpPr txBox="1"/>
          <p:nvPr/>
        </p:nvSpPr>
        <p:spPr>
          <a:xfrm>
            <a:off x="1005840" y="2057400"/>
            <a:ext cx="2377440" cy="457200"/>
          </a:xfrm>
          <a:prstGeom prst="rect">
            <a:avLst/>
          </a:prstGeom>
          <a:noFill/>
          <a:ln/>
        </p:spPr>
        <p:txBody>
          <a:bodyPr wrap="square" lIns="0" tIns="0" rIns="0" bIns="0" rtlCol="0" anchor="t"/>
          <a:lstStyle/>
          <a:p>
            <a:pPr indent="0" marL="0">
              <a:buNone/>
            </a:pPr>
            <a:r>
              <a:rPr lang="en-US" sz="2000" b="1" spc="200" kern="0" dirty="0">
                <a:solidFill>
                  <a:srgbClr val="2A6FDB"/>
                </a:solidFill>
                <a:latin typeface="Arial" pitchFamily="34" charset="0"/>
                <a:ea typeface="Arial" pitchFamily="34" charset="-122"/>
                <a:cs typeface="Arial" pitchFamily="34" charset="-120"/>
              </a:rPr>
              <a:t>OPTION A</a:t>
            </a:r>
            <a:endParaRPr lang="en-US" sz="2000" dirty="0"/>
          </a:p>
        </p:txBody>
      </p:sp>
      <p:sp>
        <p:nvSpPr>
          <p:cNvPr id="7" name="Text 4"/>
          <p:cNvSpPr txBox="1"/>
          <p:nvPr/>
        </p:nvSpPr>
        <p:spPr>
          <a:xfrm>
            <a:off x="3383280" y="1965960"/>
            <a:ext cx="2148840" cy="640080"/>
          </a:xfrm>
          <a:prstGeom prst="rect">
            <a:avLst/>
          </a:prstGeom>
          <a:noFill/>
          <a:ln/>
        </p:spPr>
        <p:txBody>
          <a:bodyPr wrap="square" lIns="0" tIns="0" rIns="0" bIns="0" rtlCol="0" anchor="t"/>
          <a:lstStyle/>
          <a:p>
            <a:pPr algn="r" indent="0" marL="0">
              <a:buNone/>
            </a:pPr>
            <a:r>
              <a:rPr lang="en-US" sz="3600" b="1" dirty="0">
                <a:solidFill>
                  <a:srgbClr val="111111"/>
                </a:solidFill>
                <a:latin typeface="Arial" pitchFamily="34" charset="0"/>
                <a:ea typeface="Arial" pitchFamily="34" charset="-122"/>
                <a:cs typeface="Arial" pitchFamily="34" charset="-120"/>
              </a:rPr>
              <a:t>1 ES</a:t>
            </a:r>
            <a:endParaRPr lang="en-US" sz="3600" dirty="0"/>
          </a:p>
        </p:txBody>
      </p:sp>
      <p:sp>
        <p:nvSpPr>
          <p:cNvPr id="8" name="Text 5"/>
          <p:cNvSpPr txBox="1"/>
          <p:nvPr/>
        </p:nvSpPr>
        <p:spPr>
          <a:xfrm>
            <a:off x="1005840" y="2834640"/>
            <a:ext cx="4526280" cy="2194560"/>
          </a:xfrm>
          <a:prstGeom prst="rect">
            <a:avLst/>
          </a:prstGeom>
          <a:noFill/>
          <a:ln/>
        </p:spPr>
        <p:txBody>
          <a:bodyPr wrap="square" lIns="0" tIns="0" rIns="0" bIns="0" rtlCol="0" anchor="t"/>
          <a:lstStyle/>
          <a:p>
            <a:pPr marL="254000" indent="-254000">
              <a:spcAft>
                <a:spcPts val="1000"/>
              </a:spcAft>
              <a:buSzPct val="100000"/>
              <a:buChar char="•"/>
            </a:pPr>
            <a:r>
              <a:rPr lang="en-US" sz="2400" dirty="0">
                <a:solidFill>
                  <a:srgbClr val="111111"/>
                </a:solidFill>
                <a:latin typeface="Calibri" pitchFamily="34" charset="0"/>
                <a:ea typeface="Calibri" pitchFamily="34" charset="-122"/>
                <a:cs typeface="Calibri" pitchFamily="34" charset="-120"/>
              </a:rPr>
              <a:t>$50 per point</a:t>
            </a:r>
            <a:endParaRPr lang="en-US" sz="2400" dirty="0"/>
          </a:p>
          <a:p>
            <a:pPr marL="254000" indent="-254000">
              <a:spcAft>
                <a:spcPts val="1000"/>
              </a:spcAft>
              <a:buSzPct val="100000"/>
              <a:buChar char="•"/>
            </a:pPr>
            <a:r>
              <a:rPr lang="en-US" sz="2400" dirty="0">
                <a:solidFill>
                  <a:srgbClr val="111111"/>
                </a:solidFill>
                <a:latin typeface="Calibri" pitchFamily="34" charset="0"/>
                <a:ea typeface="Calibri" pitchFamily="34" charset="-122"/>
                <a:cs typeface="Calibri" pitchFamily="34" charset="-120"/>
              </a:rPr>
              <a:t>A stopped trade: $175–200</a:t>
            </a:r>
            <a:endParaRPr lang="en-US" sz="2400" dirty="0"/>
          </a:p>
          <a:p>
            <a:pPr marL="254000" indent="-254000">
              <a:spcAft>
                <a:spcPts val="1000"/>
              </a:spcAft>
              <a:buSzPct val="100000"/>
              <a:buChar char="•"/>
            </a:pPr>
            <a:r>
              <a:rPr lang="en-US" sz="2400" dirty="0">
                <a:solidFill>
                  <a:srgbClr val="111111"/>
                </a:solidFill>
                <a:latin typeface="Calibri" pitchFamily="34" charset="0"/>
                <a:ea typeface="Calibri" pitchFamily="34" charset="-122"/>
                <a:cs typeface="Calibri" pitchFamily="34" charset="-120"/>
              </a:rPr>
              <a:t>Daily limit: $200</a:t>
            </a:r>
            <a:endParaRPr lang="en-US" sz="2400" dirty="0"/>
          </a:p>
        </p:txBody>
      </p:sp>
      <p:sp>
        <p:nvSpPr>
          <p:cNvPr id="9" name="Shape 6"/>
          <p:cNvSpPr/>
          <p:nvPr/>
        </p:nvSpPr>
        <p:spPr>
          <a:xfrm>
            <a:off x="6293815" y="1783080"/>
            <a:ext cx="5257800" cy="3429000"/>
          </a:xfrm>
          <a:prstGeom prst="roundRect">
            <a:avLst>
              <a:gd name="adj" fmla="val 2133"/>
            </a:avLst>
          </a:prstGeom>
          <a:solidFill>
            <a:srgbClr val="F2F2F2"/>
          </a:solidFill>
          <a:ln w="12700">
            <a:solidFill>
              <a:srgbClr val="F2F2F2"/>
            </a:solidFill>
            <a:prstDash val="solid"/>
          </a:ln>
        </p:spPr>
      </p:sp>
      <p:sp>
        <p:nvSpPr>
          <p:cNvPr id="10" name="Text 7"/>
          <p:cNvSpPr txBox="1"/>
          <p:nvPr/>
        </p:nvSpPr>
        <p:spPr>
          <a:xfrm>
            <a:off x="6659575" y="2057400"/>
            <a:ext cx="2377440" cy="45720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OPTION B</a:t>
            </a:r>
            <a:endParaRPr lang="en-US" sz="2000" dirty="0"/>
          </a:p>
        </p:txBody>
      </p:sp>
      <p:sp>
        <p:nvSpPr>
          <p:cNvPr id="11" name="Text 8"/>
          <p:cNvSpPr txBox="1"/>
          <p:nvPr/>
        </p:nvSpPr>
        <p:spPr>
          <a:xfrm>
            <a:off x="9037015" y="1965960"/>
            <a:ext cx="2148840" cy="640080"/>
          </a:xfrm>
          <a:prstGeom prst="rect">
            <a:avLst/>
          </a:prstGeom>
          <a:noFill/>
          <a:ln/>
        </p:spPr>
        <p:txBody>
          <a:bodyPr wrap="square" lIns="0" tIns="0" rIns="0" bIns="0" rtlCol="0" anchor="t"/>
          <a:lstStyle/>
          <a:p>
            <a:pPr algn="r" indent="0" marL="0">
              <a:buNone/>
            </a:pPr>
            <a:r>
              <a:rPr lang="en-US" sz="3600" b="1" dirty="0">
                <a:solidFill>
                  <a:srgbClr val="111111"/>
                </a:solidFill>
                <a:latin typeface="Arial" pitchFamily="34" charset="0"/>
                <a:ea typeface="Arial" pitchFamily="34" charset="-122"/>
                <a:cs typeface="Arial" pitchFamily="34" charset="-120"/>
              </a:rPr>
              <a:t>2 ES</a:t>
            </a:r>
            <a:endParaRPr lang="en-US" sz="3600" dirty="0"/>
          </a:p>
        </p:txBody>
      </p:sp>
      <p:sp>
        <p:nvSpPr>
          <p:cNvPr id="12" name="Text 9"/>
          <p:cNvSpPr txBox="1"/>
          <p:nvPr/>
        </p:nvSpPr>
        <p:spPr>
          <a:xfrm>
            <a:off x="6659575" y="2834640"/>
            <a:ext cx="4526280" cy="2194560"/>
          </a:xfrm>
          <a:prstGeom prst="rect">
            <a:avLst/>
          </a:prstGeom>
          <a:noFill/>
          <a:ln/>
        </p:spPr>
        <p:txBody>
          <a:bodyPr wrap="square" lIns="0" tIns="0" rIns="0" bIns="0" rtlCol="0" anchor="t"/>
          <a:lstStyle/>
          <a:p>
            <a:pPr marL="254000" indent="-254000">
              <a:spcAft>
                <a:spcPts val="1000"/>
              </a:spcAft>
              <a:buSzPct val="100000"/>
              <a:buChar char="•"/>
            </a:pPr>
            <a:r>
              <a:rPr lang="en-US" sz="2400" dirty="0">
                <a:solidFill>
                  <a:srgbClr val="111111"/>
                </a:solidFill>
                <a:latin typeface="Calibri" pitchFamily="34" charset="0"/>
                <a:ea typeface="Calibri" pitchFamily="34" charset="-122"/>
                <a:cs typeface="Calibri" pitchFamily="34" charset="-120"/>
              </a:rPr>
              <a:t>$100 per point</a:t>
            </a:r>
            <a:endParaRPr lang="en-US" sz="2400" dirty="0"/>
          </a:p>
          <a:p>
            <a:pPr marL="254000" indent="-254000">
              <a:spcAft>
                <a:spcPts val="1000"/>
              </a:spcAft>
              <a:buSzPct val="100000"/>
              <a:buChar char="•"/>
            </a:pPr>
            <a:r>
              <a:rPr lang="en-US" sz="2400" dirty="0">
                <a:solidFill>
                  <a:srgbClr val="111111"/>
                </a:solidFill>
                <a:latin typeface="Calibri" pitchFamily="34" charset="0"/>
                <a:ea typeface="Calibri" pitchFamily="34" charset="-122"/>
                <a:cs typeface="Calibri" pitchFamily="34" charset="-120"/>
              </a:rPr>
              <a:t>A stopped trade: $350–400</a:t>
            </a:r>
            <a:endParaRPr lang="en-US" sz="2400" dirty="0"/>
          </a:p>
          <a:p>
            <a:pPr marL="254000" indent="-254000">
              <a:spcAft>
                <a:spcPts val="1000"/>
              </a:spcAft>
              <a:buSzPct val="100000"/>
              <a:buChar char="•"/>
            </a:pPr>
            <a:r>
              <a:rPr lang="en-US" sz="2400" dirty="0">
                <a:solidFill>
                  <a:srgbClr val="111111"/>
                </a:solidFill>
                <a:latin typeface="Calibri" pitchFamily="34" charset="0"/>
                <a:ea typeface="Calibri" pitchFamily="34" charset="-122"/>
                <a:cs typeface="Calibri" pitchFamily="34" charset="-120"/>
              </a:rPr>
              <a:t>Daily limit: $400. One loss ends your session</a:t>
            </a:r>
            <a:endParaRPr lang="en-US" sz="2400" dirty="0"/>
          </a:p>
        </p:txBody>
      </p:sp>
      <p:sp>
        <p:nvSpPr>
          <p:cNvPr id="13" name="Text 10"/>
          <p:cNvSpPr txBox="1"/>
          <p:nvPr/>
        </p:nvSpPr>
        <p:spPr>
          <a:xfrm>
            <a:off x="640080" y="5440680"/>
            <a:ext cx="10911535" cy="548640"/>
          </a:xfrm>
          <a:prstGeom prst="rect">
            <a:avLst/>
          </a:prstGeom>
          <a:noFill/>
          <a:ln/>
        </p:spPr>
        <p:txBody>
          <a:bodyPr wrap="square" lIns="0" tIns="0" rIns="0" bIns="0" rtlCol="0" anchor="t"/>
          <a:lstStyle/>
          <a:p>
            <a:pPr indent="0" marL="0">
              <a:buNone/>
            </a:pPr>
            <a:r>
              <a:rPr lang="en-US" sz="2400" b="1" dirty="0">
                <a:solidFill>
                  <a:srgbClr val="111111"/>
                </a:solidFill>
                <a:latin typeface="Calibri" pitchFamily="34" charset="0"/>
                <a:ea typeface="Calibri" pitchFamily="34" charset="-122"/>
                <a:cs typeface="Calibri" pitchFamily="34" charset="-120"/>
              </a:rPr>
              <a:t>A: smaller hit per loss. B: bigger moves, bigger losses.</a:t>
            </a:r>
            <a:endParaRPr lang="en-US" sz="2400" dirty="0"/>
          </a:p>
        </p:txBody>
      </p:sp>
      <p:sp>
        <p:nvSpPr>
          <p:cNvPr id="14" name="Text 1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5" name="Text 1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Keep It Fixed</a:t>
            </a:r>
            <a:endParaRPr lang="en-US" sz="3600" dirty="0"/>
          </a:p>
        </p:txBody>
      </p:sp>
      <p:sp>
        <p:nvSpPr>
          <p:cNvPr id="5" name="Shape 2"/>
          <p:cNvSpPr/>
          <p:nvPr/>
        </p:nvSpPr>
        <p:spPr>
          <a:xfrm>
            <a:off x="640080" y="1828800"/>
            <a:ext cx="3393338" cy="3657600"/>
          </a:xfrm>
          <a:prstGeom prst="roundRect">
            <a:avLst>
              <a:gd name="adj" fmla="val 2156"/>
            </a:avLst>
          </a:prstGeom>
          <a:solidFill>
            <a:srgbClr val="F2F2F2"/>
          </a:solidFill>
          <a:ln w="12700">
            <a:solidFill>
              <a:srgbClr val="F2F2F2"/>
            </a:solidFill>
            <a:prstDash val="solid"/>
          </a:ln>
        </p:spPr>
      </p:sp>
      <p:sp>
        <p:nvSpPr>
          <p:cNvPr id="6" name="Text 3"/>
          <p:cNvSpPr txBox="1"/>
          <p:nvPr/>
        </p:nvSpPr>
        <p:spPr>
          <a:xfrm>
            <a:off x="868680" y="2103120"/>
            <a:ext cx="2936138" cy="1188720"/>
          </a:xfrm>
          <a:prstGeom prst="rect">
            <a:avLst/>
          </a:prstGeom>
          <a:noFill/>
          <a:ln/>
        </p:spPr>
        <p:txBody>
          <a:bodyPr wrap="square" lIns="0" tIns="0" rIns="0" bIns="0" rtlCol="0" anchor="ctr"/>
          <a:lstStyle/>
          <a:p>
            <a:pPr algn="ctr" indent="0" marL="0">
              <a:buNone/>
            </a:pPr>
            <a:r>
              <a:rPr lang="en-US" sz="5400" b="1" dirty="0">
                <a:solidFill>
                  <a:srgbClr val="E8912D"/>
                </a:solidFill>
                <a:latin typeface="Arial" pitchFamily="34" charset="0"/>
                <a:ea typeface="Arial" pitchFamily="34" charset="-122"/>
                <a:cs typeface="Arial" pitchFamily="34" charset="-120"/>
              </a:rPr>
              <a:t>1 or 2</a:t>
            </a:r>
            <a:endParaRPr lang="en-US" sz="5400" dirty="0"/>
          </a:p>
        </p:txBody>
      </p:sp>
      <p:sp>
        <p:nvSpPr>
          <p:cNvPr id="7" name="Text 4"/>
          <p:cNvSpPr txBox="1"/>
          <p:nvPr/>
        </p:nvSpPr>
        <p:spPr>
          <a:xfrm>
            <a:off x="914400" y="3429000"/>
            <a:ext cx="2844698" cy="19202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ES contracts, your choice, the same on every trade</a:t>
            </a:r>
            <a:endParaRPr lang="en-US" sz="2200" dirty="0"/>
          </a:p>
        </p:txBody>
      </p:sp>
      <p:sp>
        <p:nvSpPr>
          <p:cNvPr id="8" name="Shape 5"/>
          <p:cNvSpPr/>
          <p:nvPr/>
        </p:nvSpPr>
        <p:spPr>
          <a:xfrm>
            <a:off x="4399178" y="1828800"/>
            <a:ext cx="3393338" cy="3657600"/>
          </a:xfrm>
          <a:prstGeom prst="roundRect">
            <a:avLst>
              <a:gd name="adj" fmla="val 2156"/>
            </a:avLst>
          </a:prstGeom>
          <a:solidFill>
            <a:srgbClr val="F2F2F2"/>
          </a:solidFill>
          <a:ln w="12700">
            <a:solidFill>
              <a:srgbClr val="F2F2F2"/>
            </a:solidFill>
            <a:prstDash val="solid"/>
          </a:ln>
        </p:spPr>
      </p:sp>
      <p:sp>
        <p:nvSpPr>
          <p:cNvPr id="9" name="Text 6"/>
          <p:cNvSpPr txBox="1"/>
          <p:nvPr/>
        </p:nvSpPr>
        <p:spPr>
          <a:xfrm>
            <a:off x="4627778" y="2103120"/>
            <a:ext cx="2936138" cy="1188720"/>
          </a:xfrm>
          <a:prstGeom prst="rect">
            <a:avLst/>
          </a:prstGeom>
          <a:noFill/>
          <a:ln/>
        </p:spPr>
        <p:txBody>
          <a:bodyPr wrap="square" lIns="0" tIns="0" rIns="0" bIns="0" rtlCol="0" anchor="ctr"/>
          <a:lstStyle/>
          <a:p>
            <a:pPr algn="ctr" indent="0" marL="0">
              <a:buNone/>
            </a:pPr>
            <a:r>
              <a:rPr lang="en-US" sz="5400" b="1" dirty="0">
                <a:solidFill>
                  <a:srgbClr val="E8912D"/>
                </a:solidFill>
                <a:latin typeface="Arial" pitchFamily="34" charset="0"/>
                <a:ea typeface="Arial" pitchFamily="34" charset="-122"/>
                <a:cs typeface="Arial" pitchFamily="34" charset="-120"/>
              </a:rPr>
              <a:t>1.5x–2x</a:t>
            </a:r>
            <a:endParaRPr lang="en-US" sz="5400" dirty="0"/>
          </a:p>
        </p:txBody>
      </p:sp>
      <p:sp>
        <p:nvSpPr>
          <p:cNvPr id="10" name="Text 7"/>
          <p:cNvSpPr txBox="1"/>
          <p:nvPr/>
        </p:nvSpPr>
        <p:spPr>
          <a:xfrm>
            <a:off x="4673498" y="3429000"/>
            <a:ext cx="2844698" cy="19202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account growth before you size up</a:t>
            </a:r>
            <a:endParaRPr lang="en-US" sz="2200" dirty="0"/>
          </a:p>
        </p:txBody>
      </p:sp>
      <p:sp>
        <p:nvSpPr>
          <p:cNvPr id="11" name="Shape 8"/>
          <p:cNvSpPr/>
          <p:nvPr/>
        </p:nvSpPr>
        <p:spPr>
          <a:xfrm>
            <a:off x="8158277" y="1828800"/>
            <a:ext cx="3393338" cy="3657600"/>
          </a:xfrm>
          <a:prstGeom prst="roundRect">
            <a:avLst>
              <a:gd name="adj" fmla="val 2156"/>
            </a:avLst>
          </a:prstGeom>
          <a:solidFill>
            <a:srgbClr val="F2F2F2"/>
          </a:solidFill>
          <a:ln w="12700">
            <a:solidFill>
              <a:srgbClr val="F2F2F2"/>
            </a:solidFill>
            <a:prstDash val="solid"/>
          </a:ln>
        </p:spPr>
      </p:sp>
      <p:sp>
        <p:nvSpPr>
          <p:cNvPr id="12" name="Text 9"/>
          <p:cNvSpPr txBox="1"/>
          <p:nvPr/>
        </p:nvSpPr>
        <p:spPr>
          <a:xfrm>
            <a:off x="8386877" y="2103120"/>
            <a:ext cx="2936138" cy="1188720"/>
          </a:xfrm>
          <a:prstGeom prst="rect">
            <a:avLst/>
          </a:prstGeom>
          <a:noFill/>
          <a:ln/>
        </p:spPr>
        <p:txBody>
          <a:bodyPr wrap="square" lIns="0" tIns="0" rIns="0" bIns="0" rtlCol="0" anchor="ctr"/>
          <a:lstStyle/>
          <a:p>
            <a:pPr algn="ctr" indent="0" marL="0">
              <a:buNone/>
            </a:pPr>
            <a:r>
              <a:rPr lang="en-US" sz="5400" b="1" dirty="0">
                <a:solidFill>
                  <a:srgbClr val="E8912D"/>
                </a:solidFill>
                <a:latin typeface="Arial" pitchFamily="34" charset="0"/>
                <a:ea typeface="Arial" pitchFamily="34" charset="-122"/>
                <a:cs typeface="Arial" pitchFamily="34" charset="-120"/>
              </a:rPr>
              <a:t>4</a:t>
            </a:r>
            <a:endParaRPr lang="en-US" sz="5400" dirty="0"/>
          </a:p>
        </p:txBody>
      </p:sp>
      <p:sp>
        <p:nvSpPr>
          <p:cNvPr id="13" name="Text 10"/>
          <p:cNvSpPr txBox="1"/>
          <p:nvPr/>
        </p:nvSpPr>
        <p:spPr>
          <a:xfrm>
            <a:off x="8432597" y="3429000"/>
            <a:ext cx="2844698" cy="19202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ES contracts max once you hit that milestone</a:t>
            </a:r>
            <a:endParaRPr lang="en-US" sz="2200" dirty="0"/>
          </a:p>
        </p:txBody>
      </p:sp>
      <p:sp>
        <p:nvSpPr>
          <p:cNvPr id="14" name="Text 1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5" name="Text 1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Know Your Number Before You Trade</a:t>
            </a:r>
            <a:endParaRPr lang="en-US" sz="3600" dirty="0"/>
          </a:p>
        </p:txBody>
      </p:sp>
      <p:sp>
        <p:nvSpPr>
          <p:cNvPr id="5" name="Shape 2"/>
          <p:cNvSpPr/>
          <p:nvPr/>
        </p:nvSpPr>
        <p:spPr>
          <a:xfrm>
            <a:off x="640080" y="1828800"/>
            <a:ext cx="10911535" cy="2743200"/>
          </a:xfrm>
          <a:prstGeom prst="roundRect">
            <a:avLst>
              <a:gd name="adj" fmla="val 2667"/>
            </a:avLst>
          </a:prstGeom>
          <a:solidFill>
            <a:srgbClr val="F2F2F2"/>
          </a:solidFill>
          <a:ln w="12700">
            <a:solidFill>
              <a:srgbClr val="F2F2F2"/>
            </a:solidFill>
            <a:prstDash val="solid"/>
          </a:ln>
        </p:spPr>
      </p:sp>
      <p:sp>
        <p:nvSpPr>
          <p:cNvPr id="6" name="Text 3"/>
          <p:cNvSpPr txBox="1"/>
          <p:nvPr/>
        </p:nvSpPr>
        <p:spPr>
          <a:xfrm>
            <a:off x="1097280" y="1828800"/>
            <a:ext cx="9997135" cy="274320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How many losing trades until you hit your daily limit?</a:t>
            </a:r>
            <a:endParaRPr lang="en-US" sz="3600" dirty="0"/>
          </a:p>
        </p:txBody>
      </p:sp>
      <p:sp>
        <p:nvSpPr>
          <p:cNvPr id="7" name="Text 4"/>
          <p:cNvSpPr txBox="1"/>
          <p:nvPr/>
        </p:nvSpPr>
        <p:spPr>
          <a:xfrm>
            <a:off x="640080" y="4846320"/>
            <a:ext cx="10911535" cy="91440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If you can't answer that before the open, you're flying blind.</a:t>
            </a:r>
            <a:endParaRPr lang="en-US" sz="2400" dirty="0"/>
          </a:p>
        </p:txBody>
      </p:sp>
      <p:sp>
        <p:nvSpPr>
          <p:cNvPr id="8" name="Text 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9" name="Text 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My Numbers, Not Yours</a:t>
            </a:r>
            <a:endParaRPr lang="en-US" sz="3600" dirty="0"/>
          </a:p>
        </p:txBody>
      </p:sp>
      <p:sp>
        <p:nvSpPr>
          <p:cNvPr id="5" name="Shape 2"/>
          <p:cNvSpPr/>
          <p:nvPr/>
        </p:nvSpPr>
        <p:spPr>
          <a:xfrm>
            <a:off x="640080" y="1828800"/>
            <a:ext cx="3393338" cy="3200400"/>
          </a:xfrm>
          <a:prstGeom prst="roundRect">
            <a:avLst>
              <a:gd name="adj" fmla="val 2286"/>
            </a:avLst>
          </a:prstGeom>
          <a:solidFill>
            <a:srgbClr val="F2F2F2"/>
          </a:solidFill>
          <a:ln w="12700">
            <a:solidFill>
              <a:srgbClr val="F2F2F2"/>
            </a:solidFill>
            <a:prstDash val="solid"/>
          </a:ln>
        </p:spPr>
      </p:sp>
      <p:sp>
        <p:nvSpPr>
          <p:cNvPr id="6" name="Text 3"/>
          <p:cNvSpPr txBox="1"/>
          <p:nvPr/>
        </p:nvSpPr>
        <p:spPr>
          <a:xfrm>
            <a:off x="868680" y="2103120"/>
            <a:ext cx="2936138" cy="1188720"/>
          </a:xfrm>
          <a:prstGeom prst="rect">
            <a:avLst/>
          </a:prstGeom>
          <a:noFill/>
          <a:ln/>
        </p:spPr>
        <p:txBody>
          <a:bodyPr wrap="square" lIns="0" tIns="0" rIns="0" bIns="0" rtlCol="0" anchor="ctr"/>
          <a:lstStyle/>
          <a:p>
            <a:pPr algn="ctr" indent="0" marL="0">
              <a:buNone/>
            </a:pPr>
            <a:r>
              <a:rPr lang="en-US" sz="5400" b="1" dirty="0">
                <a:solidFill>
                  <a:srgbClr val="E8912D"/>
                </a:solidFill>
                <a:latin typeface="Arial" pitchFamily="34" charset="0"/>
                <a:ea typeface="Arial" pitchFamily="34" charset="-122"/>
                <a:cs typeface="Arial" pitchFamily="34" charset="-120"/>
              </a:rPr>
              <a:t>$1,000</a:t>
            </a:r>
            <a:endParaRPr lang="en-US" sz="5400" dirty="0"/>
          </a:p>
        </p:txBody>
      </p:sp>
      <p:sp>
        <p:nvSpPr>
          <p:cNvPr id="7" name="Text 4"/>
          <p:cNvSpPr txBox="1"/>
          <p:nvPr/>
        </p:nvSpPr>
        <p:spPr>
          <a:xfrm>
            <a:off x="914400" y="3429000"/>
            <a:ext cx="2844698" cy="14630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max risk, total, per day</a:t>
            </a:r>
            <a:endParaRPr lang="en-US" sz="2200" dirty="0"/>
          </a:p>
        </p:txBody>
      </p:sp>
      <p:sp>
        <p:nvSpPr>
          <p:cNvPr id="8" name="Shape 5"/>
          <p:cNvSpPr/>
          <p:nvPr/>
        </p:nvSpPr>
        <p:spPr>
          <a:xfrm>
            <a:off x="4399178" y="1828800"/>
            <a:ext cx="3393338" cy="3200400"/>
          </a:xfrm>
          <a:prstGeom prst="roundRect">
            <a:avLst>
              <a:gd name="adj" fmla="val 2286"/>
            </a:avLst>
          </a:prstGeom>
          <a:solidFill>
            <a:srgbClr val="F2F2F2"/>
          </a:solidFill>
          <a:ln w="12700">
            <a:solidFill>
              <a:srgbClr val="F2F2F2"/>
            </a:solidFill>
            <a:prstDash val="solid"/>
          </a:ln>
        </p:spPr>
      </p:sp>
      <p:sp>
        <p:nvSpPr>
          <p:cNvPr id="9" name="Text 6"/>
          <p:cNvSpPr txBox="1"/>
          <p:nvPr/>
        </p:nvSpPr>
        <p:spPr>
          <a:xfrm>
            <a:off x="4627778" y="2103120"/>
            <a:ext cx="2936138" cy="1188720"/>
          </a:xfrm>
          <a:prstGeom prst="rect">
            <a:avLst/>
          </a:prstGeom>
          <a:noFill/>
          <a:ln/>
        </p:spPr>
        <p:txBody>
          <a:bodyPr wrap="square" lIns="0" tIns="0" rIns="0" bIns="0" rtlCol="0" anchor="ctr"/>
          <a:lstStyle/>
          <a:p>
            <a:pPr algn="ctr" indent="0" marL="0">
              <a:buNone/>
            </a:pPr>
            <a:r>
              <a:rPr lang="en-US" sz="5400" b="1" dirty="0">
                <a:solidFill>
                  <a:srgbClr val="E8912D"/>
                </a:solidFill>
                <a:latin typeface="Arial" pitchFamily="34" charset="0"/>
                <a:ea typeface="Arial" pitchFamily="34" charset="-122"/>
                <a:cs typeface="Arial" pitchFamily="34" charset="-120"/>
              </a:rPr>
              <a:t>$200</a:t>
            </a:r>
            <a:endParaRPr lang="en-US" sz="5400" dirty="0"/>
          </a:p>
        </p:txBody>
      </p:sp>
      <p:sp>
        <p:nvSpPr>
          <p:cNvPr id="10" name="Text 7"/>
          <p:cNvSpPr txBox="1"/>
          <p:nvPr/>
        </p:nvSpPr>
        <p:spPr>
          <a:xfrm>
            <a:off x="4673498" y="3429000"/>
            <a:ext cx="2844698" cy="14630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max during the manipulation session, 3:00–9:29 AM</a:t>
            </a:r>
            <a:endParaRPr lang="en-US" sz="2200" dirty="0"/>
          </a:p>
        </p:txBody>
      </p:sp>
      <p:sp>
        <p:nvSpPr>
          <p:cNvPr id="11" name="Shape 8"/>
          <p:cNvSpPr/>
          <p:nvPr/>
        </p:nvSpPr>
        <p:spPr>
          <a:xfrm>
            <a:off x="8158277" y="1828800"/>
            <a:ext cx="3393338" cy="3200400"/>
          </a:xfrm>
          <a:prstGeom prst="roundRect">
            <a:avLst>
              <a:gd name="adj" fmla="val 2286"/>
            </a:avLst>
          </a:prstGeom>
          <a:solidFill>
            <a:srgbClr val="F2F2F2"/>
          </a:solidFill>
          <a:ln w="12700">
            <a:solidFill>
              <a:srgbClr val="F2F2F2"/>
            </a:solidFill>
            <a:prstDash val="solid"/>
          </a:ln>
        </p:spPr>
      </p:sp>
      <p:sp>
        <p:nvSpPr>
          <p:cNvPr id="12" name="Text 9"/>
          <p:cNvSpPr txBox="1"/>
          <p:nvPr/>
        </p:nvSpPr>
        <p:spPr>
          <a:xfrm>
            <a:off x="8386877" y="2103120"/>
            <a:ext cx="2936138" cy="1188720"/>
          </a:xfrm>
          <a:prstGeom prst="rect">
            <a:avLst/>
          </a:prstGeom>
          <a:noFill/>
          <a:ln/>
        </p:spPr>
        <p:txBody>
          <a:bodyPr wrap="square" lIns="0" tIns="0" rIns="0" bIns="0" rtlCol="0" anchor="ctr"/>
          <a:lstStyle/>
          <a:p>
            <a:pPr algn="ctr" indent="0" marL="0">
              <a:buNone/>
            </a:pPr>
            <a:r>
              <a:rPr lang="en-US" sz="5400" b="1" dirty="0">
                <a:solidFill>
                  <a:srgbClr val="E8912D"/>
                </a:solidFill>
                <a:latin typeface="Arial" pitchFamily="34" charset="0"/>
                <a:ea typeface="Arial" pitchFamily="34" charset="-122"/>
                <a:cs typeface="Arial" pitchFamily="34" charset="-120"/>
              </a:rPr>
              <a:t>1–2</a:t>
            </a:r>
            <a:endParaRPr lang="en-US" sz="5400" dirty="0"/>
          </a:p>
        </p:txBody>
      </p:sp>
      <p:sp>
        <p:nvSpPr>
          <p:cNvPr id="13" name="Text 10"/>
          <p:cNvSpPr txBox="1"/>
          <p:nvPr/>
        </p:nvSpPr>
        <p:spPr>
          <a:xfrm>
            <a:off x="8432597" y="3429000"/>
            <a:ext cx="2844698" cy="14630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good trades, then I'm done</a:t>
            </a:r>
            <a:endParaRPr lang="en-US" sz="2200" dirty="0"/>
          </a:p>
        </p:txBody>
      </p:sp>
      <p:sp>
        <p:nvSpPr>
          <p:cNvPr id="14" name="Text 11"/>
          <p:cNvSpPr txBox="1"/>
          <p:nvPr/>
        </p:nvSpPr>
        <p:spPr>
          <a:xfrm>
            <a:off x="640080" y="5349240"/>
            <a:ext cx="10911535" cy="640080"/>
          </a:xfrm>
          <a:prstGeom prst="rect">
            <a:avLst/>
          </a:prstGeom>
          <a:noFill/>
          <a:ln/>
        </p:spPr>
        <p:txBody>
          <a:bodyPr wrap="square" lIns="0" tIns="0" rIns="0" bIns="0" rtlCol="0" anchor="t"/>
          <a:lstStyle/>
          <a:p>
            <a:pPr indent="0" marL="0">
              <a:buNone/>
            </a:pPr>
            <a:r>
              <a:rPr lang="en-US" sz="2400" b="1" dirty="0">
                <a:solidFill>
                  <a:srgbClr val="111111"/>
                </a:solidFill>
                <a:latin typeface="Calibri" pitchFamily="34" charset="0"/>
                <a:ea typeface="Calibri" pitchFamily="34" charset="-122"/>
                <a:cs typeface="Calibri" pitchFamily="34" charset="-120"/>
              </a:rPr>
              <a:t>Set your own cap. In an eval, use the firm's daily loss limit.</a:t>
            </a:r>
            <a:endParaRPr lang="en-US" sz="2400" dirty="0"/>
          </a:p>
        </p:txBody>
      </p:sp>
      <p:sp>
        <p:nvSpPr>
          <p:cNvPr id="15" name="Text 1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6" name="Text 1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Your Daily Profit Goal (While Learning)</a:t>
            </a:r>
            <a:endParaRPr lang="en-US" sz="3600" dirty="0"/>
          </a:p>
        </p:txBody>
      </p:sp>
      <p:sp>
        <p:nvSpPr>
          <p:cNvPr id="5" name="Shape 2"/>
          <p:cNvSpPr/>
          <p:nvPr/>
        </p:nvSpPr>
        <p:spPr>
          <a:xfrm>
            <a:off x="640080" y="1828800"/>
            <a:ext cx="5272888" cy="3291840"/>
          </a:xfrm>
          <a:prstGeom prst="roundRect">
            <a:avLst>
              <a:gd name="adj" fmla="val 2222"/>
            </a:avLst>
          </a:prstGeom>
          <a:solidFill>
            <a:srgbClr val="F2F2F2"/>
          </a:solidFill>
          <a:ln w="12700">
            <a:solidFill>
              <a:srgbClr val="F2F2F2"/>
            </a:solidFill>
            <a:prstDash val="solid"/>
          </a:ln>
        </p:spPr>
      </p:sp>
      <p:sp>
        <p:nvSpPr>
          <p:cNvPr id="6" name="Text 3"/>
          <p:cNvSpPr txBox="1"/>
          <p:nvPr/>
        </p:nvSpPr>
        <p:spPr>
          <a:xfrm>
            <a:off x="1005840" y="2148840"/>
            <a:ext cx="4541368" cy="41148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FLAT</a:t>
            </a:r>
            <a:endParaRPr lang="en-US" sz="2000" dirty="0"/>
          </a:p>
        </p:txBody>
      </p:sp>
      <p:sp>
        <p:nvSpPr>
          <p:cNvPr id="7" name="Text 4"/>
          <p:cNvSpPr txBox="1"/>
          <p:nvPr/>
        </p:nvSpPr>
        <p:spPr>
          <a:xfrm>
            <a:off x="1005840" y="2743200"/>
            <a:ext cx="4541368" cy="109728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$400 / day</a:t>
            </a:r>
            <a:endParaRPr lang="en-US" sz="3600" dirty="0"/>
          </a:p>
        </p:txBody>
      </p:sp>
      <p:sp>
        <p:nvSpPr>
          <p:cNvPr id="8" name="Text 5"/>
          <p:cNvSpPr txBox="1"/>
          <p:nvPr/>
        </p:nvSpPr>
        <p:spPr>
          <a:xfrm>
            <a:off x="1005840" y="4023360"/>
            <a:ext cx="4541368" cy="914400"/>
          </a:xfrm>
          <a:prstGeom prst="rect">
            <a:avLst/>
          </a:prstGeom>
          <a:noFill/>
          <a:ln/>
        </p:spPr>
        <p:txBody>
          <a:bodyPr wrap="square" lIns="0" tIns="0" rIns="0" bIns="0" rtlCol="0" anchor="t"/>
          <a:lstStyle/>
          <a:p>
            <a:pPr indent="0" marL="0">
              <a:buNone/>
            </a:pPr>
            <a:r>
              <a:rPr lang="en-US" sz="2200" dirty="0">
                <a:solidFill>
                  <a:srgbClr val="6E6E6E"/>
                </a:solidFill>
                <a:latin typeface="Calibri" pitchFamily="34" charset="0"/>
                <a:ea typeface="Calibri" pitchFamily="34" charset="-122"/>
                <a:cs typeface="Calibri" pitchFamily="34" charset="-120"/>
              </a:rPr>
              <a:t>Simple. Same number every day.</a:t>
            </a:r>
            <a:endParaRPr lang="en-US" sz="2200" dirty="0"/>
          </a:p>
        </p:txBody>
      </p:sp>
      <p:sp>
        <p:nvSpPr>
          <p:cNvPr id="9" name="Shape 6"/>
          <p:cNvSpPr/>
          <p:nvPr/>
        </p:nvSpPr>
        <p:spPr>
          <a:xfrm>
            <a:off x="6278728" y="1828800"/>
            <a:ext cx="5272888" cy="3291840"/>
          </a:xfrm>
          <a:prstGeom prst="roundRect">
            <a:avLst>
              <a:gd name="adj" fmla="val 2222"/>
            </a:avLst>
          </a:prstGeom>
          <a:solidFill>
            <a:srgbClr val="F2F2F2"/>
          </a:solidFill>
          <a:ln w="12700">
            <a:solidFill>
              <a:srgbClr val="F2F2F2"/>
            </a:solidFill>
            <a:prstDash val="solid"/>
          </a:ln>
        </p:spPr>
      </p:sp>
      <p:sp>
        <p:nvSpPr>
          <p:cNvPr id="10" name="Text 7"/>
          <p:cNvSpPr txBox="1"/>
          <p:nvPr/>
        </p:nvSpPr>
        <p:spPr>
          <a:xfrm>
            <a:off x="6644488" y="2148840"/>
            <a:ext cx="4541368" cy="41148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PERSONALIZED</a:t>
            </a:r>
            <a:endParaRPr lang="en-US" sz="2000" dirty="0"/>
          </a:p>
        </p:txBody>
      </p:sp>
      <p:sp>
        <p:nvSpPr>
          <p:cNvPr id="11" name="Text 8"/>
          <p:cNvSpPr txBox="1"/>
          <p:nvPr/>
        </p:nvSpPr>
        <p:spPr>
          <a:xfrm>
            <a:off x="6644488" y="2743200"/>
            <a:ext cx="4541368" cy="109728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Hourly × 8 × 2</a:t>
            </a:r>
            <a:endParaRPr lang="en-US" sz="3600" dirty="0"/>
          </a:p>
        </p:txBody>
      </p:sp>
      <p:sp>
        <p:nvSpPr>
          <p:cNvPr id="12" name="Text 9"/>
          <p:cNvSpPr txBox="1"/>
          <p:nvPr/>
        </p:nvSpPr>
        <p:spPr>
          <a:xfrm>
            <a:off x="6644488" y="4023360"/>
            <a:ext cx="4541368" cy="914400"/>
          </a:xfrm>
          <a:prstGeom prst="rect">
            <a:avLst/>
          </a:prstGeom>
          <a:noFill/>
          <a:ln/>
        </p:spPr>
        <p:txBody>
          <a:bodyPr wrap="square" lIns="0" tIns="0" rIns="0" bIns="0" rtlCol="0" anchor="t"/>
          <a:lstStyle/>
          <a:p>
            <a:pPr indent="0" marL="0">
              <a:buNone/>
            </a:pPr>
            <a:r>
              <a:rPr lang="en-US" sz="2200" dirty="0">
                <a:solidFill>
                  <a:srgbClr val="6E6E6E"/>
                </a:solidFill>
                <a:latin typeface="Calibri" pitchFamily="34" charset="0"/>
                <a:ea typeface="Calibri" pitchFamily="34" charset="-122"/>
                <a:cs typeface="Calibri" pitchFamily="34" charset="-120"/>
              </a:rPr>
              <a:t>Example: $20 × 8 = $160, × 2 = $320</a:t>
            </a:r>
            <a:endParaRPr lang="en-US" sz="2200" dirty="0"/>
          </a:p>
        </p:txBody>
      </p:sp>
      <p:sp>
        <p:nvSpPr>
          <p:cNvPr id="13" name="Text 10"/>
          <p:cNvSpPr txBox="1"/>
          <p:nvPr/>
        </p:nvSpPr>
        <p:spPr>
          <a:xfrm>
            <a:off x="640080" y="5440680"/>
            <a:ext cx="10911535" cy="548640"/>
          </a:xfrm>
          <a:prstGeom prst="rect">
            <a:avLst/>
          </a:prstGeom>
          <a:noFill/>
          <a:ln/>
        </p:spPr>
        <p:txBody>
          <a:bodyPr wrap="square" lIns="0" tIns="0" rIns="0" bIns="0" rtlCol="0" anchor="t"/>
          <a:lstStyle/>
          <a:p>
            <a:pPr indent="0" marL="0">
              <a:buNone/>
            </a:pPr>
            <a:r>
              <a:rPr lang="en-US" sz="2400" b="1" dirty="0">
                <a:solidFill>
                  <a:srgbClr val="111111"/>
                </a:solidFill>
                <a:latin typeface="Calibri" pitchFamily="34" charset="0"/>
                <a:ea typeface="Calibri" pitchFamily="34" charset="-122"/>
                <a:cs typeface="Calibri" pitchFamily="34" charset="-120"/>
              </a:rPr>
              <a:t>A reference number, not a quota. Stop after 1–2 good trades.</a:t>
            </a:r>
            <a:endParaRPr lang="en-US" sz="2400" dirty="0"/>
          </a:p>
        </p:txBody>
      </p:sp>
      <p:sp>
        <p:nvSpPr>
          <p:cNvPr id="14" name="Text 1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5" name="Text 1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Sizing a Real Setup</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Measure a 3.5–4 point hard stop on a real setup</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Option A, 1 ES: $175–200 of risk</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Option B, 2 ES: $350–400. One loss ends the session</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5.2</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Pick Option A (1 ES) or B (2 ES). Your dollar risk on a real setup with the hard stop</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Your daily limit, and how many losers like that it allows</a:t>
            </a:r>
            <a:endParaRPr lang="en-US" sz="2600" dirty="0"/>
          </a:p>
        </p:txBody>
      </p:sp>
      <p:sp>
        <p:nvSpPr>
          <p:cNvPr id="11" name="Shape 8"/>
          <p:cNvSpPr/>
          <p:nvPr/>
        </p:nvSpPr>
        <p:spPr>
          <a:xfrm>
            <a:off x="640080" y="4206240"/>
            <a:ext cx="640080" cy="640080"/>
          </a:xfrm>
          <a:prstGeom prst="ellipse">
            <a:avLst/>
          </a:prstGeom>
          <a:solidFill>
            <a:srgbClr val="FFFFFF"/>
          </a:solidFill>
          <a:ln w="12700">
            <a:solidFill>
              <a:srgbClr val="FFFFFF"/>
            </a:solidFill>
            <a:prstDash val="solid"/>
          </a:ln>
        </p:spPr>
      </p:sp>
      <p:sp>
        <p:nvSpPr>
          <p:cNvPr id="12" name="Text 9"/>
          <p:cNvSpPr txBox="1"/>
          <p:nvPr/>
        </p:nvSpPr>
        <p:spPr>
          <a:xfrm>
            <a:off x="640080" y="420624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3</a:t>
            </a:r>
            <a:endParaRPr lang="en-US" sz="2400" dirty="0"/>
          </a:p>
        </p:txBody>
      </p:sp>
      <p:sp>
        <p:nvSpPr>
          <p:cNvPr id="13" name="Text 10"/>
          <p:cNvSpPr txBox="1"/>
          <p:nvPr/>
        </p:nvSpPr>
        <p:spPr>
          <a:xfrm>
            <a:off x="1645920" y="411480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Your daily profit goal: $400 flat, or hourly × 8 × 2. Post all three</a:t>
            </a:r>
            <a:endParaRPr lang="en-US" sz="2600" dirty="0"/>
          </a:p>
        </p:txBody>
      </p:sp>
      <p:sp>
        <p:nvSpPr>
          <p:cNvPr id="14" name="Text 1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5" name="Text 1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5  •  LESSON 5.2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5.3</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Stop Placement</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5  •  LESSON 5.3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A Hard Stop, Every Setup</a:t>
            </a:r>
            <a:endParaRPr lang="en-US" sz="3600" dirty="0"/>
          </a:p>
        </p:txBody>
      </p:sp>
      <p:sp>
        <p:nvSpPr>
          <p:cNvPr id="5" name="Shape 2"/>
          <p:cNvSpPr/>
          <p:nvPr/>
        </p:nvSpPr>
        <p:spPr>
          <a:xfrm>
            <a:off x="640080" y="1828800"/>
            <a:ext cx="10911535" cy="2743200"/>
          </a:xfrm>
          <a:prstGeom prst="roundRect">
            <a:avLst>
              <a:gd name="adj" fmla="val 2667"/>
            </a:avLst>
          </a:prstGeom>
          <a:solidFill>
            <a:srgbClr val="F2F2F2"/>
          </a:solidFill>
          <a:ln w="12700">
            <a:solidFill>
              <a:srgbClr val="F2F2F2"/>
            </a:solidFill>
            <a:prstDash val="solid"/>
          </a:ln>
        </p:spPr>
      </p:sp>
      <p:sp>
        <p:nvSpPr>
          <p:cNvPr id="6" name="Text 3"/>
          <p:cNvSpPr txBox="1"/>
          <p:nvPr/>
        </p:nvSpPr>
        <p:spPr>
          <a:xfrm>
            <a:off x="640080" y="2011680"/>
            <a:ext cx="10911535" cy="1645920"/>
          </a:xfrm>
          <a:prstGeom prst="rect">
            <a:avLst/>
          </a:prstGeom>
          <a:noFill/>
          <a:ln/>
        </p:spPr>
        <p:txBody>
          <a:bodyPr wrap="square" lIns="0" tIns="0" rIns="0" bIns="0" rtlCol="0" anchor="ctr"/>
          <a:lstStyle/>
          <a:p>
            <a:pPr algn="ctr" indent="0" marL="0">
              <a:buNone/>
            </a:pPr>
            <a:r>
              <a:rPr lang="en-US" sz="9600" b="1" dirty="0">
                <a:solidFill>
                  <a:srgbClr val="E8912D"/>
                </a:solidFill>
                <a:latin typeface="Arial" pitchFamily="34" charset="0"/>
                <a:ea typeface="Arial" pitchFamily="34" charset="-122"/>
                <a:cs typeface="Arial" pitchFamily="34" charset="-120"/>
              </a:rPr>
              <a:t>3.5–4 pts</a:t>
            </a:r>
            <a:endParaRPr lang="en-US" sz="9600" dirty="0"/>
          </a:p>
        </p:txBody>
      </p:sp>
      <p:sp>
        <p:nvSpPr>
          <p:cNvPr id="7" name="Text 4"/>
          <p:cNvSpPr txBox="1"/>
          <p:nvPr/>
        </p:nvSpPr>
        <p:spPr>
          <a:xfrm>
            <a:off x="640080" y="3657600"/>
            <a:ext cx="10911535" cy="640080"/>
          </a:xfrm>
          <a:prstGeom prst="rect">
            <a:avLst/>
          </a:prstGeom>
          <a:noFill/>
          <a:ln/>
        </p:spPr>
        <p:txBody>
          <a:bodyPr wrap="square" lIns="0" tIns="0" rIns="0" bIns="0" rtlCol="0" anchor="t"/>
          <a:lstStyle/>
          <a:p>
            <a:pPr algn="ctr" indent="0" marL="0">
              <a:buNone/>
            </a:pPr>
            <a:r>
              <a:rPr lang="en-US" sz="2800" dirty="0">
                <a:solidFill>
                  <a:srgbClr val="111111"/>
                </a:solidFill>
                <a:latin typeface="Calibri" pitchFamily="34" charset="0"/>
                <a:ea typeface="Calibri" pitchFamily="34" charset="-122"/>
                <a:cs typeface="Calibri" pitchFamily="34" charset="-120"/>
              </a:rPr>
              <a:t>from your entry on ES</a:t>
            </a:r>
            <a:endParaRPr lang="en-US" sz="2800" dirty="0"/>
          </a:p>
        </p:txBody>
      </p:sp>
      <p:sp>
        <p:nvSpPr>
          <p:cNvPr id="8" name="Text 5"/>
          <p:cNvSpPr txBox="1"/>
          <p:nvPr/>
        </p:nvSpPr>
        <p:spPr>
          <a:xfrm>
            <a:off x="640080" y="4892040"/>
            <a:ext cx="10911535" cy="82296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The sweep entry and the POC entry. Every trade. No exceptions.</a:t>
            </a:r>
            <a:endParaRPr lang="en-US" sz="2400" dirty="0"/>
          </a:p>
        </p:txBody>
      </p:sp>
      <p:sp>
        <p:nvSpPr>
          <p:cNvPr id="9" name="Text 6"/>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0" name="Text 7"/>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What That Stop Costs</a:t>
            </a:r>
            <a:endParaRPr lang="en-US" sz="3600" dirty="0"/>
          </a:p>
        </p:txBody>
      </p:sp>
      <p:sp>
        <p:nvSpPr>
          <p:cNvPr id="5" name="Shape 2"/>
          <p:cNvSpPr/>
          <p:nvPr/>
        </p:nvSpPr>
        <p:spPr>
          <a:xfrm>
            <a:off x="640080" y="1828800"/>
            <a:ext cx="10911535" cy="685800"/>
          </a:xfrm>
          <a:prstGeom prst="rect">
            <a:avLst/>
          </a:prstGeom>
          <a:solidFill>
            <a:srgbClr val="111111"/>
          </a:solidFill>
          <a:ln w="12700">
            <a:solidFill>
              <a:srgbClr val="FFFFFF"/>
            </a:solidFill>
            <a:prstDash val="solid"/>
          </a:ln>
        </p:spPr>
      </p:sp>
      <p:sp>
        <p:nvSpPr>
          <p:cNvPr id="6" name="Text 3"/>
          <p:cNvSpPr txBox="1"/>
          <p:nvPr/>
        </p:nvSpPr>
        <p:spPr>
          <a:xfrm>
            <a:off x="914400" y="1828800"/>
            <a:ext cx="3657600" cy="685800"/>
          </a:xfrm>
          <a:prstGeom prst="rect">
            <a:avLst/>
          </a:prstGeom>
          <a:noFill/>
          <a:ln/>
        </p:spPr>
        <p:txBody>
          <a:bodyPr wrap="square" lIns="0" tIns="0" rIns="0" bIns="0" rtlCol="0" anchor="ctr"/>
          <a:lstStyle/>
          <a:p>
            <a:pPr algn="l" indent="0" marL="0">
              <a:buNone/>
            </a:pPr>
            <a:endParaRPr lang="en-US" sz="2000" dirty="0"/>
          </a:p>
        </p:txBody>
      </p:sp>
      <p:sp>
        <p:nvSpPr>
          <p:cNvPr id="7" name="Text 4"/>
          <p:cNvSpPr txBox="1"/>
          <p:nvPr/>
        </p:nvSpPr>
        <p:spPr>
          <a:xfrm>
            <a:off x="5120640" y="1828800"/>
            <a:ext cx="219456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Per point</a:t>
            </a:r>
            <a:endParaRPr lang="en-US" sz="2000" dirty="0"/>
          </a:p>
        </p:txBody>
      </p:sp>
      <p:sp>
        <p:nvSpPr>
          <p:cNvPr id="8" name="Text 5"/>
          <p:cNvSpPr txBox="1"/>
          <p:nvPr/>
        </p:nvSpPr>
        <p:spPr>
          <a:xfrm>
            <a:off x="7863840" y="1828800"/>
            <a:ext cx="3413455"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One stopped trade</a:t>
            </a:r>
            <a:endParaRPr lang="en-US" sz="2000" dirty="0"/>
          </a:p>
        </p:txBody>
      </p:sp>
      <p:sp>
        <p:nvSpPr>
          <p:cNvPr id="9" name="Shape 6"/>
          <p:cNvSpPr/>
          <p:nvPr/>
        </p:nvSpPr>
        <p:spPr>
          <a:xfrm>
            <a:off x="640080" y="2514600"/>
            <a:ext cx="10911535" cy="1005840"/>
          </a:xfrm>
          <a:prstGeom prst="rect">
            <a:avLst/>
          </a:prstGeom>
          <a:solidFill>
            <a:srgbClr val="F2F2F2"/>
          </a:solidFill>
          <a:ln w="12700">
            <a:solidFill>
              <a:srgbClr val="FFFFFF"/>
            </a:solidFill>
            <a:prstDash val="solid"/>
          </a:ln>
        </p:spPr>
      </p:sp>
      <p:sp>
        <p:nvSpPr>
          <p:cNvPr id="10" name="Text 7"/>
          <p:cNvSpPr txBox="1"/>
          <p:nvPr/>
        </p:nvSpPr>
        <p:spPr>
          <a:xfrm>
            <a:off x="914400" y="2514600"/>
            <a:ext cx="3657600" cy="100584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Option A: 1 ES</a:t>
            </a:r>
            <a:endParaRPr lang="en-US" sz="3000" dirty="0"/>
          </a:p>
        </p:txBody>
      </p:sp>
      <p:sp>
        <p:nvSpPr>
          <p:cNvPr id="11" name="Text 8"/>
          <p:cNvSpPr txBox="1"/>
          <p:nvPr/>
        </p:nvSpPr>
        <p:spPr>
          <a:xfrm>
            <a:off x="5120640" y="2514600"/>
            <a:ext cx="2194560" cy="1005840"/>
          </a:xfrm>
          <a:prstGeom prst="rect">
            <a:avLst/>
          </a:prstGeom>
          <a:noFill/>
          <a:ln/>
        </p:spPr>
        <p:txBody>
          <a:bodyPr wrap="square" lIns="0" tIns="0" rIns="0" bIns="0"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$50</a:t>
            </a:r>
            <a:endParaRPr lang="en-US" sz="3000" dirty="0"/>
          </a:p>
        </p:txBody>
      </p:sp>
      <p:sp>
        <p:nvSpPr>
          <p:cNvPr id="12" name="Text 9"/>
          <p:cNvSpPr txBox="1"/>
          <p:nvPr/>
        </p:nvSpPr>
        <p:spPr>
          <a:xfrm>
            <a:off x="7863840" y="2514600"/>
            <a:ext cx="3413455" cy="1005840"/>
          </a:xfrm>
          <a:prstGeom prst="rect">
            <a:avLst/>
          </a:prstGeom>
          <a:noFill/>
          <a:ln/>
        </p:spPr>
        <p:txBody>
          <a:bodyPr wrap="square" lIns="0" tIns="0" rIns="0" bIns="0" rtlCol="0" anchor="ctr"/>
          <a:lstStyle/>
          <a:p>
            <a:pPr algn="ctr" indent="0" marL="0">
              <a:buNone/>
            </a:pPr>
            <a:r>
              <a:rPr lang="en-US" sz="3000" b="1" dirty="0">
                <a:solidFill>
                  <a:srgbClr val="E8912D"/>
                </a:solidFill>
                <a:latin typeface="Arial" pitchFamily="34" charset="0"/>
                <a:ea typeface="Arial" pitchFamily="34" charset="-122"/>
                <a:cs typeface="Arial" pitchFamily="34" charset="-120"/>
              </a:rPr>
              <a:t>$175–200</a:t>
            </a:r>
            <a:endParaRPr lang="en-US" sz="3000" dirty="0"/>
          </a:p>
        </p:txBody>
      </p:sp>
      <p:sp>
        <p:nvSpPr>
          <p:cNvPr id="13" name="Shape 10"/>
          <p:cNvSpPr/>
          <p:nvPr/>
        </p:nvSpPr>
        <p:spPr>
          <a:xfrm>
            <a:off x="640080" y="3520440"/>
            <a:ext cx="10911535" cy="1005840"/>
          </a:xfrm>
          <a:prstGeom prst="rect">
            <a:avLst/>
          </a:prstGeom>
          <a:solidFill>
            <a:srgbClr val="E6E6E6"/>
          </a:solidFill>
          <a:ln w="12700">
            <a:solidFill>
              <a:srgbClr val="FFFFFF"/>
            </a:solidFill>
            <a:prstDash val="solid"/>
          </a:ln>
        </p:spPr>
      </p:sp>
      <p:sp>
        <p:nvSpPr>
          <p:cNvPr id="14" name="Text 11"/>
          <p:cNvSpPr txBox="1"/>
          <p:nvPr/>
        </p:nvSpPr>
        <p:spPr>
          <a:xfrm>
            <a:off x="914400" y="3520440"/>
            <a:ext cx="3657600" cy="100584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Option B: 2 ES</a:t>
            </a:r>
            <a:endParaRPr lang="en-US" sz="3000" dirty="0"/>
          </a:p>
        </p:txBody>
      </p:sp>
      <p:sp>
        <p:nvSpPr>
          <p:cNvPr id="15" name="Text 12"/>
          <p:cNvSpPr txBox="1"/>
          <p:nvPr/>
        </p:nvSpPr>
        <p:spPr>
          <a:xfrm>
            <a:off x="5120640" y="3520440"/>
            <a:ext cx="2194560" cy="1005840"/>
          </a:xfrm>
          <a:prstGeom prst="rect">
            <a:avLst/>
          </a:prstGeom>
          <a:noFill/>
          <a:ln/>
        </p:spPr>
        <p:txBody>
          <a:bodyPr wrap="square" lIns="0" tIns="0" rIns="0" bIns="0"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$100</a:t>
            </a:r>
            <a:endParaRPr lang="en-US" sz="3000" dirty="0"/>
          </a:p>
        </p:txBody>
      </p:sp>
      <p:sp>
        <p:nvSpPr>
          <p:cNvPr id="16" name="Text 13"/>
          <p:cNvSpPr txBox="1"/>
          <p:nvPr/>
        </p:nvSpPr>
        <p:spPr>
          <a:xfrm>
            <a:off x="7863840" y="3520440"/>
            <a:ext cx="3413455" cy="1005840"/>
          </a:xfrm>
          <a:prstGeom prst="rect">
            <a:avLst/>
          </a:prstGeom>
          <a:noFill/>
          <a:ln/>
        </p:spPr>
        <p:txBody>
          <a:bodyPr wrap="square" lIns="0" tIns="0" rIns="0" bIns="0" rtlCol="0" anchor="ctr"/>
          <a:lstStyle/>
          <a:p>
            <a:pPr algn="ctr" indent="0" marL="0">
              <a:buNone/>
            </a:pPr>
            <a:r>
              <a:rPr lang="en-US" sz="3000" b="1" dirty="0">
                <a:solidFill>
                  <a:srgbClr val="E8912D"/>
                </a:solidFill>
                <a:latin typeface="Arial" pitchFamily="34" charset="0"/>
                <a:ea typeface="Arial" pitchFamily="34" charset="-122"/>
                <a:cs typeface="Arial" pitchFamily="34" charset="-120"/>
              </a:rPr>
              <a:t>$350–400</a:t>
            </a:r>
            <a:endParaRPr lang="en-US" sz="3000" dirty="0"/>
          </a:p>
        </p:txBody>
      </p:sp>
      <p:sp>
        <p:nvSpPr>
          <p:cNvPr id="17" name="Text 14"/>
          <p:cNvSpPr txBox="1"/>
          <p:nvPr/>
        </p:nvSpPr>
        <p:spPr>
          <a:xfrm>
            <a:off x="640080" y="5120640"/>
            <a:ext cx="10911535" cy="64008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Before commissions. Know this number before you click.</a:t>
            </a:r>
            <a:endParaRPr lang="en-US" sz="2400" dirty="0"/>
          </a:p>
        </p:txBody>
      </p:sp>
      <p:sp>
        <p:nvSpPr>
          <p:cNvPr id="18" name="Text 1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9" name="Text 1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If Price Gets There, You're Out</a:t>
            </a:r>
            <a:endParaRPr lang="en-US" sz="3600" dirty="0"/>
          </a:p>
        </p:txBody>
      </p:sp>
      <p:sp>
        <p:nvSpPr>
          <p:cNvPr id="5" name="Shape 2"/>
          <p:cNvSpPr/>
          <p:nvPr/>
        </p:nvSpPr>
        <p:spPr>
          <a:xfrm>
            <a:off x="640080" y="1828800"/>
            <a:ext cx="10911535" cy="2743200"/>
          </a:xfrm>
          <a:prstGeom prst="roundRect">
            <a:avLst>
              <a:gd name="adj" fmla="val 2667"/>
            </a:avLst>
          </a:prstGeom>
          <a:solidFill>
            <a:srgbClr val="F2F2F2"/>
          </a:solidFill>
          <a:ln w="12700">
            <a:solidFill>
              <a:srgbClr val="F2F2F2"/>
            </a:solidFill>
            <a:prstDash val="solid"/>
          </a:ln>
        </p:spPr>
      </p:sp>
      <p:sp>
        <p:nvSpPr>
          <p:cNvPr id="6" name="Text 3"/>
          <p:cNvSpPr txBox="1"/>
          <p:nvPr/>
        </p:nvSpPr>
        <p:spPr>
          <a:xfrm>
            <a:off x="1097280" y="1828800"/>
            <a:ext cx="9997135" cy="274320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Your stop is where your read was wrong.</a:t>
            </a:r>
            <a:endParaRPr lang="en-US" sz="3600" dirty="0"/>
          </a:p>
        </p:txBody>
      </p:sp>
      <p:sp>
        <p:nvSpPr>
          <p:cNvPr id="7" name="Text 4"/>
          <p:cNvSpPr txBox="1"/>
          <p:nvPr/>
        </p:nvSpPr>
        <p:spPr>
          <a:xfrm>
            <a:off x="640080" y="4846320"/>
            <a:ext cx="10911535" cy="91440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I manage my own trades by hand. That's me, not you. You use the hard stop.</a:t>
            </a:r>
            <a:endParaRPr lang="en-US" sz="2400" dirty="0"/>
          </a:p>
        </p:txBody>
      </p:sp>
      <p:sp>
        <p:nvSpPr>
          <p:cNvPr id="8" name="Text 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9" name="Text 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Measuring the Hard Stop</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Take a sweep entry</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Measure 3.5–4 points from the entry and count it out loud</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Show the dollar risk for Option A and Option B</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5.3</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On your Module 3 CRT screenshot, mark your entry and a 3.5–4 point hard stop</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Post it with your dollar risk for your option, 1 or 2 ES</a:t>
            </a:r>
            <a:endParaRPr lang="en-US" sz="2600" dirty="0"/>
          </a:p>
        </p:txBody>
      </p:sp>
      <p:sp>
        <p:nvSpPr>
          <p:cNvPr id="11" name="Text 8"/>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2" name="Text 9"/>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5  •  LESSON 5.3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5.4</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Full Worked Example</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5  •  LESSON 5.4</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One Trade. Every Piece.</a:t>
            </a:r>
            <a:endParaRPr lang="en-US" sz="3600" dirty="0"/>
          </a:p>
        </p:txBody>
      </p:sp>
      <p:sp>
        <p:nvSpPr>
          <p:cNvPr id="5" name="Shape 2"/>
          <p:cNvSpPr/>
          <p:nvPr/>
        </p:nvSpPr>
        <p:spPr>
          <a:xfrm>
            <a:off x="640080" y="1828800"/>
            <a:ext cx="3423818" cy="1463040"/>
          </a:xfrm>
          <a:prstGeom prst="roundRect">
            <a:avLst>
              <a:gd name="adj" fmla="val 5000"/>
            </a:avLst>
          </a:prstGeom>
          <a:solidFill>
            <a:srgbClr val="F2F2F2"/>
          </a:solidFill>
          <a:ln w="12700">
            <a:solidFill>
              <a:srgbClr val="F2F2F2"/>
            </a:solidFill>
            <a:prstDash val="solid"/>
          </a:ln>
        </p:spPr>
      </p:sp>
      <p:sp>
        <p:nvSpPr>
          <p:cNvPr id="6" name="Text 3"/>
          <p:cNvSpPr txBox="1"/>
          <p:nvPr/>
        </p:nvSpPr>
        <p:spPr>
          <a:xfrm>
            <a:off x="914400" y="1828800"/>
            <a:ext cx="548640" cy="1463040"/>
          </a:xfrm>
          <a:prstGeom prst="rect">
            <a:avLst/>
          </a:prstGeom>
          <a:noFill/>
          <a:ln/>
        </p:spPr>
        <p:txBody>
          <a:bodyPr wrap="square" lIns="0" tIns="0" rIns="0" bIns="0" rtlCol="0" anchor="ctr"/>
          <a:lstStyle/>
          <a:p>
            <a:pPr indent="0" marL="0">
              <a:buNone/>
            </a:pPr>
            <a:r>
              <a:rPr lang="en-US" sz="3600" b="1" dirty="0">
                <a:solidFill>
                  <a:srgbClr val="E8912D"/>
                </a:solidFill>
                <a:latin typeface="Arial" pitchFamily="34" charset="0"/>
                <a:ea typeface="Arial" pitchFamily="34" charset="-122"/>
                <a:cs typeface="Arial" pitchFamily="34" charset="-120"/>
              </a:rPr>
              <a:t>1</a:t>
            </a:r>
            <a:endParaRPr lang="en-US" sz="3600" dirty="0"/>
          </a:p>
        </p:txBody>
      </p:sp>
      <p:sp>
        <p:nvSpPr>
          <p:cNvPr id="7" name="Text 4"/>
          <p:cNvSpPr txBox="1"/>
          <p:nvPr/>
        </p:nvSpPr>
        <p:spPr>
          <a:xfrm>
            <a:off x="1554480" y="1828800"/>
            <a:ext cx="2326538" cy="1463040"/>
          </a:xfrm>
          <a:prstGeom prst="rect">
            <a:avLst/>
          </a:prstGeom>
          <a:noFill/>
          <a:ln/>
        </p:spPr>
        <p:txBody>
          <a:bodyPr wrap="square" lIns="0" tIns="0" rIns="0" bIns="0" rtlCol="0" anchor="ctr"/>
          <a:lstStyle/>
          <a:p>
            <a:pPr indent="0" marL="0">
              <a:buNone/>
            </a:pPr>
            <a:r>
              <a:rPr lang="en-US" sz="2400" b="1" dirty="0">
                <a:solidFill>
                  <a:srgbClr val="111111"/>
                </a:solidFill>
                <a:latin typeface="Calibri" pitchFamily="34" charset="0"/>
                <a:ea typeface="Calibri" pitchFamily="34" charset="-122"/>
                <a:cs typeface="Calibri" pitchFamily="34" charset="-120"/>
              </a:rPr>
              <a:t>AMD read</a:t>
            </a:r>
            <a:endParaRPr lang="en-US" sz="2400" dirty="0"/>
          </a:p>
        </p:txBody>
      </p:sp>
      <p:sp>
        <p:nvSpPr>
          <p:cNvPr id="8" name="Shape 5"/>
          <p:cNvSpPr/>
          <p:nvPr/>
        </p:nvSpPr>
        <p:spPr>
          <a:xfrm>
            <a:off x="4383938" y="1828800"/>
            <a:ext cx="3423818" cy="1463040"/>
          </a:xfrm>
          <a:prstGeom prst="roundRect">
            <a:avLst>
              <a:gd name="adj" fmla="val 5000"/>
            </a:avLst>
          </a:prstGeom>
          <a:solidFill>
            <a:srgbClr val="F2F2F2"/>
          </a:solidFill>
          <a:ln w="12700">
            <a:solidFill>
              <a:srgbClr val="F2F2F2"/>
            </a:solidFill>
            <a:prstDash val="solid"/>
          </a:ln>
        </p:spPr>
      </p:sp>
      <p:sp>
        <p:nvSpPr>
          <p:cNvPr id="9" name="Text 6"/>
          <p:cNvSpPr txBox="1"/>
          <p:nvPr/>
        </p:nvSpPr>
        <p:spPr>
          <a:xfrm>
            <a:off x="4658258" y="1828800"/>
            <a:ext cx="548640" cy="1463040"/>
          </a:xfrm>
          <a:prstGeom prst="rect">
            <a:avLst/>
          </a:prstGeom>
          <a:noFill/>
          <a:ln/>
        </p:spPr>
        <p:txBody>
          <a:bodyPr wrap="square" lIns="0" tIns="0" rIns="0" bIns="0" rtlCol="0" anchor="ctr"/>
          <a:lstStyle/>
          <a:p>
            <a:pPr indent="0" marL="0">
              <a:buNone/>
            </a:pPr>
            <a:r>
              <a:rPr lang="en-US" sz="3600" b="1" dirty="0">
                <a:solidFill>
                  <a:srgbClr val="E8912D"/>
                </a:solidFill>
                <a:latin typeface="Arial" pitchFamily="34" charset="0"/>
                <a:ea typeface="Arial" pitchFamily="34" charset="-122"/>
                <a:cs typeface="Arial" pitchFamily="34" charset="-120"/>
              </a:rPr>
              <a:t>2</a:t>
            </a:r>
            <a:endParaRPr lang="en-US" sz="3600" dirty="0"/>
          </a:p>
        </p:txBody>
      </p:sp>
      <p:sp>
        <p:nvSpPr>
          <p:cNvPr id="10" name="Text 7"/>
          <p:cNvSpPr txBox="1"/>
          <p:nvPr/>
        </p:nvSpPr>
        <p:spPr>
          <a:xfrm>
            <a:off x="5298338" y="1828800"/>
            <a:ext cx="2326538" cy="1463040"/>
          </a:xfrm>
          <a:prstGeom prst="rect">
            <a:avLst/>
          </a:prstGeom>
          <a:noFill/>
          <a:ln/>
        </p:spPr>
        <p:txBody>
          <a:bodyPr wrap="square" lIns="0" tIns="0" rIns="0" bIns="0" rtlCol="0" anchor="ctr"/>
          <a:lstStyle/>
          <a:p>
            <a:pPr indent="0" marL="0">
              <a:buNone/>
            </a:pPr>
            <a:r>
              <a:rPr lang="en-US" sz="2400" b="1" dirty="0">
                <a:solidFill>
                  <a:srgbClr val="111111"/>
                </a:solidFill>
                <a:latin typeface="Calibri" pitchFamily="34" charset="0"/>
                <a:ea typeface="Calibri" pitchFamily="34" charset="-122"/>
                <a:cs typeface="Calibri" pitchFamily="34" charset="-120"/>
              </a:rPr>
              <a:t>CRT entry</a:t>
            </a:r>
            <a:endParaRPr lang="en-US" sz="2400" dirty="0"/>
          </a:p>
        </p:txBody>
      </p:sp>
      <p:sp>
        <p:nvSpPr>
          <p:cNvPr id="11" name="Shape 8"/>
          <p:cNvSpPr/>
          <p:nvPr/>
        </p:nvSpPr>
        <p:spPr>
          <a:xfrm>
            <a:off x="8127797" y="1828800"/>
            <a:ext cx="3423818" cy="1463040"/>
          </a:xfrm>
          <a:prstGeom prst="roundRect">
            <a:avLst>
              <a:gd name="adj" fmla="val 5000"/>
            </a:avLst>
          </a:prstGeom>
          <a:solidFill>
            <a:srgbClr val="F2F2F2"/>
          </a:solidFill>
          <a:ln w="12700">
            <a:solidFill>
              <a:srgbClr val="F2F2F2"/>
            </a:solidFill>
            <a:prstDash val="solid"/>
          </a:ln>
        </p:spPr>
      </p:sp>
      <p:sp>
        <p:nvSpPr>
          <p:cNvPr id="12" name="Text 9"/>
          <p:cNvSpPr txBox="1"/>
          <p:nvPr/>
        </p:nvSpPr>
        <p:spPr>
          <a:xfrm>
            <a:off x="8402117" y="1828800"/>
            <a:ext cx="548640" cy="1463040"/>
          </a:xfrm>
          <a:prstGeom prst="rect">
            <a:avLst/>
          </a:prstGeom>
          <a:noFill/>
          <a:ln/>
        </p:spPr>
        <p:txBody>
          <a:bodyPr wrap="square" lIns="0" tIns="0" rIns="0" bIns="0" rtlCol="0" anchor="ctr"/>
          <a:lstStyle/>
          <a:p>
            <a:pPr indent="0" marL="0">
              <a:buNone/>
            </a:pPr>
            <a:r>
              <a:rPr lang="en-US" sz="3600" b="1" dirty="0">
                <a:solidFill>
                  <a:srgbClr val="E8912D"/>
                </a:solidFill>
                <a:latin typeface="Arial" pitchFamily="34" charset="0"/>
                <a:ea typeface="Arial" pitchFamily="34" charset="-122"/>
                <a:cs typeface="Arial" pitchFamily="34" charset="-120"/>
              </a:rPr>
              <a:t>3</a:t>
            </a:r>
            <a:endParaRPr lang="en-US" sz="3600" dirty="0"/>
          </a:p>
        </p:txBody>
      </p:sp>
      <p:sp>
        <p:nvSpPr>
          <p:cNvPr id="13" name="Text 10"/>
          <p:cNvSpPr txBox="1"/>
          <p:nvPr/>
        </p:nvSpPr>
        <p:spPr>
          <a:xfrm>
            <a:off x="9042197" y="1828800"/>
            <a:ext cx="2326538" cy="1463040"/>
          </a:xfrm>
          <a:prstGeom prst="rect">
            <a:avLst/>
          </a:prstGeom>
          <a:noFill/>
          <a:ln/>
        </p:spPr>
        <p:txBody>
          <a:bodyPr wrap="square" lIns="0" tIns="0" rIns="0" bIns="0" rtlCol="0" anchor="ctr"/>
          <a:lstStyle/>
          <a:p>
            <a:pPr indent="0" marL="0">
              <a:buNone/>
            </a:pPr>
            <a:r>
              <a:rPr lang="en-US" sz="2400" b="1" dirty="0">
                <a:solidFill>
                  <a:srgbClr val="111111"/>
                </a:solidFill>
                <a:latin typeface="Calibri" pitchFamily="34" charset="0"/>
                <a:ea typeface="Calibri" pitchFamily="34" charset="-122"/>
                <a:cs typeface="Calibri" pitchFamily="34" charset="-120"/>
              </a:rPr>
              <a:t>Liquidity and volume agree</a:t>
            </a:r>
            <a:endParaRPr lang="en-US" sz="2400" dirty="0"/>
          </a:p>
        </p:txBody>
      </p:sp>
      <p:sp>
        <p:nvSpPr>
          <p:cNvPr id="14" name="Shape 11"/>
          <p:cNvSpPr/>
          <p:nvPr/>
        </p:nvSpPr>
        <p:spPr>
          <a:xfrm>
            <a:off x="640080" y="3566160"/>
            <a:ext cx="3423818" cy="1463040"/>
          </a:xfrm>
          <a:prstGeom prst="roundRect">
            <a:avLst>
              <a:gd name="adj" fmla="val 5000"/>
            </a:avLst>
          </a:prstGeom>
          <a:solidFill>
            <a:srgbClr val="F2F2F2"/>
          </a:solidFill>
          <a:ln w="12700">
            <a:solidFill>
              <a:srgbClr val="F2F2F2"/>
            </a:solidFill>
            <a:prstDash val="solid"/>
          </a:ln>
        </p:spPr>
      </p:sp>
      <p:sp>
        <p:nvSpPr>
          <p:cNvPr id="15" name="Text 12"/>
          <p:cNvSpPr txBox="1"/>
          <p:nvPr/>
        </p:nvSpPr>
        <p:spPr>
          <a:xfrm>
            <a:off x="914400" y="3566160"/>
            <a:ext cx="548640" cy="1463040"/>
          </a:xfrm>
          <a:prstGeom prst="rect">
            <a:avLst/>
          </a:prstGeom>
          <a:noFill/>
          <a:ln/>
        </p:spPr>
        <p:txBody>
          <a:bodyPr wrap="square" lIns="0" tIns="0" rIns="0" bIns="0" rtlCol="0" anchor="ctr"/>
          <a:lstStyle/>
          <a:p>
            <a:pPr indent="0" marL="0">
              <a:buNone/>
            </a:pPr>
            <a:r>
              <a:rPr lang="en-US" sz="3600" b="1" dirty="0">
                <a:solidFill>
                  <a:srgbClr val="E8912D"/>
                </a:solidFill>
                <a:latin typeface="Arial" pitchFamily="34" charset="0"/>
                <a:ea typeface="Arial" pitchFamily="34" charset="-122"/>
                <a:cs typeface="Arial" pitchFamily="34" charset="-120"/>
              </a:rPr>
              <a:t>4</a:t>
            </a:r>
            <a:endParaRPr lang="en-US" sz="3600" dirty="0"/>
          </a:p>
        </p:txBody>
      </p:sp>
      <p:sp>
        <p:nvSpPr>
          <p:cNvPr id="16" name="Text 13"/>
          <p:cNvSpPr txBox="1"/>
          <p:nvPr/>
        </p:nvSpPr>
        <p:spPr>
          <a:xfrm>
            <a:off x="1554480" y="3566160"/>
            <a:ext cx="2326538" cy="1463040"/>
          </a:xfrm>
          <a:prstGeom prst="rect">
            <a:avLst/>
          </a:prstGeom>
          <a:noFill/>
          <a:ln/>
        </p:spPr>
        <p:txBody>
          <a:bodyPr wrap="square" lIns="0" tIns="0" rIns="0" bIns="0" rtlCol="0" anchor="ctr"/>
          <a:lstStyle/>
          <a:p>
            <a:pPr indent="0" marL="0">
              <a:buNone/>
            </a:pPr>
            <a:r>
              <a:rPr lang="en-US" sz="2400" b="1" dirty="0">
                <a:solidFill>
                  <a:srgbClr val="111111"/>
                </a:solidFill>
                <a:latin typeface="Calibri" pitchFamily="34" charset="0"/>
                <a:ea typeface="Calibri" pitchFamily="34" charset="-122"/>
                <a:cs typeface="Calibri" pitchFamily="34" charset="-120"/>
              </a:rPr>
              <a:t>Position size</a:t>
            </a:r>
            <a:endParaRPr lang="en-US" sz="2400" dirty="0"/>
          </a:p>
        </p:txBody>
      </p:sp>
      <p:sp>
        <p:nvSpPr>
          <p:cNvPr id="17" name="Shape 14"/>
          <p:cNvSpPr/>
          <p:nvPr/>
        </p:nvSpPr>
        <p:spPr>
          <a:xfrm>
            <a:off x="4383938" y="3566160"/>
            <a:ext cx="3423818" cy="1463040"/>
          </a:xfrm>
          <a:prstGeom prst="roundRect">
            <a:avLst>
              <a:gd name="adj" fmla="val 5000"/>
            </a:avLst>
          </a:prstGeom>
          <a:solidFill>
            <a:srgbClr val="F2F2F2"/>
          </a:solidFill>
          <a:ln w="12700">
            <a:solidFill>
              <a:srgbClr val="F2F2F2"/>
            </a:solidFill>
            <a:prstDash val="solid"/>
          </a:ln>
        </p:spPr>
      </p:sp>
      <p:sp>
        <p:nvSpPr>
          <p:cNvPr id="18" name="Text 15"/>
          <p:cNvSpPr txBox="1"/>
          <p:nvPr/>
        </p:nvSpPr>
        <p:spPr>
          <a:xfrm>
            <a:off x="4658258" y="3566160"/>
            <a:ext cx="548640" cy="1463040"/>
          </a:xfrm>
          <a:prstGeom prst="rect">
            <a:avLst/>
          </a:prstGeom>
          <a:noFill/>
          <a:ln/>
        </p:spPr>
        <p:txBody>
          <a:bodyPr wrap="square" lIns="0" tIns="0" rIns="0" bIns="0" rtlCol="0" anchor="ctr"/>
          <a:lstStyle/>
          <a:p>
            <a:pPr indent="0" marL="0">
              <a:buNone/>
            </a:pPr>
            <a:r>
              <a:rPr lang="en-US" sz="3600" b="1" dirty="0">
                <a:solidFill>
                  <a:srgbClr val="E8912D"/>
                </a:solidFill>
                <a:latin typeface="Arial" pitchFamily="34" charset="0"/>
                <a:ea typeface="Arial" pitchFamily="34" charset="-122"/>
                <a:cs typeface="Arial" pitchFamily="34" charset="-120"/>
              </a:rPr>
              <a:t>5</a:t>
            </a:r>
            <a:endParaRPr lang="en-US" sz="3600" dirty="0"/>
          </a:p>
        </p:txBody>
      </p:sp>
      <p:sp>
        <p:nvSpPr>
          <p:cNvPr id="19" name="Text 16"/>
          <p:cNvSpPr txBox="1"/>
          <p:nvPr/>
        </p:nvSpPr>
        <p:spPr>
          <a:xfrm>
            <a:off x="5298338" y="3566160"/>
            <a:ext cx="2326538" cy="1463040"/>
          </a:xfrm>
          <a:prstGeom prst="rect">
            <a:avLst/>
          </a:prstGeom>
          <a:noFill/>
          <a:ln/>
        </p:spPr>
        <p:txBody>
          <a:bodyPr wrap="square" lIns="0" tIns="0" rIns="0" bIns="0" rtlCol="0" anchor="ctr"/>
          <a:lstStyle/>
          <a:p>
            <a:pPr indent="0" marL="0">
              <a:buNone/>
            </a:pPr>
            <a:r>
              <a:rPr lang="en-US" sz="2400" b="1" dirty="0">
                <a:solidFill>
                  <a:srgbClr val="111111"/>
                </a:solidFill>
                <a:latin typeface="Calibri" pitchFamily="34" charset="0"/>
                <a:ea typeface="Calibri" pitchFamily="34" charset="-122"/>
                <a:cs typeface="Calibri" pitchFamily="34" charset="-120"/>
              </a:rPr>
              <a:t>Hard stop, 3.5–4 pts</a:t>
            </a:r>
            <a:endParaRPr lang="en-US" sz="2400" dirty="0"/>
          </a:p>
        </p:txBody>
      </p:sp>
      <p:sp>
        <p:nvSpPr>
          <p:cNvPr id="20" name="Shape 17"/>
          <p:cNvSpPr/>
          <p:nvPr/>
        </p:nvSpPr>
        <p:spPr>
          <a:xfrm>
            <a:off x="8127797" y="3566160"/>
            <a:ext cx="3423818" cy="1463040"/>
          </a:xfrm>
          <a:prstGeom prst="roundRect">
            <a:avLst>
              <a:gd name="adj" fmla="val 5000"/>
            </a:avLst>
          </a:prstGeom>
          <a:solidFill>
            <a:srgbClr val="111111"/>
          </a:solidFill>
          <a:ln w="12700">
            <a:solidFill>
              <a:srgbClr val="111111"/>
            </a:solidFill>
            <a:prstDash val="solid"/>
          </a:ln>
        </p:spPr>
      </p:sp>
      <p:sp>
        <p:nvSpPr>
          <p:cNvPr id="21" name="Text 18"/>
          <p:cNvSpPr txBox="1"/>
          <p:nvPr/>
        </p:nvSpPr>
        <p:spPr>
          <a:xfrm>
            <a:off x="8402117" y="3566160"/>
            <a:ext cx="548640" cy="1463040"/>
          </a:xfrm>
          <a:prstGeom prst="rect">
            <a:avLst/>
          </a:prstGeom>
          <a:noFill/>
          <a:ln/>
        </p:spPr>
        <p:txBody>
          <a:bodyPr wrap="square" lIns="0" tIns="0" rIns="0" bIns="0" rtlCol="0" anchor="ctr"/>
          <a:lstStyle/>
          <a:p>
            <a:pPr indent="0" marL="0">
              <a:buNone/>
            </a:pPr>
            <a:r>
              <a:rPr lang="en-US" sz="3600" b="1" dirty="0">
                <a:solidFill>
                  <a:srgbClr val="E8912D"/>
                </a:solidFill>
                <a:latin typeface="Arial" pitchFamily="34" charset="0"/>
                <a:ea typeface="Arial" pitchFamily="34" charset="-122"/>
                <a:cs typeface="Arial" pitchFamily="34" charset="-120"/>
              </a:rPr>
              <a:t>6</a:t>
            </a:r>
            <a:endParaRPr lang="en-US" sz="3600" dirty="0"/>
          </a:p>
        </p:txBody>
      </p:sp>
      <p:sp>
        <p:nvSpPr>
          <p:cNvPr id="22" name="Text 19"/>
          <p:cNvSpPr txBox="1"/>
          <p:nvPr/>
        </p:nvSpPr>
        <p:spPr>
          <a:xfrm>
            <a:off x="9042197" y="3566160"/>
            <a:ext cx="2326538" cy="14630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Target, in R</a:t>
            </a:r>
            <a:endParaRPr lang="en-US" sz="2400" dirty="0"/>
          </a:p>
        </p:txBody>
      </p:sp>
      <p:sp>
        <p:nvSpPr>
          <p:cNvPr id="23" name="Text 20"/>
          <p:cNvSpPr txBox="1"/>
          <p:nvPr/>
        </p:nvSpPr>
        <p:spPr>
          <a:xfrm>
            <a:off x="640080" y="5257800"/>
            <a:ext cx="10911535" cy="548640"/>
          </a:xfrm>
          <a:prstGeom prst="rect">
            <a:avLst/>
          </a:prstGeom>
          <a:noFill/>
          <a:ln/>
        </p:spPr>
        <p:txBody>
          <a:bodyPr wrap="square" lIns="0" tIns="0" rIns="0" bIns="0" rtlCol="0" anchor="t"/>
          <a:lstStyle/>
          <a:p>
            <a:pPr indent="0" marL="0">
              <a:buNone/>
            </a:pPr>
            <a:r>
              <a:rPr lang="en-US" sz="2600" dirty="0">
                <a:solidFill>
                  <a:srgbClr val="6E6E6E"/>
                </a:solidFill>
                <a:latin typeface="Calibri" pitchFamily="34" charset="0"/>
                <a:ea typeface="Calibri" pitchFamily="34" charset="-122"/>
                <a:cs typeface="Calibri" pitchFamily="34" charset="-120"/>
              </a:rPr>
              <a:t>One process, not five separate tools.</a:t>
            </a:r>
            <a:endParaRPr lang="en-US" sz="2600" dirty="0"/>
          </a:p>
        </p:txBody>
      </p:sp>
      <p:sp>
        <p:nvSpPr>
          <p:cNvPr id="24" name="Text 2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25" name="Text 2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5.4</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Measure the Target in R</a:t>
            </a:r>
            <a:endParaRPr lang="en-US" sz="3600" dirty="0"/>
          </a:p>
        </p:txBody>
      </p:sp>
      <p:sp>
        <p:nvSpPr>
          <p:cNvPr id="5" name="Shape 2"/>
          <p:cNvSpPr/>
          <p:nvPr/>
        </p:nvSpPr>
        <p:spPr>
          <a:xfrm>
            <a:off x="2103120" y="2103120"/>
            <a:ext cx="3840480" cy="0"/>
          </a:xfrm>
          <a:prstGeom prst="line">
            <a:avLst/>
          </a:prstGeom>
          <a:noFill/>
          <a:ln w="38100">
            <a:solidFill>
              <a:srgbClr val="2A6FDB"/>
            </a:solidFill>
            <a:prstDash val="dash"/>
          </a:ln>
        </p:spPr>
      </p:sp>
      <p:sp>
        <p:nvSpPr>
          <p:cNvPr id="6" name="Text 3"/>
          <p:cNvSpPr txBox="1"/>
          <p:nvPr/>
        </p:nvSpPr>
        <p:spPr>
          <a:xfrm>
            <a:off x="640080" y="1828800"/>
            <a:ext cx="1371600" cy="548640"/>
          </a:xfrm>
          <a:prstGeom prst="rect">
            <a:avLst/>
          </a:prstGeom>
          <a:noFill/>
          <a:ln/>
        </p:spPr>
        <p:txBody>
          <a:bodyPr wrap="square" lIns="0" tIns="0" rIns="0" bIns="0" rtlCol="0" anchor="ctr"/>
          <a:lstStyle/>
          <a:p>
            <a:pPr indent="0" marL="0">
              <a:buNone/>
            </a:pPr>
            <a:r>
              <a:rPr lang="en-US" sz="2800" b="1" dirty="0">
                <a:solidFill>
                  <a:srgbClr val="2A6FDB"/>
                </a:solidFill>
                <a:latin typeface="Arial" pitchFamily="34" charset="0"/>
                <a:ea typeface="Arial" pitchFamily="34" charset="-122"/>
                <a:cs typeface="Arial" pitchFamily="34" charset="-120"/>
              </a:rPr>
              <a:t>2R</a:t>
            </a:r>
            <a:endParaRPr lang="en-US" sz="2800" dirty="0"/>
          </a:p>
        </p:txBody>
      </p:sp>
      <p:sp>
        <p:nvSpPr>
          <p:cNvPr id="7" name="Text 4"/>
          <p:cNvSpPr txBox="1"/>
          <p:nvPr/>
        </p:nvSpPr>
        <p:spPr>
          <a:xfrm>
            <a:off x="2103120" y="1600200"/>
            <a:ext cx="3840480" cy="457200"/>
          </a:xfrm>
          <a:prstGeom prst="rect">
            <a:avLst/>
          </a:prstGeom>
          <a:noFill/>
          <a:ln/>
        </p:spPr>
        <p:txBody>
          <a:bodyPr wrap="square" lIns="0" tIns="0" rIns="0" bIns="0" rtlCol="0" anchor="t"/>
          <a:lstStyle/>
          <a:p>
            <a:pPr algn="r" indent="0" marL="0">
              <a:buNone/>
            </a:pPr>
            <a:r>
              <a:rPr lang="en-US" sz="2000" dirty="0">
                <a:solidFill>
                  <a:srgbClr val="6E6E6E"/>
                </a:solidFill>
                <a:latin typeface="Calibri" pitchFamily="34" charset="0"/>
                <a:ea typeface="Calibri" pitchFamily="34" charset="-122"/>
                <a:cs typeface="Calibri" pitchFamily="34" charset="-120"/>
              </a:rPr>
              <a:t>7–8 pts</a:t>
            </a:r>
            <a:endParaRPr lang="en-US" sz="2000" dirty="0"/>
          </a:p>
        </p:txBody>
      </p:sp>
      <p:sp>
        <p:nvSpPr>
          <p:cNvPr id="8" name="Shape 5"/>
          <p:cNvSpPr/>
          <p:nvPr/>
        </p:nvSpPr>
        <p:spPr>
          <a:xfrm>
            <a:off x="2103120" y="3246120"/>
            <a:ext cx="3840480" cy="0"/>
          </a:xfrm>
          <a:prstGeom prst="line">
            <a:avLst/>
          </a:prstGeom>
          <a:noFill/>
          <a:ln w="38100">
            <a:solidFill>
              <a:srgbClr val="2A6FDB"/>
            </a:solidFill>
            <a:prstDash val="dash"/>
          </a:ln>
        </p:spPr>
      </p:sp>
      <p:sp>
        <p:nvSpPr>
          <p:cNvPr id="9" name="Text 6"/>
          <p:cNvSpPr txBox="1"/>
          <p:nvPr/>
        </p:nvSpPr>
        <p:spPr>
          <a:xfrm>
            <a:off x="640080" y="2971800"/>
            <a:ext cx="1371600" cy="548640"/>
          </a:xfrm>
          <a:prstGeom prst="rect">
            <a:avLst/>
          </a:prstGeom>
          <a:noFill/>
          <a:ln/>
        </p:spPr>
        <p:txBody>
          <a:bodyPr wrap="square" lIns="0" tIns="0" rIns="0" bIns="0" rtlCol="0" anchor="ctr"/>
          <a:lstStyle/>
          <a:p>
            <a:pPr indent="0" marL="0">
              <a:buNone/>
            </a:pPr>
            <a:r>
              <a:rPr lang="en-US" sz="2800" b="1" dirty="0">
                <a:solidFill>
                  <a:srgbClr val="2A6FDB"/>
                </a:solidFill>
                <a:latin typeface="Arial" pitchFamily="34" charset="0"/>
                <a:ea typeface="Arial" pitchFamily="34" charset="-122"/>
                <a:cs typeface="Arial" pitchFamily="34" charset="-120"/>
              </a:rPr>
              <a:t>1R</a:t>
            </a:r>
            <a:endParaRPr lang="en-US" sz="2800" dirty="0"/>
          </a:p>
        </p:txBody>
      </p:sp>
      <p:sp>
        <p:nvSpPr>
          <p:cNvPr id="10" name="Text 7"/>
          <p:cNvSpPr txBox="1"/>
          <p:nvPr/>
        </p:nvSpPr>
        <p:spPr>
          <a:xfrm>
            <a:off x="2103120" y="2743200"/>
            <a:ext cx="3840480" cy="457200"/>
          </a:xfrm>
          <a:prstGeom prst="rect">
            <a:avLst/>
          </a:prstGeom>
          <a:noFill/>
          <a:ln/>
        </p:spPr>
        <p:txBody>
          <a:bodyPr wrap="square" lIns="0" tIns="0" rIns="0" bIns="0" rtlCol="0" anchor="t"/>
          <a:lstStyle/>
          <a:p>
            <a:pPr algn="r" indent="0" marL="0">
              <a:buNone/>
            </a:pPr>
            <a:r>
              <a:rPr lang="en-US" sz="2000" dirty="0">
                <a:solidFill>
                  <a:srgbClr val="6E6E6E"/>
                </a:solidFill>
                <a:latin typeface="Calibri" pitchFamily="34" charset="0"/>
                <a:ea typeface="Calibri" pitchFamily="34" charset="-122"/>
                <a:cs typeface="Calibri" pitchFamily="34" charset="-120"/>
              </a:rPr>
              <a:t>3.5–4 pts</a:t>
            </a:r>
            <a:endParaRPr lang="en-US" sz="2000" dirty="0"/>
          </a:p>
        </p:txBody>
      </p:sp>
      <p:sp>
        <p:nvSpPr>
          <p:cNvPr id="11" name="Shape 8"/>
          <p:cNvSpPr/>
          <p:nvPr/>
        </p:nvSpPr>
        <p:spPr>
          <a:xfrm>
            <a:off x="2103120" y="4389120"/>
            <a:ext cx="3840480" cy="0"/>
          </a:xfrm>
          <a:prstGeom prst="line">
            <a:avLst/>
          </a:prstGeom>
          <a:noFill/>
          <a:ln w="38100">
            <a:solidFill>
              <a:srgbClr val="111111"/>
            </a:solidFill>
            <a:prstDash val="solid"/>
          </a:ln>
        </p:spPr>
      </p:sp>
      <p:sp>
        <p:nvSpPr>
          <p:cNvPr id="12" name="Text 9"/>
          <p:cNvSpPr txBox="1"/>
          <p:nvPr/>
        </p:nvSpPr>
        <p:spPr>
          <a:xfrm>
            <a:off x="640080" y="4114800"/>
            <a:ext cx="1371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Entry</a:t>
            </a:r>
            <a:endParaRPr lang="en-US" sz="2800" dirty="0"/>
          </a:p>
        </p:txBody>
      </p:sp>
      <p:sp>
        <p:nvSpPr>
          <p:cNvPr id="13" name="Text 10"/>
          <p:cNvSpPr txBox="1"/>
          <p:nvPr/>
        </p:nvSpPr>
        <p:spPr>
          <a:xfrm>
            <a:off x="2103120" y="3886200"/>
            <a:ext cx="3840480" cy="457200"/>
          </a:xfrm>
          <a:prstGeom prst="rect">
            <a:avLst/>
          </a:prstGeom>
          <a:noFill/>
          <a:ln/>
        </p:spPr>
        <p:txBody>
          <a:bodyPr wrap="square" lIns="0" tIns="0" rIns="0" bIns="0" rtlCol="0" anchor="t"/>
          <a:lstStyle/>
          <a:p>
            <a:pPr algn="r" indent="0" marL="0">
              <a:buNone/>
            </a:pPr>
            <a:endParaRPr lang="en-US" sz="2000" dirty="0"/>
          </a:p>
        </p:txBody>
      </p:sp>
      <p:sp>
        <p:nvSpPr>
          <p:cNvPr id="14" name="Shape 11"/>
          <p:cNvSpPr/>
          <p:nvPr/>
        </p:nvSpPr>
        <p:spPr>
          <a:xfrm>
            <a:off x="2103120" y="5532120"/>
            <a:ext cx="3840480" cy="0"/>
          </a:xfrm>
          <a:prstGeom prst="line">
            <a:avLst/>
          </a:prstGeom>
          <a:noFill/>
          <a:ln w="38100">
            <a:solidFill>
              <a:srgbClr val="D94141"/>
            </a:solidFill>
            <a:prstDash val="dash"/>
          </a:ln>
        </p:spPr>
      </p:sp>
      <p:sp>
        <p:nvSpPr>
          <p:cNvPr id="15" name="Text 12"/>
          <p:cNvSpPr txBox="1"/>
          <p:nvPr/>
        </p:nvSpPr>
        <p:spPr>
          <a:xfrm>
            <a:off x="640080" y="5257800"/>
            <a:ext cx="1371600" cy="548640"/>
          </a:xfrm>
          <a:prstGeom prst="rect">
            <a:avLst/>
          </a:prstGeom>
          <a:noFill/>
          <a:ln/>
        </p:spPr>
        <p:txBody>
          <a:bodyPr wrap="square" lIns="0" tIns="0" rIns="0" bIns="0" rtlCol="0" anchor="ctr"/>
          <a:lstStyle/>
          <a:p>
            <a:pPr indent="0" marL="0">
              <a:buNone/>
            </a:pPr>
            <a:r>
              <a:rPr lang="en-US" sz="2800" b="1" dirty="0">
                <a:solidFill>
                  <a:srgbClr val="D94141"/>
                </a:solidFill>
                <a:latin typeface="Arial" pitchFamily="34" charset="0"/>
                <a:ea typeface="Arial" pitchFamily="34" charset="-122"/>
                <a:cs typeface="Arial" pitchFamily="34" charset="-120"/>
              </a:rPr>
              <a:t>Stop</a:t>
            </a:r>
            <a:endParaRPr lang="en-US" sz="2800" dirty="0"/>
          </a:p>
        </p:txBody>
      </p:sp>
      <p:sp>
        <p:nvSpPr>
          <p:cNvPr id="16" name="Text 13"/>
          <p:cNvSpPr txBox="1"/>
          <p:nvPr/>
        </p:nvSpPr>
        <p:spPr>
          <a:xfrm>
            <a:off x="2103120" y="5029200"/>
            <a:ext cx="3840480" cy="457200"/>
          </a:xfrm>
          <a:prstGeom prst="rect">
            <a:avLst/>
          </a:prstGeom>
          <a:noFill/>
          <a:ln/>
        </p:spPr>
        <p:txBody>
          <a:bodyPr wrap="square" lIns="0" tIns="0" rIns="0" bIns="0" rtlCol="0" anchor="t"/>
          <a:lstStyle/>
          <a:p>
            <a:pPr algn="r" indent="0" marL="0">
              <a:buNone/>
            </a:pPr>
            <a:r>
              <a:rPr lang="en-US" sz="2000" dirty="0">
                <a:solidFill>
                  <a:srgbClr val="6E6E6E"/>
                </a:solidFill>
                <a:latin typeface="Calibri" pitchFamily="34" charset="0"/>
                <a:ea typeface="Calibri" pitchFamily="34" charset="-122"/>
                <a:cs typeface="Calibri" pitchFamily="34" charset="-120"/>
              </a:rPr>
              <a:t>3.5–4 pts below entry</a:t>
            </a:r>
            <a:endParaRPr lang="en-US" sz="2000" dirty="0"/>
          </a:p>
        </p:txBody>
      </p:sp>
      <p:sp>
        <p:nvSpPr>
          <p:cNvPr id="17" name="Shape 14"/>
          <p:cNvSpPr/>
          <p:nvPr/>
        </p:nvSpPr>
        <p:spPr>
          <a:xfrm>
            <a:off x="6675120" y="1828800"/>
            <a:ext cx="4876495" cy="3840480"/>
          </a:xfrm>
          <a:prstGeom prst="roundRect">
            <a:avLst>
              <a:gd name="adj" fmla="val 1905"/>
            </a:avLst>
          </a:prstGeom>
          <a:solidFill>
            <a:srgbClr val="F2F2F2"/>
          </a:solidFill>
          <a:ln w="12700">
            <a:solidFill>
              <a:srgbClr val="F2F2F2"/>
            </a:solidFill>
            <a:prstDash val="solid"/>
          </a:ln>
        </p:spPr>
      </p:sp>
      <p:sp>
        <p:nvSpPr>
          <p:cNvPr id="18" name="Text 15"/>
          <p:cNvSpPr txBox="1"/>
          <p:nvPr/>
        </p:nvSpPr>
        <p:spPr>
          <a:xfrm>
            <a:off x="7040880" y="2103120"/>
            <a:ext cx="4144975" cy="1828800"/>
          </a:xfrm>
          <a:prstGeom prst="rect">
            <a:avLst/>
          </a:prstGeom>
          <a:noFill/>
          <a:ln/>
        </p:spPr>
        <p:txBody>
          <a:bodyPr wrap="square" lIns="0" tIns="0" rIns="0" bIns="0" rtlCol="0" anchor="t"/>
          <a:lstStyle/>
          <a:p>
            <a:pPr indent="0" marL="0">
              <a:buNone/>
            </a:pPr>
            <a:r>
              <a:rPr lang="en-US" sz="2600" b="1" dirty="0">
                <a:solidFill>
                  <a:srgbClr val="111111"/>
                </a:solidFill>
                <a:latin typeface="Calibri" pitchFamily="34" charset="0"/>
                <a:ea typeface="Calibri" pitchFamily="34" charset="-122"/>
                <a:cs typeface="Calibri" pitchFamily="34" charset="-120"/>
              </a:rPr>
              <a:t>Your target is the top or bottom of the range. Measure it against your stop.</a:t>
            </a:r>
            <a:endParaRPr lang="en-US" sz="2600" dirty="0"/>
          </a:p>
        </p:txBody>
      </p:sp>
      <p:sp>
        <p:nvSpPr>
          <p:cNvPr id="19" name="Text 16"/>
          <p:cNvSpPr txBox="1"/>
          <p:nvPr/>
        </p:nvSpPr>
        <p:spPr>
          <a:xfrm>
            <a:off x="7040880" y="3931920"/>
            <a:ext cx="4144975" cy="1463040"/>
          </a:xfrm>
          <a:prstGeom prst="rect">
            <a:avLst/>
          </a:prstGeom>
          <a:noFill/>
          <a:ln/>
        </p:spPr>
        <p:txBody>
          <a:bodyPr wrap="square" lIns="0" tIns="0" rIns="0" bIns="0" rtlCol="0" anchor="t"/>
          <a:lstStyle/>
          <a:p>
            <a:pPr indent="0" marL="0">
              <a:buNone/>
            </a:pPr>
            <a:r>
              <a:rPr lang="en-US" sz="2200" dirty="0">
                <a:solidFill>
                  <a:srgbClr val="6E6E6E"/>
                </a:solidFill>
                <a:latin typeface="Calibri" pitchFamily="34" charset="0"/>
                <a:ea typeface="Calibri" pitchFamily="34" charset="-122"/>
                <a:cs typeface="Calibri" pitchFamily="34" charset="-120"/>
              </a:rPr>
              <a:t>1R = your stop distance, 3.5–4 points. 2R = 7–8 points.</a:t>
            </a:r>
            <a:endParaRPr lang="en-US" sz="2200" dirty="0"/>
          </a:p>
        </p:txBody>
      </p:sp>
      <p:sp>
        <p:nvSpPr>
          <p:cNvPr id="20" name="Text 17"/>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21" name="Text 18"/>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5  •  LESSON 5.4</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One Trade, Start to Finish</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AMD read, daily bias, time window</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Session liquidity + CRT entry + volume profile</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Position size, 3.5–4 pt hard stop, target measured in R</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5.4</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Re-create this walkthrough on your own chart with a setup from this week</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Post the full breakdown, every step</a:t>
            </a:r>
            <a:endParaRPr lang="en-US" sz="2600" dirty="0"/>
          </a:p>
        </p:txBody>
      </p:sp>
      <p:sp>
        <p:nvSpPr>
          <p:cNvPr id="11" name="Text 8"/>
          <p:cNvSpPr txBox="1"/>
          <p:nvPr/>
        </p:nvSpPr>
        <p:spPr>
          <a:xfrm>
            <a:off x="640080" y="5394960"/>
            <a:ext cx="10911535" cy="548640"/>
          </a:xfrm>
          <a:prstGeom prst="rect">
            <a:avLst/>
          </a:prstGeom>
          <a:noFill/>
          <a:ln/>
        </p:spPr>
        <p:txBody>
          <a:bodyPr wrap="square" lIns="0" tIns="0" rIns="0" bIns="0" rtlCol="0" anchor="t"/>
          <a:lstStyle/>
          <a:p>
            <a:pPr indent="0" marL="0">
              <a:buNone/>
            </a:pPr>
            <a:r>
              <a:rPr lang="en-US" sz="2400" b="1" i="1" dirty="0">
                <a:solidFill>
                  <a:srgbClr val="E8912D"/>
                </a:solidFill>
                <a:latin typeface="Calibri" pitchFamily="34" charset="0"/>
                <a:ea typeface="Calibri" pitchFamily="34" charset="-122"/>
                <a:cs typeface="Calibri" pitchFamily="34" charset="-120"/>
              </a:rPr>
              <a:t>This is your Module 5 capstone.</a:t>
            </a:r>
            <a:endParaRPr lang="en-US" sz="2400" dirty="0"/>
          </a:p>
        </p:txBody>
      </p:sp>
      <p:sp>
        <p:nvSpPr>
          <p:cNvPr id="12" name="Text 9"/>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3" name="Text 10"/>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5  •  LESSON 5.4</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txBox="1"/>
          <p:nvPr/>
        </p:nvSpPr>
        <p:spPr>
          <a:xfrm>
            <a:off x="640080" y="411480"/>
            <a:ext cx="73152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MODULE 5  •  RECAP</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Module 5 in One Slide</a:t>
            </a:r>
            <a:endParaRPr lang="en-US" sz="3600" dirty="0"/>
          </a:p>
        </p:txBody>
      </p:sp>
      <p:sp>
        <p:nvSpPr>
          <p:cNvPr id="5" name="Shape 2"/>
          <p:cNvSpPr/>
          <p:nvPr/>
        </p:nvSpPr>
        <p:spPr>
          <a:xfrm>
            <a:off x="640080" y="1984248"/>
            <a:ext cx="237744" cy="237744"/>
          </a:xfrm>
          <a:prstGeom prst="ellipse">
            <a:avLst/>
          </a:prstGeom>
          <a:solidFill>
            <a:srgbClr val="E8912D"/>
          </a:solidFill>
          <a:ln w="12700">
            <a:solidFill>
              <a:srgbClr val="E8912D"/>
            </a:solidFill>
            <a:prstDash val="solid"/>
          </a:ln>
        </p:spPr>
      </p:sp>
      <p:sp>
        <p:nvSpPr>
          <p:cNvPr id="6" name="Text 3"/>
          <p:cNvSpPr txBox="1"/>
          <p:nvPr/>
        </p:nvSpPr>
        <p:spPr>
          <a:xfrm>
            <a:off x="1143000" y="18288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Run the 7-step checklist before every trade</a:t>
            </a:r>
            <a:endParaRPr lang="en-US" sz="2400" dirty="0"/>
          </a:p>
        </p:txBody>
      </p:sp>
      <p:sp>
        <p:nvSpPr>
          <p:cNvPr id="7" name="Shape 4"/>
          <p:cNvSpPr/>
          <p:nvPr/>
        </p:nvSpPr>
        <p:spPr>
          <a:xfrm>
            <a:off x="640080" y="2670048"/>
            <a:ext cx="237744" cy="237744"/>
          </a:xfrm>
          <a:prstGeom prst="ellipse">
            <a:avLst/>
          </a:prstGeom>
          <a:solidFill>
            <a:srgbClr val="E8912D"/>
          </a:solidFill>
          <a:ln w="12700">
            <a:solidFill>
              <a:srgbClr val="E8912D"/>
            </a:solidFill>
            <a:prstDash val="solid"/>
          </a:ln>
        </p:spPr>
      </p:sp>
      <p:sp>
        <p:nvSpPr>
          <p:cNvPr id="8" name="Text 5"/>
          <p:cNvSpPr txBox="1"/>
          <p:nvPr/>
        </p:nvSpPr>
        <p:spPr>
          <a:xfrm>
            <a:off x="1143000" y="25146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1 or 2 ES, fixed, until your account grows 1.5x–2x</a:t>
            </a:r>
            <a:endParaRPr lang="en-US" sz="2400" dirty="0"/>
          </a:p>
        </p:txBody>
      </p:sp>
      <p:sp>
        <p:nvSpPr>
          <p:cNvPr id="9" name="Shape 6"/>
          <p:cNvSpPr/>
          <p:nvPr/>
        </p:nvSpPr>
        <p:spPr>
          <a:xfrm>
            <a:off x="640080" y="3355848"/>
            <a:ext cx="237744" cy="237744"/>
          </a:xfrm>
          <a:prstGeom prst="ellipse">
            <a:avLst/>
          </a:prstGeom>
          <a:solidFill>
            <a:srgbClr val="E8912D"/>
          </a:solidFill>
          <a:ln w="12700">
            <a:solidFill>
              <a:srgbClr val="E8912D"/>
            </a:solidFill>
            <a:prstDash val="solid"/>
          </a:ln>
        </p:spPr>
      </p:sp>
      <p:sp>
        <p:nvSpPr>
          <p:cNvPr id="10" name="Text 7"/>
          <p:cNvSpPr txBox="1"/>
          <p:nvPr/>
        </p:nvSpPr>
        <p:spPr>
          <a:xfrm>
            <a:off x="1143000" y="32004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Know how many losers your daily limit allows</a:t>
            </a:r>
            <a:endParaRPr lang="en-US" sz="2400" dirty="0"/>
          </a:p>
        </p:txBody>
      </p:sp>
      <p:sp>
        <p:nvSpPr>
          <p:cNvPr id="11" name="Shape 8"/>
          <p:cNvSpPr/>
          <p:nvPr/>
        </p:nvSpPr>
        <p:spPr>
          <a:xfrm>
            <a:off x="640080" y="4041648"/>
            <a:ext cx="237744" cy="237744"/>
          </a:xfrm>
          <a:prstGeom prst="ellipse">
            <a:avLst/>
          </a:prstGeom>
          <a:solidFill>
            <a:srgbClr val="E8912D"/>
          </a:solidFill>
          <a:ln w="12700">
            <a:solidFill>
              <a:srgbClr val="E8912D"/>
            </a:solidFill>
            <a:prstDash val="solid"/>
          </a:ln>
        </p:spPr>
      </p:sp>
      <p:sp>
        <p:nvSpPr>
          <p:cNvPr id="12" name="Text 9"/>
          <p:cNvSpPr txBox="1"/>
          <p:nvPr/>
        </p:nvSpPr>
        <p:spPr>
          <a:xfrm>
            <a:off x="1143000" y="38862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Hard stop 3.5–4 points from entry, every setup</a:t>
            </a:r>
            <a:endParaRPr lang="en-US" sz="2400" dirty="0"/>
          </a:p>
        </p:txBody>
      </p:sp>
      <p:sp>
        <p:nvSpPr>
          <p:cNvPr id="13" name="Shape 10"/>
          <p:cNvSpPr/>
          <p:nvPr/>
        </p:nvSpPr>
        <p:spPr>
          <a:xfrm>
            <a:off x="640080" y="4727448"/>
            <a:ext cx="237744" cy="237744"/>
          </a:xfrm>
          <a:prstGeom prst="ellipse">
            <a:avLst/>
          </a:prstGeom>
          <a:solidFill>
            <a:srgbClr val="E8912D"/>
          </a:solidFill>
          <a:ln w="12700">
            <a:solidFill>
              <a:srgbClr val="E8912D"/>
            </a:solidFill>
            <a:prstDash val="solid"/>
          </a:ln>
        </p:spPr>
      </p:sp>
      <p:sp>
        <p:nvSpPr>
          <p:cNvPr id="14" name="Text 11"/>
          <p:cNvSpPr txBox="1"/>
          <p:nvPr/>
        </p:nvSpPr>
        <p:spPr>
          <a:xfrm>
            <a:off x="1143000" y="45720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Measure every target in R</a:t>
            </a:r>
            <a:endParaRPr lang="en-US" sz="2400" dirty="0"/>
          </a:p>
        </p:txBody>
      </p:sp>
      <p:sp>
        <p:nvSpPr>
          <p:cNvPr id="15" name="Text 12"/>
          <p:cNvSpPr txBox="1"/>
          <p:nvPr/>
        </p:nvSpPr>
        <p:spPr>
          <a:xfrm>
            <a:off x="640080" y="5486400"/>
            <a:ext cx="10911535" cy="548640"/>
          </a:xfrm>
          <a:prstGeom prst="rect">
            <a:avLst/>
          </a:prstGeom>
          <a:noFill/>
          <a:ln/>
        </p:spPr>
        <p:txBody>
          <a:bodyPr wrap="square" lIns="0" tIns="0" rIns="0" bIns="0" rtlCol="0" anchor="t"/>
          <a:lstStyle/>
          <a:p>
            <a:pPr indent="0" marL="0">
              <a:buNone/>
            </a:pPr>
            <a:r>
              <a:rPr lang="en-US" sz="2400" b="1" dirty="0">
                <a:solidFill>
                  <a:srgbClr val="E8912D"/>
                </a:solidFill>
                <a:latin typeface="Calibri" pitchFamily="34" charset="0"/>
                <a:ea typeface="Calibri" pitchFamily="34" charset="-122"/>
                <a:cs typeface="Calibri" pitchFamily="34" charset="-120"/>
              </a:rPr>
              <a:t>One process. Not five separate tools.</a:t>
            </a:r>
            <a:endParaRPr lang="en-US" sz="2400" dirty="0"/>
          </a:p>
        </p:txBody>
      </p:sp>
      <p:sp>
        <p:nvSpPr>
          <p:cNvPr id="16" name="Text 1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DRT Course">
  <a:themeElements>
    <a:clrScheme name="DRT Course">
      <a:dk1>
        <a:srgbClr val="111111"/>
      </a:dk1>
      <a:lt1>
        <a:srgbClr val="FFFFFF"/>
      </a:lt1>
      <a:dk2>
        <a:srgbClr val="333333"/>
      </a:dk2>
      <a:lt2>
        <a:srgbClr val="F2F2F2"/>
      </a:lt2>
      <a:accent1>
        <a:srgbClr val="E8912D"/>
      </a:accent1>
      <a:accent2>
        <a:srgbClr val="2A6FDB"/>
      </a:accent2>
      <a:accent3>
        <a:srgbClr val="1A9E5F"/>
      </a:accent3>
      <a:accent4>
        <a:srgbClr val="D94141"/>
      </a:accent4>
      <a:accent5>
        <a:srgbClr val="6E6E6E"/>
      </a:accent5>
      <a:accent6>
        <a:srgbClr val="8E8E8E"/>
      </a:accent6>
      <a:hlink>
        <a:srgbClr val="2A6FDB"/>
      </a:hlink>
      <a:folHlink>
        <a:srgbClr val="6E6E6E"/>
      </a:folHlink>
    </a:clrScheme>
    <a:fontScheme name="DRT Cour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Full Workflow &amp; Risk Management</dc:title>
  <dc:subject>PptxGenJS Presentation</dc:subject>
  <dc:creator>Defined Risk Trading</dc:creator>
  <cp:lastModifiedBy>Defined Risk Trading</cp:lastModifiedBy>
  <cp:revision>1</cp:revision>
  <dcterms:created xsi:type="dcterms:W3CDTF">2026-10-05T21:54:35Z</dcterms:created>
  <dcterms:modified xsi:type="dcterms:W3CDTF">2026-10-05T21:54:35Z</dcterms:modified>
</cp:coreProperties>
</file>